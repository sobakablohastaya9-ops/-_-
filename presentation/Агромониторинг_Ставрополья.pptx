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21"/>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sldSz cx="12192000" cy="6858000"/>
  <p:notesSz cx="6858000" cy="12192000"/>
  <p:embeddedFontLst>
    <p:embeddedFont>
      <p:font typeface="IBM Plex Sans" panose="020B0503050203000203" pitchFamily="34" charset="0"/>
      <p:regular r:id="rId22"/>
      <p:bold r:id="rId23"/>
    </p:embeddedFont>
    <p:embeddedFont>
      <p:font typeface="Montserrat" panose="00000500000000000000" pitchFamily="2" charset="-52"/>
      <p:regular r:id="rId24"/>
      <p:bold r:id="rId25"/>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95" d="100"/>
          <a:sy n="95" d="100"/>
        </p:scale>
        <p:origin x="178"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4.fntdata"/><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3.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2.fntdata"/><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1.fntdata"/><Relationship Id="rId27"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40826119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Тема: аналитический сервис для сельхозпроизводителя и банка на примере Ставропольского края. Дашборд открыт по ссылке и работает на реальных открытых данных.</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5F6EF"/>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2800" y="812800"/>
            <a:ext cx="10566400" cy="782320"/>
          </a:xfrm>
          <a:prstGeom prst="rect">
            <a:avLst/>
          </a:prstGeom>
          <a:noFill/>
          <a:ln/>
        </p:spPr>
        <p:txBody>
          <a:bodyPr wrap="square" lIns="0" tIns="0" rIns="0" bIns="0" rtlCol="0" anchor="t"/>
          <a:lstStyle>
            <a:lvl1pPr marL="0" indent="0" algn="l">
              <a:lnSpc>
                <a:spcPct val="115000"/>
              </a:lnSpc>
              <a:buNone/>
              <a:defRPr lang="en-US" sz="2800" dirty="0">
                <a:solidFill>
                  <a:srgbClr val="1F4424"/>
                </a:solidFill>
                <a:latin typeface="Montserrat" pitchFamily="34" charset="0"/>
                <a:ea typeface="Montserrat" pitchFamily="34" charset="-122"/>
                <a:cs typeface="Montserrat" pitchFamily="34" charset="-120"/>
              </a:defRPr>
            </a:lvl1pPr>
          </a:lstStyle>
          <a:p>
            <a:pPr marL="0" indent="0" algn="l">
              <a:lnSpc>
                <a:spcPct val="115000"/>
              </a:lnSpc>
              <a:buNone/>
            </a:pPr>
            <a:endParaRPr lang="en-US" sz="2800" dirty="0"/>
          </a:p>
        </p:txBody>
      </p:sp>
      <p:sp>
        <p:nvSpPr>
          <p:cNvPr id="3" name="Text Placeholder 2"/>
          <p:cNvSpPr>
            <a:spLocks noGrp="1"/>
          </p:cNvSpPr>
          <p:nvPr>
            <p:ph type="body" idx="101"/>
          </p:nvPr>
        </p:nvSpPr>
        <p:spPr>
          <a:xfrm>
            <a:off x="812800" y="1899920"/>
            <a:ext cx="10566400" cy="4145280"/>
          </a:xfrm>
          <a:prstGeom prst="rect">
            <a:avLst/>
          </a:prstGeom>
          <a:noFill/>
          <a:ln/>
        </p:spPr>
        <p:txBody>
          <a:bodyPr wrap="square" lIns="0" tIns="0" rIns="0" bIns="0" rtlCol="0" anchor="t"/>
          <a:lstStyle>
            <a:lvl1pPr marL="0" indent="0" algn="l">
              <a:lnSpc>
                <a:spcPct val="140000"/>
              </a:lnSpc>
              <a:buNone/>
              <a:defRPr lang="en-US" sz="1600" dirty="0">
                <a:solidFill>
                  <a:srgbClr val="1F4424"/>
                </a:solidFill>
                <a:latin typeface="IBM Plex Sans" pitchFamily="34" charset="0"/>
                <a:ea typeface="IBM Plex Sans" pitchFamily="34" charset="-122"/>
                <a:cs typeface="IBM Plex Sans" pitchFamily="34" charset="-120"/>
              </a:defRPr>
            </a:lvl1pPr>
          </a:lstStyle>
          <a:p>
            <a:pPr marL="0" indent="0" algn="l">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5F6EF"/>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2800" y="812800"/>
            <a:ext cx="10566400" cy="782320"/>
          </a:xfrm>
          <a:prstGeom prst="rect">
            <a:avLst/>
          </a:prstGeom>
          <a:noFill/>
          <a:ln/>
        </p:spPr>
        <p:txBody>
          <a:bodyPr wrap="square" lIns="0" tIns="0" rIns="0" bIns="0" rtlCol="0" anchor="t"/>
          <a:lstStyle>
            <a:lvl1pPr marL="0" indent="0" algn="l">
              <a:lnSpc>
                <a:spcPct val="115000"/>
              </a:lnSpc>
              <a:buNone/>
              <a:defRPr lang="en-US" sz="2800" dirty="0">
                <a:solidFill>
                  <a:srgbClr val="1F4424"/>
                </a:solidFill>
                <a:latin typeface="Montserrat" pitchFamily="34" charset="0"/>
                <a:ea typeface="Montserrat" pitchFamily="34" charset="-122"/>
                <a:cs typeface="Montserrat" pitchFamily="34" charset="-120"/>
              </a:defRPr>
            </a:lvl1pPr>
          </a:lstStyle>
          <a:p>
            <a:pPr marL="0" indent="0" algn="l">
              <a:lnSpc>
                <a:spcPct val="115000"/>
              </a:lnSpc>
              <a:buNone/>
            </a:pPr>
            <a:endParaRPr lang="en-US" sz="2800" dirty="0"/>
          </a:p>
        </p:txBody>
      </p:sp>
      <p:sp>
        <p:nvSpPr>
          <p:cNvPr id="3" name="Text Placeholder 2"/>
          <p:cNvSpPr>
            <a:spLocks noGrp="1"/>
          </p:cNvSpPr>
          <p:nvPr>
            <p:ph type="body" idx="101"/>
          </p:nvPr>
        </p:nvSpPr>
        <p:spPr>
          <a:xfrm>
            <a:off x="812800" y="1899920"/>
            <a:ext cx="10566400" cy="4145280"/>
          </a:xfrm>
          <a:prstGeom prst="rect">
            <a:avLst/>
          </a:prstGeom>
          <a:noFill/>
          <a:ln/>
        </p:spPr>
        <p:txBody>
          <a:bodyPr wrap="square" lIns="0" tIns="0" rIns="0" bIns="0" rtlCol="0" anchor="t"/>
          <a:lstStyle>
            <a:lvl1pPr marL="0" indent="0" algn="l">
              <a:lnSpc>
                <a:spcPct val="140000"/>
              </a:lnSpc>
              <a:buNone/>
              <a:defRPr lang="en-US" sz="1600" dirty="0">
                <a:solidFill>
                  <a:srgbClr val="1F4424"/>
                </a:solidFill>
                <a:latin typeface="IBM Plex Sans" pitchFamily="34" charset="0"/>
                <a:ea typeface="IBM Plex Sans" pitchFamily="34" charset="-122"/>
                <a:cs typeface="IBM Plex Sans" pitchFamily="34" charset="-120"/>
              </a:defRPr>
            </a:lvl1pPr>
          </a:lstStyle>
          <a:p>
            <a:pPr marL="0" indent="0" algn="l">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5.xml"/><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1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6.xml"/><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1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7.xml"/><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1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8.xml"/><Relationship Id="rId1" Type="http://schemas.openxmlformats.org/officeDocument/2006/relationships/slideLayout" Target="../slideLayouts/slideLayout2.xml"/><Relationship Id="rId4" Type="http://schemas.openxmlformats.org/officeDocument/2006/relationships/image" Target="../media/image13.png"/></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F4424"/>
        </a:solidFill>
        <a:effectLst/>
      </p:bgPr>
    </p:bg>
    <p:spTree>
      <p:nvGrpSpPr>
        <p:cNvPr id="1" name=""/>
        <p:cNvGrpSpPr/>
        <p:nvPr/>
      </p:nvGrpSpPr>
      <p:grpSpPr>
        <a:xfrm>
          <a:off x="0" y="0"/>
          <a:ext cx="0" cy="0"/>
          <a:chOff x="0" y="0"/>
          <a:chExt cx="0" cy="0"/>
        </a:xfrm>
      </p:grpSpPr>
      <p:sp>
        <p:nvSpPr>
          <p:cNvPr id="2" name="Shape 0"/>
          <p:cNvSpPr/>
          <p:nvPr/>
        </p:nvSpPr>
        <p:spPr>
          <a:xfrm>
            <a:off x="0" y="0"/>
            <a:ext cx="152400" cy="6858000"/>
          </a:xfrm>
          <a:prstGeom prst="rect">
            <a:avLst/>
          </a:prstGeom>
          <a:solidFill>
            <a:srgbClr val="FFCB05"/>
          </a:solidFill>
          <a:ln/>
        </p:spPr>
        <p:txBody>
          <a:bodyPr/>
          <a:lstStyle/>
          <a:p>
            <a:endParaRPr lang="ru-RU"/>
          </a:p>
        </p:txBody>
      </p:sp>
      <p:sp>
        <p:nvSpPr>
          <p:cNvPr id="4" name="Text 2"/>
          <p:cNvSpPr>
            <a:spLocks noGrp="1"/>
          </p:cNvSpPr>
          <p:nvPr>
            <p:ph type="title"/>
          </p:nvPr>
        </p:nvSpPr>
        <p:spPr>
          <a:xfrm>
            <a:off x="812799" y="2395620"/>
            <a:ext cx="10809705" cy="838200"/>
          </a:xfrm>
          <a:prstGeom prst="rect">
            <a:avLst/>
          </a:prstGeom>
          <a:noFill/>
          <a:ln/>
        </p:spPr>
        <p:txBody>
          <a:bodyPr wrap="square" lIns="0" tIns="0" rIns="0" bIns="0" rtlCol="0" anchor="t">
            <a:noAutofit/>
          </a:bodyPr>
          <a:lstStyle/>
          <a:p>
            <a:pPr marL="0" indent="0" algn="l">
              <a:lnSpc>
                <a:spcPts val="6300"/>
              </a:lnSpc>
              <a:buNone/>
            </a:pPr>
            <a:r>
              <a:rPr lang="en-US" sz="5000" b="1" i="0" dirty="0" err="1">
                <a:solidFill>
                  <a:srgbClr val="F3F5EC"/>
                </a:solidFill>
                <a:latin typeface="Montserrat" pitchFamily="34" charset="0"/>
                <a:ea typeface="Montserrat" pitchFamily="34" charset="-122"/>
                <a:cs typeface="Montserrat" pitchFamily="34" charset="-120"/>
              </a:rPr>
              <a:t>Агромониторинг</a:t>
            </a:r>
            <a:r>
              <a:rPr lang="ru-RU" sz="5000" dirty="0"/>
              <a:t> </a:t>
            </a:r>
            <a:r>
              <a:rPr lang="en-US" sz="5000" b="1" i="0" dirty="0" err="1">
                <a:solidFill>
                  <a:srgbClr val="F3F5EC"/>
                </a:solidFill>
                <a:latin typeface="Montserrat" pitchFamily="34" charset="0"/>
                <a:ea typeface="Montserrat" pitchFamily="34" charset="-122"/>
                <a:cs typeface="Montserrat" pitchFamily="34" charset="-120"/>
              </a:rPr>
              <a:t>Ставрополья</a:t>
            </a:r>
            <a:endParaRPr lang="en-US" sz="5000" dirty="0"/>
          </a:p>
        </p:txBody>
      </p:sp>
      <p:sp>
        <p:nvSpPr>
          <p:cNvPr id="5" name="Text 3"/>
          <p:cNvSpPr/>
          <p:nvPr/>
        </p:nvSpPr>
        <p:spPr>
          <a:xfrm>
            <a:off x="812800" y="3937000"/>
            <a:ext cx="8502650" cy="711200"/>
          </a:xfrm>
          <a:prstGeom prst="rect">
            <a:avLst/>
          </a:prstGeom>
          <a:noFill/>
          <a:ln/>
        </p:spPr>
        <p:txBody>
          <a:bodyPr wrap="square" lIns="0" tIns="0" rIns="0" bIns="0" rtlCol="0" anchor="t">
            <a:normAutofit/>
          </a:bodyPr>
          <a:lstStyle/>
          <a:p>
            <a:pPr marL="0" indent="0" algn="l">
              <a:lnSpc>
                <a:spcPts val="2700"/>
              </a:lnSpc>
              <a:buNone/>
            </a:pPr>
            <a:r>
              <a:rPr lang="en-US" sz="2000" dirty="0">
                <a:solidFill>
                  <a:srgbClr val="CFDCC8"/>
                </a:solidFill>
                <a:latin typeface="IBM Plex Sans" pitchFamily="34" charset="0"/>
                <a:ea typeface="IBM Plex Sans" pitchFamily="34" charset="-122"/>
                <a:cs typeface="IBM Plex Sans" pitchFamily="34" charset="-120"/>
              </a:rPr>
              <a:t>Аналитический дашборд для сельхозпроизводителя и банка: урожай, погода, рынок и риск по 26 муниципальным округам</a:t>
            </a:r>
            <a:endParaRPr lang="en-US" sz="2000" dirty="0"/>
          </a:p>
        </p:txBody>
      </p:sp>
      <p:sp>
        <p:nvSpPr>
          <p:cNvPr id="6" name="Text 4"/>
          <p:cNvSpPr/>
          <p:nvPr/>
        </p:nvSpPr>
        <p:spPr>
          <a:xfrm>
            <a:off x="812800" y="4876800"/>
            <a:ext cx="3428921" cy="401320"/>
          </a:xfrm>
          <a:prstGeom prst="roundRect">
            <a:avLst>
              <a:gd name="adj" fmla="val 50000"/>
            </a:avLst>
          </a:prstGeom>
          <a:solidFill>
            <a:srgbClr val="FFCB05"/>
          </a:solidFill>
          <a:ln/>
        </p:spPr>
        <p:txBody>
          <a:bodyPr wrap="none" lIns="0" tIns="0" rIns="0" bIns="0" rtlCol="0" anchor="ctr">
            <a:normAutofit/>
          </a:bodyPr>
          <a:lstStyle/>
          <a:p>
            <a:pPr marL="0" indent="0" algn="ctr">
              <a:lnSpc>
                <a:spcPts val="1960"/>
              </a:lnSpc>
              <a:buNone/>
            </a:pPr>
            <a:r>
              <a:rPr lang="en-US" sz="1400" b="1" dirty="0">
                <a:solidFill>
                  <a:srgbClr val="1F4424"/>
                </a:solidFill>
                <a:latin typeface="IBM Plex Sans" pitchFamily="34" charset="0"/>
                <a:ea typeface="IBM Plex Sans" pitchFamily="34" charset="-122"/>
                <a:cs typeface="IBM Plex Sans" pitchFamily="34" charset="-120"/>
              </a:rPr>
              <a:t>sobakablohastaya9-ops.github.io/-_-</a:t>
            </a:r>
            <a:endParaRPr lang="en-US" sz="1400" dirty="0"/>
          </a:p>
        </p:txBody>
      </p:sp>
      <p:sp>
        <p:nvSpPr>
          <p:cNvPr id="7" name="Text 5"/>
          <p:cNvSpPr/>
          <p:nvPr/>
        </p:nvSpPr>
        <p:spPr>
          <a:xfrm>
            <a:off x="4394121" y="4815840"/>
            <a:ext cx="5455732" cy="274320"/>
          </a:xfrm>
          <a:prstGeom prst="rect">
            <a:avLst/>
          </a:prstGeom>
          <a:noFill/>
          <a:ln/>
        </p:spPr>
        <p:txBody>
          <a:bodyPr wrap="square" lIns="0" tIns="0" rIns="0" bIns="0" rtlCol="0" anchor="t">
            <a:noAutofit/>
          </a:bodyPr>
          <a:lstStyle/>
          <a:p>
            <a:pPr marL="0" indent="0" algn="l">
              <a:lnSpc>
                <a:spcPts val="1960"/>
              </a:lnSpc>
              <a:buNone/>
            </a:pPr>
            <a:r>
              <a:rPr lang="ru-RU" sz="1600" dirty="0">
                <a:solidFill>
                  <a:srgbClr val="CFDCC8"/>
                </a:solidFill>
                <a:latin typeface="IBM Plex Sans" pitchFamily="34" charset="0"/>
                <a:ea typeface="IBM Plex Sans" pitchFamily="34" charset="-122"/>
                <a:cs typeface="IBM Plex Sans" pitchFamily="34" charset="-120"/>
              </a:rPr>
              <a:t>Рогова Валентина – студентка 4 курса НИЯУ МИФИ направления «Бизнес-информатика»</a:t>
            </a:r>
            <a:r>
              <a:rPr lang="en-US" sz="1600" dirty="0">
                <a:solidFill>
                  <a:srgbClr val="CFDCC8"/>
                </a:solidFill>
                <a:latin typeface="IBM Plex Sans" pitchFamily="34" charset="0"/>
                <a:ea typeface="IBM Plex Sans" pitchFamily="34" charset="-122"/>
                <a:cs typeface="IBM Plex Sans" pitchFamily="34" charset="-120"/>
              </a:rPr>
              <a:t>, 2026</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5F6EF"/>
        </a:solidFill>
        <a:effectLst/>
      </p:bgPr>
    </p:bg>
    <p:spTree>
      <p:nvGrpSpPr>
        <p:cNvPr id="1" name=""/>
        <p:cNvGrpSpPr/>
        <p:nvPr/>
      </p:nvGrpSpPr>
      <p:grpSpPr>
        <a:xfrm>
          <a:off x="0" y="0"/>
          <a:ext cx="0" cy="0"/>
          <a:chOff x="0" y="0"/>
          <a:chExt cx="0" cy="0"/>
        </a:xfrm>
      </p:grpSpPr>
      <p:sp>
        <p:nvSpPr>
          <p:cNvPr id="3" name="Text 1"/>
          <p:cNvSpPr>
            <a:spLocks noGrp="1"/>
          </p:cNvSpPr>
          <p:nvPr>
            <p:ph type="title"/>
          </p:nvPr>
        </p:nvSpPr>
        <p:spPr>
          <a:xfrm>
            <a:off x="812800" y="812800"/>
            <a:ext cx="10883392" cy="807720"/>
          </a:xfrm>
          <a:prstGeom prst="rect">
            <a:avLst/>
          </a:prstGeom>
          <a:noFill/>
          <a:ln/>
        </p:spPr>
        <p:txBody>
          <a:bodyPr wrap="square" lIns="0" tIns="0" rIns="0" bIns="0" rtlCol="0" anchor="t">
            <a:normAutofit/>
          </a:bodyPr>
          <a:lstStyle/>
          <a:p>
            <a:pPr marL="0" indent="0" algn="l">
              <a:lnSpc>
                <a:spcPts val="3080"/>
              </a:lnSpc>
              <a:buNone/>
            </a:pPr>
            <a:r>
              <a:rPr lang="en-US" sz="2800" b="1" i="0" dirty="0">
                <a:solidFill>
                  <a:srgbClr val="1F4424"/>
                </a:solidFill>
                <a:latin typeface="Montserrat" pitchFamily="34" charset="0"/>
                <a:ea typeface="Montserrat" pitchFamily="34" charset="-122"/>
                <a:cs typeface="Montserrat" pitchFamily="34" charset="-120"/>
              </a:rPr>
              <a:t>Аграрию и банку нужен один экран, где урожай, погода, цены и риск сведены вместе</a:t>
            </a:r>
            <a:endParaRPr lang="en-US" sz="2800" dirty="0"/>
          </a:p>
        </p:txBody>
      </p:sp>
      <p:sp>
        <p:nvSpPr>
          <p:cNvPr id="4" name="Shape 2"/>
          <p:cNvSpPr/>
          <p:nvPr/>
        </p:nvSpPr>
        <p:spPr>
          <a:xfrm>
            <a:off x="815975" y="1953895"/>
            <a:ext cx="5149850" cy="1868805"/>
          </a:xfrm>
          <a:prstGeom prst="roundRect">
            <a:avLst>
              <a:gd name="adj" fmla="val 5267"/>
            </a:avLst>
          </a:prstGeom>
          <a:solidFill>
            <a:srgbClr val="FCFCF8"/>
          </a:solidFill>
          <a:ln w="6350">
            <a:solidFill>
              <a:srgbClr val="DDE2D3"/>
            </a:solidFill>
            <a:prstDash val="solid"/>
          </a:ln>
          <a:effectLst>
            <a:outerShdw blurRad="50800" dist="38100" dir="5400000" algn="t" rotWithShape="0">
              <a:prstClr val="black">
                <a:alpha val="40000"/>
              </a:prstClr>
            </a:outerShdw>
          </a:effectLst>
        </p:spPr>
        <p:txBody>
          <a:bodyPr/>
          <a:lstStyle/>
          <a:p>
            <a:endParaRPr lang="ru-RU"/>
          </a:p>
        </p:txBody>
      </p:sp>
      <p:sp>
        <p:nvSpPr>
          <p:cNvPr id="5" name="Text 3"/>
          <p:cNvSpPr/>
          <p:nvPr/>
        </p:nvSpPr>
        <p:spPr>
          <a:xfrm>
            <a:off x="1122680" y="2260600"/>
            <a:ext cx="4672533" cy="299720"/>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238441"/>
                </a:solidFill>
                <a:latin typeface="Montserrat" pitchFamily="34" charset="0"/>
                <a:ea typeface="Montserrat" pitchFamily="34" charset="-122"/>
                <a:cs typeface="Montserrat" pitchFamily="34" charset="-120"/>
              </a:rPr>
              <a:t>Сельхозпроизводитель</a:t>
            </a:r>
            <a:endParaRPr lang="en-US" sz="1800" dirty="0"/>
          </a:p>
        </p:txBody>
      </p:sp>
      <p:sp>
        <p:nvSpPr>
          <p:cNvPr id="6" name="Text 4"/>
          <p:cNvSpPr/>
          <p:nvPr/>
        </p:nvSpPr>
        <p:spPr>
          <a:xfrm>
            <a:off x="1193800" y="2687320"/>
            <a:ext cx="4593793" cy="854075"/>
          </a:xfrm>
          <a:prstGeom prst="rect">
            <a:avLst/>
          </a:prstGeom>
          <a:noFill/>
          <a:ln/>
        </p:spPr>
        <p:txBody>
          <a:bodyPr wrap="square" lIns="0" tIns="0" rIns="0" bIns="0" rtlCol="0" anchor="t">
            <a:normAutofit/>
          </a:bodyPr>
          <a:lstStyle/>
          <a:p>
            <a:pPr marL="285750" indent="-285750" algn="l">
              <a:lnSpc>
                <a:spcPts val="2175"/>
              </a:lnSpc>
              <a:buSzPct val="100000"/>
              <a:buFont typeface="Wingdings" panose="05000000000000000000" pitchFamily="2" charset="2"/>
              <a:buChar char="v"/>
            </a:pPr>
            <a:r>
              <a:rPr lang="en-US" sz="1500" dirty="0">
                <a:solidFill>
                  <a:srgbClr val="3F4F43"/>
                </a:solidFill>
                <a:latin typeface="IBM Plex Sans" pitchFamily="34" charset="0"/>
                <a:ea typeface="IBM Plex Sans" pitchFamily="34" charset="-122"/>
                <a:cs typeface="IBM Plex Sans" pitchFamily="34" charset="-120"/>
              </a:rPr>
              <a:t>Какой урожай ждать в этом сезоне?</a:t>
            </a:r>
            <a:endParaRPr lang="en-US" sz="1500" dirty="0"/>
          </a:p>
          <a:p>
            <a:pPr marL="285750" indent="-285750" algn="l">
              <a:lnSpc>
                <a:spcPts val="2175"/>
              </a:lnSpc>
              <a:buSzPct val="100000"/>
              <a:buFont typeface="Wingdings" panose="05000000000000000000" pitchFamily="2" charset="2"/>
              <a:buChar char="v"/>
            </a:pPr>
            <a:r>
              <a:rPr lang="en-US" sz="1500" dirty="0">
                <a:solidFill>
                  <a:srgbClr val="3F4F43"/>
                </a:solidFill>
                <a:latin typeface="IBM Plex Sans" pitchFamily="34" charset="0"/>
                <a:ea typeface="IBM Plex Sans" pitchFamily="34" charset="-122"/>
                <a:cs typeface="IBM Plex Sans" pitchFamily="34" charset="-120"/>
              </a:rPr>
              <a:t>Когда выгоднее продавать зерно?</a:t>
            </a:r>
            <a:endParaRPr lang="en-US" sz="1500" dirty="0"/>
          </a:p>
          <a:p>
            <a:pPr marL="285750" indent="-285750" algn="l">
              <a:lnSpc>
                <a:spcPts val="2175"/>
              </a:lnSpc>
              <a:buSzPct val="100000"/>
              <a:buFont typeface="Wingdings" panose="05000000000000000000" pitchFamily="2" charset="2"/>
              <a:buChar char="v"/>
            </a:pPr>
            <a:r>
              <a:rPr lang="en-US" sz="1500" dirty="0">
                <a:solidFill>
                  <a:srgbClr val="3F4F43"/>
                </a:solidFill>
                <a:latin typeface="IBM Plex Sans" pitchFamily="34" charset="0"/>
                <a:ea typeface="IBM Plex Sans" pitchFamily="34" charset="-122"/>
                <a:cs typeface="IBM Plex Sans" pitchFamily="34" charset="-120"/>
              </a:rPr>
              <a:t>Выдержит ли маржа рост цен на топливо?</a:t>
            </a:r>
            <a:endParaRPr lang="en-US" sz="1500" dirty="0"/>
          </a:p>
        </p:txBody>
      </p:sp>
      <p:sp>
        <p:nvSpPr>
          <p:cNvPr id="7" name="Shape 5"/>
          <p:cNvSpPr/>
          <p:nvPr/>
        </p:nvSpPr>
        <p:spPr>
          <a:xfrm>
            <a:off x="6226175" y="1953895"/>
            <a:ext cx="5149850" cy="1868805"/>
          </a:xfrm>
          <a:prstGeom prst="roundRect">
            <a:avLst>
              <a:gd name="adj" fmla="val 5267"/>
            </a:avLst>
          </a:prstGeom>
          <a:solidFill>
            <a:srgbClr val="FCFCF8"/>
          </a:solidFill>
          <a:ln w="6350">
            <a:solidFill>
              <a:srgbClr val="DDE2D3"/>
            </a:solidFill>
            <a:prstDash val="solid"/>
          </a:ln>
          <a:effectLst>
            <a:outerShdw blurRad="50800" dist="38100" dir="5400000" algn="t" rotWithShape="0">
              <a:prstClr val="black">
                <a:alpha val="40000"/>
              </a:prstClr>
            </a:outerShdw>
          </a:effectLst>
        </p:spPr>
        <p:txBody>
          <a:bodyPr/>
          <a:lstStyle/>
          <a:p>
            <a:endParaRPr lang="ru-RU"/>
          </a:p>
        </p:txBody>
      </p:sp>
      <p:sp>
        <p:nvSpPr>
          <p:cNvPr id="8" name="Text 6"/>
          <p:cNvSpPr/>
          <p:nvPr/>
        </p:nvSpPr>
        <p:spPr>
          <a:xfrm>
            <a:off x="6532880" y="2260600"/>
            <a:ext cx="4672533" cy="299720"/>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238441"/>
                </a:solidFill>
                <a:latin typeface="Montserrat" pitchFamily="34" charset="0"/>
                <a:ea typeface="Montserrat" pitchFamily="34" charset="-122"/>
                <a:cs typeface="Montserrat" pitchFamily="34" charset="-120"/>
              </a:rPr>
              <a:t>Банк</a:t>
            </a:r>
            <a:endParaRPr lang="en-US" sz="1800" dirty="0"/>
          </a:p>
        </p:txBody>
      </p:sp>
      <p:sp>
        <p:nvSpPr>
          <p:cNvPr id="9" name="Text 7"/>
          <p:cNvSpPr/>
          <p:nvPr/>
        </p:nvSpPr>
        <p:spPr>
          <a:xfrm>
            <a:off x="6604000" y="2687320"/>
            <a:ext cx="4593793" cy="854075"/>
          </a:xfrm>
          <a:prstGeom prst="rect">
            <a:avLst/>
          </a:prstGeom>
          <a:noFill/>
          <a:ln/>
        </p:spPr>
        <p:txBody>
          <a:bodyPr wrap="square" lIns="0" tIns="0" rIns="0" bIns="0" rtlCol="0" anchor="t">
            <a:normAutofit/>
          </a:bodyPr>
          <a:lstStyle/>
          <a:p>
            <a:pPr marL="285750" indent="-285750" algn="l">
              <a:lnSpc>
                <a:spcPts val="2175"/>
              </a:lnSpc>
              <a:buSzPct val="100000"/>
              <a:buFont typeface="Wingdings" panose="05000000000000000000" pitchFamily="2" charset="2"/>
              <a:buChar char="v"/>
            </a:pPr>
            <a:r>
              <a:rPr lang="en-US" sz="1500" dirty="0">
                <a:solidFill>
                  <a:srgbClr val="3F4F43"/>
                </a:solidFill>
                <a:latin typeface="IBM Plex Sans" pitchFamily="34" charset="0"/>
                <a:ea typeface="IBM Plex Sans" pitchFamily="34" charset="-122"/>
                <a:cs typeface="IBM Plex Sans" pitchFamily="34" charset="-120"/>
              </a:rPr>
              <a:t>Какие заемщики в зоне риска еще до уборки?</a:t>
            </a:r>
            <a:endParaRPr lang="en-US" sz="1500" dirty="0"/>
          </a:p>
          <a:p>
            <a:pPr marL="285750" indent="-285750" algn="l">
              <a:lnSpc>
                <a:spcPts val="2175"/>
              </a:lnSpc>
              <a:buSzPct val="100000"/>
              <a:buFont typeface="Wingdings" panose="05000000000000000000" pitchFamily="2" charset="2"/>
              <a:buChar char="v"/>
            </a:pPr>
            <a:r>
              <a:rPr lang="en-US" sz="1500" dirty="0">
                <a:solidFill>
                  <a:srgbClr val="3F4F43"/>
                </a:solidFill>
                <a:latin typeface="IBM Plex Sans" pitchFamily="34" charset="0"/>
                <a:ea typeface="IBM Plex Sans" pitchFamily="34" charset="-122"/>
                <a:cs typeface="IBM Plex Sans" pitchFamily="34" charset="-120"/>
              </a:rPr>
              <a:t>Как распределить лимиты по округам?</a:t>
            </a:r>
            <a:endParaRPr lang="en-US" sz="1500" dirty="0"/>
          </a:p>
          <a:p>
            <a:pPr marL="285750" indent="-285750" algn="l">
              <a:lnSpc>
                <a:spcPts val="2175"/>
              </a:lnSpc>
              <a:buSzPct val="100000"/>
              <a:buFont typeface="Wingdings" panose="05000000000000000000" pitchFamily="2" charset="2"/>
              <a:buChar char="v"/>
            </a:pPr>
            <a:r>
              <a:rPr lang="en-US" sz="1500" dirty="0">
                <a:solidFill>
                  <a:srgbClr val="3F4F43"/>
                </a:solidFill>
                <a:latin typeface="IBM Plex Sans" pitchFamily="34" charset="0"/>
                <a:ea typeface="IBM Plex Sans" pitchFamily="34" charset="-122"/>
                <a:cs typeface="IBM Plex Sans" pitchFamily="34" charset="-120"/>
              </a:rPr>
              <a:t>Что будет с портфелем в засушливый год?</a:t>
            </a:r>
            <a:endParaRPr lang="en-US" sz="1500" dirty="0"/>
          </a:p>
        </p:txBody>
      </p:sp>
      <p:sp>
        <p:nvSpPr>
          <p:cNvPr id="10" name="Text 8"/>
          <p:cNvSpPr/>
          <p:nvPr/>
        </p:nvSpPr>
        <p:spPr>
          <a:xfrm>
            <a:off x="812800" y="4181475"/>
            <a:ext cx="10566400" cy="889000"/>
          </a:xfrm>
          <a:prstGeom prst="roundRect">
            <a:avLst>
              <a:gd name="adj" fmla="val 8571"/>
            </a:avLst>
          </a:prstGeom>
          <a:solidFill>
            <a:srgbClr val="ECEFE3"/>
          </a:solidFill>
          <a:ln/>
          <a:effectLst>
            <a:reflection blurRad="6350" stA="50000" endA="300" endPos="55000" dir="5400000" sy="-100000" algn="bl" rotWithShape="0"/>
          </a:effectLst>
        </p:spPr>
        <p:txBody>
          <a:bodyPr wrap="square" lIns="231682" tIns="155482" rIns="0" bIns="130082" rtlCol="0" anchor="t">
            <a:normAutofit/>
          </a:bodyPr>
          <a:lstStyle/>
          <a:p>
            <a:pPr marL="0" indent="0" algn="l">
              <a:lnSpc>
                <a:spcPts val="2100"/>
              </a:lnSpc>
              <a:buNone/>
            </a:pPr>
            <a:r>
              <a:rPr lang="en-US" sz="1500" dirty="0">
                <a:solidFill>
                  <a:srgbClr val="3F4F43"/>
                </a:solidFill>
                <a:latin typeface="IBM Plex Sans" pitchFamily="34" charset="0"/>
                <a:ea typeface="IBM Plex Sans" pitchFamily="34" charset="-122"/>
                <a:cs typeface="IBM Plex Sans" pitchFamily="34" charset="-120"/>
              </a:rPr>
              <a:t>Сейчас эти данные разбросаны по Росстату, ЕМИСС и погодным сервисам, а урожай по округам публикуется с задержкой до 9 месяцев.</a:t>
            </a:r>
            <a:endParaRPr lang="en-US" sz="1500" dirty="0"/>
          </a:p>
        </p:txBody>
      </p:sp>
      <p:sp>
        <p:nvSpPr>
          <p:cNvPr id="12" name="Text 10"/>
          <p:cNvSpPr/>
          <p:nvPr/>
        </p:nvSpPr>
        <p:spPr>
          <a:xfrm>
            <a:off x="10058400" y="6238241"/>
            <a:ext cx="1320800" cy="23876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6B7A6E"/>
                </a:solidFill>
                <a:latin typeface="IBM Plex Sans" pitchFamily="34" charset="0"/>
                <a:ea typeface="IBM Plex Sans" pitchFamily="34" charset="-122"/>
                <a:cs typeface="IBM Plex Sans" pitchFamily="34" charset="-120"/>
              </a:rPr>
              <a:t>2</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5F6EF"/>
        </a:solidFill>
        <a:effectLst/>
      </p:bgPr>
    </p:bg>
    <p:spTree>
      <p:nvGrpSpPr>
        <p:cNvPr id="1" name=""/>
        <p:cNvGrpSpPr/>
        <p:nvPr/>
      </p:nvGrpSpPr>
      <p:grpSpPr>
        <a:xfrm>
          <a:off x="0" y="0"/>
          <a:ext cx="0" cy="0"/>
          <a:chOff x="0" y="0"/>
          <a:chExt cx="0" cy="0"/>
        </a:xfrm>
      </p:grpSpPr>
      <p:sp>
        <p:nvSpPr>
          <p:cNvPr id="3" name="Text 1"/>
          <p:cNvSpPr>
            <a:spLocks noGrp="1"/>
          </p:cNvSpPr>
          <p:nvPr>
            <p:ph type="title"/>
          </p:nvPr>
        </p:nvSpPr>
        <p:spPr>
          <a:xfrm>
            <a:off x="812800" y="812800"/>
            <a:ext cx="10883392" cy="794623"/>
          </a:xfrm>
          <a:prstGeom prst="rect">
            <a:avLst/>
          </a:prstGeom>
          <a:noFill/>
          <a:ln/>
        </p:spPr>
        <p:txBody>
          <a:bodyPr wrap="square" lIns="0" tIns="0" rIns="0" bIns="0" rtlCol="0" anchor="t">
            <a:normAutofit/>
          </a:bodyPr>
          <a:lstStyle/>
          <a:p>
            <a:pPr marL="0" indent="0" algn="l">
              <a:lnSpc>
                <a:spcPts val="3032"/>
              </a:lnSpc>
              <a:buNone/>
            </a:pPr>
            <a:r>
              <a:rPr lang="en-US" sz="2756" b="1" i="0" dirty="0">
                <a:solidFill>
                  <a:srgbClr val="1F4424"/>
                </a:solidFill>
                <a:latin typeface="Montserrat" pitchFamily="34" charset="0"/>
                <a:ea typeface="Montserrat" pitchFamily="34" charset="-122"/>
                <a:cs typeface="Montserrat" pitchFamily="34" charset="-120"/>
              </a:rPr>
              <a:t>Ставрополье: крупный зерновой регион с сильным перепадом климата внутри края</a:t>
            </a:r>
            <a:endParaRPr lang="en-US" sz="2756" dirty="0"/>
          </a:p>
        </p:txBody>
      </p:sp>
      <p:sp>
        <p:nvSpPr>
          <p:cNvPr id="4" name="Shape 2"/>
          <p:cNvSpPr/>
          <p:nvPr/>
        </p:nvSpPr>
        <p:spPr>
          <a:xfrm>
            <a:off x="815975" y="1940798"/>
            <a:ext cx="5175250" cy="1535271"/>
          </a:xfrm>
          <a:prstGeom prst="roundRect">
            <a:avLst>
              <a:gd name="adj" fmla="val 6411"/>
            </a:avLst>
          </a:prstGeom>
          <a:solidFill>
            <a:srgbClr val="FCFCF8"/>
          </a:solidFill>
          <a:ln w="6350">
            <a:solidFill>
              <a:srgbClr val="DDE2D3"/>
            </a:solidFill>
            <a:prstDash val="solid"/>
          </a:ln>
          <a:effectLst>
            <a:outerShdw blurRad="50800" dist="38100" dir="5400000" algn="t" rotWithShape="0">
              <a:prstClr val="black">
                <a:alpha val="40000"/>
              </a:prstClr>
            </a:outerShdw>
          </a:effectLst>
        </p:spPr>
        <p:txBody>
          <a:bodyPr/>
          <a:lstStyle/>
          <a:p>
            <a:endParaRPr lang="ru-RU"/>
          </a:p>
        </p:txBody>
      </p:sp>
      <p:sp>
        <p:nvSpPr>
          <p:cNvPr id="5" name="Text 3"/>
          <p:cNvSpPr/>
          <p:nvPr/>
        </p:nvSpPr>
        <p:spPr>
          <a:xfrm>
            <a:off x="1071880" y="2196703"/>
            <a:ext cx="4803343" cy="514191"/>
          </a:xfrm>
          <a:prstGeom prst="rect">
            <a:avLst/>
          </a:prstGeom>
          <a:noFill/>
          <a:ln/>
        </p:spPr>
        <p:txBody>
          <a:bodyPr wrap="square" lIns="0" tIns="0" rIns="0" bIns="0" rtlCol="0" anchor="t">
            <a:normAutofit/>
          </a:bodyPr>
          <a:lstStyle/>
          <a:p>
            <a:pPr marL="0" indent="0" algn="l">
              <a:lnSpc>
                <a:spcPts val="3873"/>
              </a:lnSpc>
              <a:buNone/>
            </a:pPr>
            <a:r>
              <a:rPr lang="en-US" sz="3521" b="1" dirty="0">
                <a:solidFill>
                  <a:srgbClr val="238441"/>
                </a:solidFill>
                <a:latin typeface="Montserrat" pitchFamily="34" charset="0"/>
                <a:ea typeface="Montserrat" pitchFamily="34" charset="-122"/>
                <a:cs typeface="Montserrat" pitchFamily="34" charset="-120"/>
              </a:rPr>
              <a:t>10,03 млн т</a:t>
            </a:r>
            <a:endParaRPr lang="en-US" sz="3521" dirty="0"/>
          </a:p>
        </p:txBody>
      </p:sp>
      <p:sp>
        <p:nvSpPr>
          <p:cNvPr id="6" name="Text 4"/>
          <p:cNvSpPr/>
          <p:nvPr/>
        </p:nvSpPr>
        <p:spPr>
          <a:xfrm>
            <a:off x="1071880" y="2736295"/>
            <a:ext cx="4803343" cy="509270"/>
          </a:xfrm>
          <a:prstGeom prst="rect">
            <a:avLst/>
          </a:prstGeom>
          <a:noFill/>
          <a:ln/>
        </p:spPr>
        <p:txBody>
          <a:bodyPr wrap="square" lIns="0" tIns="0" rIns="0" bIns="0" rtlCol="0" anchor="t">
            <a:normAutofit/>
          </a:bodyPr>
          <a:lstStyle/>
          <a:p>
            <a:pPr marL="0" indent="0" algn="l">
              <a:lnSpc>
                <a:spcPts val="1911"/>
              </a:lnSpc>
              <a:buNone/>
            </a:pPr>
            <a:r>
              <a:rPr lang="en-US" sz="1365" dirty="0">
                <a:solidFill>
                  <a:srgbClr val="3F4F43"/>
                </a:solidFill>
                <a:latin typeface="IBM Plex Sans" pitchFamily="34" charset="0"/>
                <a:ea typeface="IBM Plex Sans" pitchFamily="34" charset="-122"/>
                <a:cs typeface="IBM Plex Sans" pitchFamily="34" charset="-120"/>
              </a:rPr>
              <a:t>зерна собрано в 2025 году, а в засушливом 2020 году всего 5,2 млн т</a:t>
            </a:r>
            <a:endParaRPr lang="en-US" sz="1365" dirty="0"/>
          </a:p>
        </p:txBody>
      </p:sp>
      <p:sp>
        <p:nvSpPr>
          <p:cNvPr id="7" name="Shape 5"/>
          <p:cNvSpPr/>
          <p:nvPr/>
        </p:nvSpPr>
        <p:spPr>
          <a:xfrm>
            <a:off x="6200775" y="1940798"/>
            <a:ext cx="5175250" cy="1535271"/>
          </a:xfrm>
          <a:prstGeom prst="roundRect">
            <a:avLst>
              <a:gd name="adj" fmla="val 6411"/>
            </a:avLst>
          </a:prstGeom>
          <a:solidFill>
            <a:srgbClr val="FCFCF8"/>
          </a:solidFill>
          <a:ln w="6350">
            <a:solidFill>
              <a:srgbClr val="DDE2D3"/>
            </a:solidFill>
            <a:prstDash val="solid"/>
          </a:ln>
          <a:effectLst>
            <a:outerShdw blurRad="50800" dist="38100" dir="5400000" algn="t" rotWithShape="0">
              <a:prstClr val="black">
                <a:alpha val="40000"/>
              </a:prstClr>
            </a:outerShdw>
          </a:effectLst>
        </p:spPr>
        <p:txBody>
          <a:bodyPr/>
          <a:lstStyle/>
          <a:p>
            <a:endParaRPr lang="ru-RU"/>
          </a:p>
        </p:txBody>
      </p:sp>
      <p:sp>
        <p:nvSpPr>
          <p:cNvPr id="8" name="Text 6"/>
          <p:cNvSpPr/>
          <p:nvPr/>
        </p:nvSpPr>
        <p:spPr>
          <a:xfrm>
            <a:off x="6456680" y="2196703"/>
            <a:ext cx="4803343" cy="514191"/>
          </a:xfrm>
          <a:prstGeom prst="rect">
            <a:avLst/>
          </a:prstGeom>
          <a:noFill/>
          <a:ln/>
        </p:spPr>
        <p:txBody>
          <a:bodyPr wrap="square" lIns="0" tIns="0" rIns="0" bIns="0" rtlCol="0" anchor="t">
            <a:normAutofit/>
          </a:bodyPr>
          <a:lstStyle/>
          <a:p>
            <a:pPr marL="0" indent="0" algn="l">
              <a:lnSpc>
                <a:spcPts val="3873"/>
              </a:lnSpc>
              <a:buNone/>
            </a:pPr>
            <a:r>
              <a:rPr lang="en-US" sz="3521" b="1" dirty="0">
                <a:solidFill>
                  <a:srgbClr val="238441"/>
                </a:solidFill>
                <a:latin typeface="Montserrat" pitchFamily="34" charset="0"/>
                <a:ea typeface="Montserrat" pitchFamily="34" charset="-122"/>
                <a:cs typeface="Montserrat" pitchFamily="34" charset="-120"/>
              </a:rPr>
              <a:t>14,3%</a:t>
            </a:r>
            <a:endParaRPr lang="en-US" sz="3521" dirty="0"/>
          </a:p>
        </p:txBody>
      </p:sp>
      <p:sp>
        <p:nvSpPr>
          <p:cNvPr id="9" name="Text 7"/>
          <p:cNvSpPr/>
          <p:nvPr/>
        </p:nvSpPr>
        <p:spPr>
          <a:xfrm>
            <a:off x="6456680" y="2736295"/>
            <a:ext cx="4803343" cy="509270"/>
          </a:xfrm>
          <a:prstGeom prst="rect">
            <a:avLst/>
          </a:prstGeom>
          <a:noFill/>
          <a:ln/>
        </p:spPr>
        <p:txBody>
          <a:bodyPr wrap="square" lIns="0" tIns="0" rIns="0" bIns="0" rtlCol="0" anchor="t">
            <a:normAutofit/>
          </a:bodyPr>
          <a:lstStyle/>
          <a:p>
            <a:pPr marL="0" indent="0" algn="l">
              <a:lnSpc>
                <a:spcPts val="1911"/>
              </a:lnSpc>
              <a:buNone/>
            </a:pPr>
            <a:r>
              <a:rPr lang="en-US" sz="1365" dirty="0">
                <a:solidFill>
                  <a:srgbClr val="3F4F43"/>
                </a:solidFill>
                <a:latin typeface="IBM Plex Sans" pitchFamily="34" charset="0"/>
                <a:ea typeface="IBM Plex Sans" pitchFamily="34" charset="-122"/>
                <a:cs typeface="IBM Plex Sans" pitchFamily="34" charset="-120"/>
              </a:rPr>
              <a:t>доля сельского хозяйства в ВРП края, в среднем по России 4,2%</a:t>
            </a:r>
            <a:endParaRPr lang="en-US" sz="1365" dirty="0"/>
          </a:p>
        </p:txBody>
      </p:sp>
      <p:sp>
        <p:nvSpPr>
          <p:cNvPr id="10" name="Shape 8"/>
          <p:cNvSpPr/>
          <p:nvPr/>
        </p:nvSpPr>
        <p:spPr>
          <a:xfrm>
            <a:off x="815975" y="3685620"/>
            <a:ext cx="5175250" cy="1535351"/>
          </a:xfrm>
          <a:prstGeom prst="roundRect">
            <a:avLst>
              <a:gd name="adj" fmla="val 6411"/>
            </a:avLst>
          </a:prstGeom>
          <a:solidFill>
            <a:srgbClr val="FCFCF8"/>
          </a:solidFill>
          <a:ln w="6350">
            <a:solidFill>
              <a:srgbClr val="DDE2D3"/>
            </a:solidFill>
            <a:prstDash val="solid"/>
          </a:ln>
          <a:effectLst>
            <a:outerShdw blurRad="50800" dist="38100" dir="5400000" algn="t" rotWithShape="0">
              <a:prstClr val="black">
                <a:alpha val="40000"/>
              </a:prstClr>
            </a:outerShdw>
          </a:effectLst>
        </p:spPr>
        <p:txBody>
          <a:bodyPr/>
          <a:lstStyle/>
          <a:p>
            <a:endParaRPr lang="ru-RU"/>
          </a:p>
        </p:txBody>
      </p:sp>
      <p:sp>
        <p:nvSpPr>
          <p:cNvPr id="11" name="Text 9"/>
          <p:cNvSpPr/>
          <p:nvPr/>
        </p:nvSpPr>
        <p:spPr>
          <a:xfrm>
            <a:off x="1071880" y="3941525"/>
            <a:ext cx="4803343" cy="514271"/>
          </a:xfrm>
          <a:prstGeom prst="rect">
            <a:avLst/>
          </a:prstGeom>
          <a:noFill/>
          <a:ln/>
        </p:spPr>
        <p:txBody>
          <a:bodyPr wrap="square" lIns="0" tIns="0" rIns="0" bIns="0" rtlCol="0" anchor="t">
            <a:normAutofit/>
          </a:bodyPr>
          <a:lstStyle/>
          <a:p>
            <a:pPr marL="0" indent="0" algn="l">
              <a:lnSpc>
                <a:spcPts val="3873"/>
              </a:lnSpc>
              <a:buNone/>
            </a:pPr>
            <a:r>
              <a:rPr lang="en-US" sz="3521" b="1" dirty="0">
                <a:solidFill>
                  <a:srgbClr val="238441"/>
                </a:solidFill>
                <a:latin typeface="Montserrat" pitchFamily="34" charset="0"/>
                <a:ea typeface="Montserrat" pitchFamily="34" charset="-122"/>
                <a:cs typeface="Montserrat" pitchFamily="34" charset="-120"/>
              </a:rPr>
              <a:t>1,76 млн га</a:t>
            </a:r>
            <a:endParaRPr lang="en-US" sz="3521" dirty="0"/>
          </a:p>
        </p:txBody>
      </p:sp>
      <p:sp>
        <p:nvSpPr>
          <p:cNvPr id="12" name="Text 10"/>
          <p:cNvSpPr/>
          <p:nvPr/>
        </p:nvSpPr>
        <p:spPr>
          <a:xfrm>
            <a:off x="1071880" y="4481195"/>
            <a:ext cx="4803343" cy="509270"/>
          </a:xfrm>
          <a:prstGeom prst="rect">
            <a:avLst/>
          </a:prstGeom>
          <a:noFill/>
          <a:ln/>
        </p:spPr>
        <p:txBody>
          <a:bodyPr wrap="square" lIns="0" tIns="0" rIns="0" bIns="0" rtlCol="0" anchor="t">
            <a:normAutofit/>
          </a:bodyPr>
          <a:lstStyle/>
          <a:p>
            <a:pPr marL="0" indent="0" algn="l">
              <a:lnSpc>
                <a:spcPts val="1911"/>
              </a:lnSpc>
              <a:buNone/>
            </a:pPr>
            <a:r>
              <a:rPr lang="en-US" sz="1365" dirty="0">
                <a:solidFill>
                  <a:srgbClr val="3F4F43"/>
                </a:solidFill>
                <a:latin typeface="IBM Plex Sans" pitchFamily="34" charset="0"/>
                <a:ea typeface="IBM Plex Sans" pitchFamily="34" charset="-122"/>
                <a:cs typeface="IBM Plex Sans" pitchFamily="34" charset="-120"/>
              </a:rPr>
              <a:t>озимой пшеницы в 26 муниципальных округах в 2025 году</a:t>
            </a:r>
            <a:endParaRPr lang="en-US" sz="1365" dirty="0"/>
          </a:p>
        </p:txBody>
      </p:sp>
      <p:sp>
        <p:nvSpPr>
          <p:cNvPr id="13" name="Shape 11"/>
          <p:cNvSpPr/>
          <p:nvPr/>
        </p:nvSpPr>
        <p:spPr>
          <a:xfrm>
            <a:off x="6200775" y="3685620"/>
            <a:ext cx="5175250" cy="1535351"/>
          </a:xfrm>
          <a:prstGeom prst="roundRect">
            <a:avLst>
              <a:gd name="adj" fmla="val 6411"/>
            </a:avLst>
          </a:prstGeom>
          <a:solidFill>
            <a:srgbClr val="FCFCF8"/>
          </a:solidFill>
          <a:ln w="6350">
            <a:solidFill>
              <a:srgbClr val="DDE2D3"/>
            </a:solidFill>
            <a:prstDash val="solid"/>
          </a:ln>
          <a:effectLst>
            <a:outerShdw blurRad="50800" dist="38100" dir="5400000" algn="t" rotWithShape="0">
              <a:prstClr val="black">
                <a:alpha val="40000"/>
              </a:prstClr>
            </a:outerShdw>
          </a:effectLst>
        </p:spPr>
        <p:txBody>
          <a:bodyPr/>
          <a:lstStyle/>
          <a:p>
            <a:endParaRPr lang="ru-RU"/>
          </a:p>
        </p:txBody>
      </p:sp>
      <p:sp>
        <p:nvSpPr>
          <p:cNvPr id="14" name="Text 12"/>
          <p:cNvSpPr/>
          <p:nvPr/>
        </p:nvSpPr>
        <p:spPr>
          <a:xfrm>
            <a:off x="6456680" y="3941525"/>
            <a:ext cx="4803343" cy="514271"/>
          </a:xfrm>
          <a:prstGeom prst="rect">
            <a:avLst/>
          </a:prstGeom>
          <a:noFill/>
          <a:ln/>
        </p:spPr>
        <p:txBody>
          <a:bodyPr wrap="square" lIns="0" tIns="0" rIns="0" bIns="0" rtlCol="0" anchor="t">
            <a:normAutofit/>
          </a:bodyPr>
          <a:lstStyle/>
          <a:p>
            <a:pPr marL="0" indent="0" algn="l">
              <a:lnSpc>
                <a:spcPts val="3873"/>
              </a:lnSpc>
              <a:buNone/>
            </a:pPr>
            <a:r>
              <a:rPr lang="en-US" sz="3521" b="1" dirty="0">
                <a:solidFill>
                  <a:srgbClr val="238441"/>
                </a:solidFill>
                <a:latin typeface="Montserrat" pitchFamily="34" charset="0"/>
                <a:ea typeface="Montserrat" pitchFamily="34" charset="-122"/>
                <a:cs typeface="Montserrat" pitchFamily="34" charset="-120"/>
              </a:rPr>
              <a:t>0,68 и 2,57</a:t>
            </a:r>
            <a:endParaRPr lang="en-US" sz="3521" dirty="0"/>
          </a:p>
        </p:txBody>
      </p:sp>
      <p:sp>
        <p:nvSpPr>
          <p:cNvPr id="15" name="Text 13"/>
          <p:cNvSpPr/>
          <p:nvPr/>
        </p:nvSpPr>
        <p:spPr>
          <a:xfrm>
            <a:off x="6456680" y="4481195"/>
            <a:ext cx="4803343" cy="509270"/>
          </a:xfrm>
          <a:prstGeom prst="rect">
            <a:avLst/>
          </a:prstGeom>
          <a:noFill/>
          <a:ln/>
        </p:spPr>
        <p:txBody>
          <a:bodyPr wrap="square" lIns="0" tIns="0" rIns="0" bIns="0" rtlCol="0" anchor="t">
            <a:normAutofit/>
          </a:bodyPr>
          <a:lstStyle/>
          <a:p>
            <a:pPr marL="0" indent="0" algn="l">
              <a:lnSpc>
                <a:spcPts val="1911"/>
              </a:lnSpc>
              <a:buNone/>
            </a:pPr>
            <a:r>
              <a:rPr lang="en-US" sz="1365" dirty="0">
                <a:solidFill>
                  <a:srgbClr val="3F4F43"/>
                </a:solidFill>
                <a:latin typeface="IBM Plex Sans" pitchFamily="34" charset="0"/>
                <a:ea typeface="IBM Plex Sans" pitchFamily="34" charset="-122"/>
                <a:cs typeface="IBM Plex Sans" pitchFamily="34" charset="-120"/>
              </a:rPr>
              <a:t>норма ГТК мая-июня в Нефтекумском и Предгорном округах: от засухи до избытка влаги</a:t>
            </a:r>
            <a:endParaRPr lang="en-US" sz="1365" dirty="0"/>
          </a:p>
        </p:txBody>
      </p:sp>
      <p:sp>
        <p:nvSpPr>
          <p:cNvPr id="16" name="Text 14"/>
          <p:cNvSpPr/>
          <p:nvPr/>
        </p:nvSpPr>
        <p:spPr>
          <a:xfrm>
            <a:off x="812800" y="5579745"/>
            <a:ext cx="10883392" cy="287655"/>
          </a:xfrm>
          <a:prstGeom prst="rect">
            <a:avLst/>
          </a:prstGeom>
          <a:noFill/>
          <a:ln/>
        </p:spPr>
        <p:txBody>
          <a:bodyPr wrap="square" lIns="0" tIns="0" rIns="0" bIns="0" rtlCol="0" anchor="t">
            <a:normAutofit/>
          </a:bodyPr>
          <a:lstStyle/>
          <a:p>
            <a:pPr marL="0" indent="0" algn="l">
              <a:lnSpc>
                <a:spcPts val="2074"/>
              </a:lnSpc>
              <a:buNone/>
            </a:pPr>
            <a:r>
              <a:rPr lang="en-US" sz="1481" dirty="0">
                <a:solidFill>
                  <a:srgbClr val="3F4F43"/>
                </a:solidFill>
                <a:latin typeface="IBM Plex Sans" pitchFamily="34" charset="0"/>
                <a:ea typeface="IBM Plex Sans" pitchFamily="34" charset="-122"/>
                <a:cs typeface="IBM Plex Sans" pitchFamily="34" charset="-120"/>
              </a:rPr>
              <a:t>Один регион показывает весь спектр погодных рисков, поэтому методику можно перенести на другие регионы.</a:t>
            </a:r>
            <a:endParaRPr lang="en-US" sz="1481" dirty="0"/>
          </a:p>
        </p:txBody>
      </p:sp>
      <p:sp>
        <p:nvSpPr>
          <p:cNvPr id="18" name="Text 16"/>
          <p:cNvSpPr/>
          <p:nvPr/>
        </p:nvSpPr>
        <p:spPr>
          <a:xfrm>
            <a:off x="10058400" y="6238241"/>
            <a:ext cx="1320800" cy="23876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6B7A6E"/>
                </a:solidFill>
                <a:latin typeface="IBM Plex Sans" pitchFamily="34" charset="0"/>
                <a:ea typeface="IBM Plex Sans" pitchFamily="34" charset="-122"/>
                <a:cs typeface="IBM Plex Sans" pitchFamily="34" charset="-120"/>
              </a:rPr>
              <a:t>3</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5F6EF"/>
        </a:solidFill>
        <a:effectLst/>
      </p:bgPr>
    </p:bg>
    <p:spTree>
      <p:nvGrpSpPr>
        <p:cNvPr id="1" name=""/>
        <p:cNvGrpSpPr/>
        <p:nvPr/>
      </p:nvGrpSpPr>
      <p:grpSpPr>
        <a:xfrm>
          <a:off x="0" y="0"/>
          <a:ext cx="0" cy="0"/>
          <a:chOff x="0" y="0"/>
          <a:chExt cx="0" cy="0"/>
        </a:xfrm>
      </p:grpSpPr>
      <p:sp>
        <p:nvSpPr>
          <p:cNvPr id="3" name="Text 1"/>
          <p:cNvSpPr>
            <a:spLocks noGrp="1"/>
          </p:cNvSpPr>
          <p:nvPr>
            <p:ph type="title"/>
          </p:nvPr>
        </p:nvSpPr>
        <p:spPr>
          <a:xfrm>
            <a:off x="812800" y="812800"/>
            <a:ext cx="10883392" cy="807720"/>
          </a:xfrm>
          <a:prstGeom prst="rect">
            <a:avLst/>
          </a:prstGeom>
          <a:noFill/>
          <a:ln/>
        </p:spPr>
        <p:txBody>
          <a:bodyPr wrap="square" lIns="0" tIns="0" rIns="0" bIns="0" rtlCol="0" anchor="t">
            <a:normAutofit/>
          </a:bodyPr>
          <a:lstStyle/>
          <a:p>
            <a:pPr marL="0" indent="0" algn="l">
              <a:lnSpc>
                <a:spcPts val="3080"/>
              </a:lnSpc>
              <a:buNone/>
            </a:pPr>
            <a:r>
              <a:rPr lang="en-US" sz="2800" b="1" i="0" dirty="0">
                <a:solidFill>
                  <a:srgbClr val="1F4424"/>
                </a:solidFill>
                <a:latin typeface="Montserrat" pitchFamily="34" charset="0"/>
                <a:ea typeface="Montserrat" pitchFamily="34" charset="-122"/>
                <a:cs typeface="Montserrat" pitchFamily="34" charset="-120"/>
              </a:rPr>
              <a:t>Сервис построен только на открытых данных с обновлением от ежедневного до годового</a:t>
            </a:r>
            <a:endParaRPr lang="en-US" sz="2800" dirty="0"/>
          </a:p>
        </p:txBody>
      </p:sp>
      <p:graphicFrame>
        <p:nvGraphicFramePr>
          <p:cNvPr id="4" name="Table 0"/>
          <p:cNvGraphicFramePr>
            <a:graphicFrameLocks noGrp="1"/>
          </p:cNvGraphicFramePr>
          <p:nvPr>
            <p:extLst>
              <p:ext uri="{D42A27DB-BD31-4B8C-83A1-F6EECF244321}">
                <p14:modId xmlns:p14="http://schemas.microsoft.com/office/powerpoint/2010/main" val="1350726098"/>
              </p:ext>
            </p:extLst>
          </p:nvPr>
        </p:nvGraphicFramePr>
        <p:xfrm>
          <a:off x="822960" y="1910080"/>
          <a:ext cx="10556241" cy="2301240"/>
        </p:xfrm>
        <a:graphic>
          <a:graphicData uri="http://schemas.openxmlformats.org/drawingml/2006/table">
            <a:tbl>
              <a:tblPr/>
              <a:tblGrid>
                <a:gridCol w="2533498">
                  <a:extLst>
                    <a:ext uri="{9D8B030D-6E8A-4147-A177-3AD203B41FA5}">
                      <a16:colId xmlns:a16="http://schemas.microsoft.com/office/drawing/2014/main" val="20000"/>
                    </a:ext>
                  </a:extLst>
                </a:gridCol>
                <a:gridCol w="3589122">
                  <a:extLst>
                    <a:ext uri="{9D8B030D-6E8A-4147-A177-3AD203B41FA5}">
                      <a16:colId xmlns:a16="http://schemas.microsoft.com/office/drawing/2014/main" val="20001"/>
                    </a:ext>
                  </a:extLst>
                </a:gridCol>
                <a:gridCol w="2533498">
                  <a:extLst>
                    <a:ext uri="{9D8B030D-6E8A-4147-A177-3AD203B41FA5}">
                      <a16:colId xmlns:a16="http://schemas.microsoft.com/office/drawing/2014/main" val="20002"/>
                    </a:ext>
                  </a:extLst>
                </a:gridCol>
                <a:gridCol w="1900123">
                  <a:extLst>
                    <a:ext uri="{9D8B030D-6E8A-4147-A177-3AD203B41FA5}">
                      <a16:colId xmlns:a16="http://schemas.microsoft.com/office/drawing/2014/main" val="20003"/>
                    </a:ext>
                  </a:extLst>
                </a:gridCol>
              </a:tblGrid>
              <a:tr h="383540">
                <a:tc>
                  <a:txBody>
                    <a:bodyPr/>
                    <a:lstStyle/>
                    <a:p>
                      <a:pPr marL="0" indent="0">
                        <a:lnSpc>
                          <a:spcPts val="1960"/>
                        </a:lnSpc>
                        <a:buNone/>
                      </a:pPr>
                      <a:r>
                        <a:rPr lang="en-US" sz="1400" b="1" dirty="0">
                          <a:solidFill>
                            <a:srgbClr val="F3F5EC"/>
                          </a:solidFill>
                          <a:latin typeface="IBM Plex Sans" pitchFamily="34" charset="0"/>
                          <a:ea typeface="IBM Plex Sans" pitchFamily="34" charset="-122"/>
                          <a:cs typeface="IBM Plex Sans" pitchFamily="34" charset="-120"/>
                        </a:rPr>
                        <a:t>Источник</a:t>
                      </a:r>
                      <a:endParaRPr lang="en-US" sz="1400" dirty="0">
                        <a:latin typeface="IBM Plex Sans" charset="0"/>
                        <a:ea typeface="IBM Plex Sans" charset="0"/>
                        <a:cs typeface="IBM Plex Sans" charset="0"/>
                      </a:endParaRPr>
                    </a:p>
                  </a:txBody>
                  <a:tcPr marL="62230" marR="62230" marT="62230" marB="62230">
                    <a:lnL w="12700" cap="flat" cmpd="sng" algn="ctr">
                      <a:solidFill>
                        <a:srgbClr val="C4C4BF"/>
                      </a:solidFill>
                      <a:prstDash val="solid"/>
                      <a:round/>
                      <a:headEnd type="none" w="med" len="med"/>
                      <a:tailEnd type="none" w="med" len="med"/>
                    </a:lnL>
                    <a:lnR w="12700" cap="flat" cmpd="sng" algn="ctr">
                      <a:solidFill>
                        <a:srgbClr val="1D3920"/>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1D3920"/>
                      </a:solidFill>
                      <a:prstDash val="solid"/>
                      <a:round/>
                      <a:headEnd type="none" w="med" len="med"/>
                      <a:tailEnd type="none" w="med" len="med"/>
                    </a:lnB>
                    <a:solidFill>
                      <a:schemeClr val="accent1"/>
                    </a:solidFill>
                  </a:tcPr>
                </a:tc>
                <a:tc>
                  <a:txBody>
                    <a:bodyPr/>
                    <a:lstStyle/>
                    <a:p>
                      <a:pPr marL="0" indent="0">
                        <a:lnSpc>
                          <a:spcPts val="1960"/>
                        </a:lnSpc>
                        <a:buNone/>
                      </a:pPr>
                      <a:r>
                        <a:rPr lang="en-US" sz="1400" b="1" dirty="0">
                          <a:solidFill>
                            <a:srgbClr val="F3F5EC"/>
                          </a:solidFill>
                          <a:latin typeface="IBM Plex Sans" pitchFamily="34" charset="0"/>
                          <a:ea typeface="IBM Plex Sans" pitchFamily="34" charset="-122"/>
                          <a:cs typeface="IBM Plex Sans" pitchFamily="34" charset="-120"/>
                        </a:rPr>
                        <a:t>Что берем</a:t>
                      </a:r>
                      <a:endParaRPr lang="en-US" sz="1400" dirty="0">
                        <a:latin typeface="IBM Plex Sans" charset="0"/>
                        <a:ea typeface="IBM Plex Sans" charset="0"/>
                        <a:cs typeface="IBM Plex Sans" charset="0"/>
                      </a:endParaRPr>
                    </a:p>
                  </a:txBody>
                  <a:tcPr marL="62230" marR="62230" marT="62230" marB="62230">
                    <a:lnL w="12700" cap="flat" cmpd="sng" algn="ctr">
                      <a:solidFill>
                        <a:srgbClr val="1D3920"/>
                      </a:solidFill>
                      <a:prstDash val="solid"/>
                      <a:round/>
                      <a:headEnd type="none" w="med" len="med"/>
                      <a:tailEnd type="none" w="med" len="med"/>
                    </a:lnL>
                    <a:lnR w="12700" cap="flat" cmpd="sng" algn="ctr">
                      <a:solidFill>
                        <a:srgbClr val="1D3920"/>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1D3920"/>
                      </a:solidFill>
                      <a:prstDash val="solid"/>
                      <a:round/>
                      <a:headEnd type="none" w="med" len="med"/>
                      <a:tailEnd type="none" w="med" len="med"/>
                    </a:lnB>
                    <a:solidFill>
                      <a:schemeClr val="accent1"/>
                    </a:solidFill>
                  </a:tcPr>
                </a:tc>
                <a:tc>
                  <a:txBody>
                    <a:bodyPr/>
                    <a:lstStyle/>
                    <a:p>
                      <a:pPr marL="0" indent="0">
                        <a:lnSpc>
                          <a:spcPts val="1960"/>
                        </a:lnSpc>
                        <a:buNone/>
                      </a:pPr>
                      <a:r>
                        <a:rPr lang="en-US" sz="1400" b="1" dirty="0">
                          <a:solidFill>
                            <a:srgbClr val="F3F5EC"/>
                          </a:solidFill>
                          <a:latin typeface="IBM Plex Sans" pitchFamily="34" charset="0"/>
                          <a:ea typeface="IBM Plex Sans" pitchFamily="34" charset="-122"/>
                          <a:cs typeface="IBM Plex Sans" pitchFamily="34" charset="-120"/>
                        </a:rPr>
                        <a:t>Детализация</a:t>
                      </a:r>
                      <a:endParaRPr lang="en-US" sz="1400" dirty="0">
                        <a:latin typeface="IBM Plex Sans" charset="0"/>
                        <a:ea typeface="IBM Plex Sans" charset="0"/>
                        <a:cs typeface="IBM Plex Sans" charset="0"/>
                      </a:endParaRPr>
                    </a:p>
                  </a:txBody>
                  <a:tcPr marL="62230" marR="62230" marT="62230" marB="62230">
                    <a:lnL w="12700" cap="flat" cmpd="sng" algn="ctr">
                      <a:solidFill>
                        <a:srgbClr val="1D3920"/>
                      </a:solidFill>
                      <a:prstDash val="solid"/>
                      <a:round/>
                      <a:headEnd type="none" w="med" len="med"/>
                      <a:tailEnd type="none" w="med" len="med"/>
                    </a:lnL>
                    <a:lnR w="12700" cap="flat" cmpd="sng" algn="ctr">
                      <a:solidFill>
                        <a:srgbClr val="1D3920"/>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1D3920"/>
                      </a:solidFill>
                      <a:prstDash val="solid"/>
                      <a:round/>
                      <a:headEnd type="none" w="med" len="med"/>
                      <a:tailEnd type="none" w="med" len="med"/>
                    </a:lnB>
                    <a:solidFill>
                      <a:schemeClr val="accent1"/>
                    </a:solidFill>
                  </a:tcPr>
                </a:tc>
                <a:tc>
                  <a:txBody>
                    <a:bodyPr/>
                    <a:lstStyle/>
                    <a:p>
                      <a:pPr marL="0" indent="0">
                        <a:lnSpc>
                          <a:spcPts val="1960"/>
                        </a:lnSpc>
                        <a:buNone/>
                      </a:pPr>
                      <a:r>
                        <a:rPr lang="en-US" sz="1400" b="1" dirty="0">
                          <a:solidFill>
                            <a:srgbClr val="F3F5EC"/>
                          </a:solidFill>
                          <a:latin typeface="IBM Plex Sans" pitchFamily="34" charset="0"/>
                          <a:ea typeface="IBM Plex Sans" pitchFamily="34" charset="-122"/>
                          <a:cs typeface="IBM Plex Sans" pitchFamily="34" charset="-120"/>
                        </a:rPr>
                        <a:t>Обновление</a:t>
                      </a:r>
                      <a:endParaRPr lang="en-US" sz="1400" dirty="0">
                        <a:latin typeface="IBM Plex Sans" charset="0"/>
                        <a:ea typeface="IBM Plex Sans" charset="0"/>
                        <a:cs typeface="IBM Plex Sans" charset="0"/>
                      </a:endParaRPr>
                    </a:p>
                  </a:txBody>
                  <a:tcPr marL="62230" marR="62230" marT="62230" marB="62230">
                    <a:lnL w="12700" cap="flat" cmpd="sng" algn="ctr">
                      <a:solidFill>
                        <a:srgbClr val="1D3920"/>
                      </a:solidFill>
                      <a:prstDash val="solid"/>
                      <a:round/>
                      <a:headEnd type="none" w="med" len="med"/>
                      <a:tailEnd type="none" w="med" len="med"/>
                    </a:lnL>
                    <a:lnR w="12700" cap="flat" cmpd="sng" algn="ctr">
                      <a:solidFill>
                        <a:srgbClr val="1D3920"/>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1D3920"/>
                      </a:solidFill>
                      <a:prstDash val="solid"/>
                      <a:round/>
                      <a:headEnd type="none" w="med" len="med"/>
                      <a:tailEnd type="none" w="med" len="med"/>
                    </a:lnB>
                    <a:solidFill>
                      <a:schemeClr val="accent1"/>
                    </a:solidFill>
                  </a:tcPr>
                </a:tc>
                <a:extLst>
                  <a:ext uri="{0D108BD9-81ED-4DB2-BD59-A6C34878D82A}">
                    <a16:rowId xmlns:a16="http://schemas.microsoft.com/office/drawing/2014/main" val="10000"/>
                  </a:ext>
                </a:extLst>
              </a:tr>
              <a:tr h="383540">
                <a:tc>
                  <a:txBody>
                    <a:bodyPr/>
                    <a:lstStyle/>
                    <a:p>
                      <a:pPr marL="0" indent="0">
                        <a:lnSpc>
                          <a:spcPts val="1960"/>
                        </a:lnSpc>
                        <a:buNone/>
                      </a:pPr>
                      <a:r>
                        <a:rPr lang="en-US" sz="1400" dirty="0">
                          <a:solidFill>
                            <a:srgbClr val="1B2A1E"/>
                          </a:solidFill>
                          <a:latin typeface="IBM Plex Sans" pitchFamily="34" charset="0"/>
                          <a:ea typeface="IBM Plex Sans" pitchFamily="34" charset="-122"/>
                          <a:cs typeface="IBM Plex Sans" pitchFamily="34" charset="-120"/>
                        </a:rPr>
                        <a:t>Росстат, БД ПМО</a:t>
                      </a:r>
                      <a:endParaRPr lang="en-US" sz="1400" dirty="0">
                        <a:latin typeface="IBM Plex Sans" charset="0"/>
                        <a:ea typeface="IBM Plex Sans" charset="0"/>
                        <a:cs typeface="IBM Plex Sans" charset="0"/>
                      </a:endParaRPr>
                    </a:p>
                  </a:txBody>
                  <a:tcPr marL="62230" marR="62230" marT="62230" marB="62230">
                    <a:lnL w="12700" cap="flat" cmpd="sng" algn="ctr">
                      <a:solidFill>
                        <a:srgbClr val="C4C4BF"/>
                      </a:solidFill>
                      <a:prstDash val="solid"/>
                      <a:round/>
                      <a:headEnd type="none" w="med" len="med"/>
                      <a:tailEnd type="none" w="med" len="med"/>
                    </a:lnL>
                    <a:lnR w="12700" cap="flat" cmpd="sng" algn="ctr">
                      <a:solidFill>
                        <a:srgbClr val="C9C9C6"/>
                      </a:solidFill>
                      <a:prstDash val="solid"/>
                      <a:round/>
                      <a:headEnd type="none" w="med" len="med"/>
                      <a:tailEnd type="none" w="med" len="med"/>
                    </a:lnR>
                    <a:lnT w="12700" cap="flat" cmpd="sng" algn="ctr">
                      <a:solidFill>
                        <a:srgbClr val="1D3920"/>
                      </a:solidFill>
                      <a:prstDash val="solid"/>
                      <a:round/>
                      <a:headEnd type="none" w="med" len="med"/>
                      <a:tailEnd type="none" w="med" len="med"/>
                    </a:lnT>
                    <a:lnB w="12700" cap="flat" cmpd="sng" algn="ctr">
                      <a:solidFill>
                        <a:srgbClr val="C9C9C6"/>
                      </a:solidFill>
                      <a:prstDash val="solid"/>
                      <a:round/>
                      <a:headEnd type="none" w="med" len="med"/>
                      <a:tailEnd type="none" w="med" len="med"/>
                    </a:lnB>
                    <a:solidFill>
                      <a:srgbClr val="FCFCF8"/>
                    </a:solidFill>
                  </a:tcPr>
                </a:tc>
                <a:tc>
                  <a:txBody>
                    <a:bodyPr/>
                    <a:lstStyle/>
                    <a:p>
                      <a:pPr marL="0" indent="0">
                        <a:lnSpc>
                          <a:spcPts val="1960"/>
                        </a:lnSpc>
                        <a:buNone/>
                      </a:pPr>
                      <a:r>
                        <a:rPr lang="en-US" sz="1400" dirty="0">
                          <a:solidFill>
                            <a:srgbClr val="1B2A1E"/>
                          </a:solidFill>
                          <a:latin typeface="IBM Plex Sans" pitchFamily="34" charset="0"/>
                          <a:ea typeface="IBM Plex Sans" pitchFamily="34" charset="-122"/>
                          <a:cs typeface="IBM Plex Sans" pitchFamily="34" charset="-120"/>
                        </a:rPr>
                        <a:t>посевная площадь, валовой сбор</a:t>
                      </a:r>
                      <a:endParaRPr lang="en-US" sz="1400" dirty="0">
                        <a:latin typeface="IBM Plex Sans" charset="0"/>
                        <a:ea typeface="IBM Plex Sans" charset="0"/>
                        <a:cs typeface="IBM Plex Sans" charset="0"/>
                      </a:endParaRPr>
                    </a:p>
                  </a:txBody>
                  <a:tcPr marL="62230" marR="62230" marT="62230" marB="62230">
                    <a:lnL w="12700" cap="flat" cmpd="sng" algn="ctr">
                      <a:solidFill>
                        <a:srgbClr val="C9C9C6"/>
                      </a:solidFill>
                      <a:prstDash val="solid"/>
                      <a:round/>
                      <a:headEnd type="none" w="med" len="med"/>
                      <a:tailEnd type="none" w="med" len="med"/>
                    </a:lnL>
                    <a:lnR w="12700" cap="flat" cmpd="sng" algn="ctr">
                      <a:solidFill>
                        <a:srgbClr val="C9C9C6"/>
                      </a:solidFill>
                      <a:prstDash val="solid"/>
                      <a:round/>
                      <a:headEnd type="none" w="med" len="med"/>
                      <a:tailEnd type="none" w="med" len="med"/>
                    </a:lnR>
                    <a:lnT w="12700" cap="flat" cmpd="sng" algn="ctr">
                      <a:solidFill>
                        <a:srgbClr val="1D3920"/>
                      </a:solidFill>
                      <a:prstDash val="solid"/>
                      <a:round/>
                      <a:headEnd type="none" w="med" len="med"/>
                      <a:tailEnd type="none" w="med" len="med"/>
                    </a:lnT>
                    <a:lnB w="12700" cap="flat" cmpd="sng" algn="ctr">
                      <a:solidFill>
                        <a:srgbClr val="C9C9C6"/>
                      </a:solidFill>
                      <a:prstDash val="solid"/>
                      <a:round/>
                      <a:headEnd type="none" w="med" len="med"/>
                      <a:tailEnd type="none" w="med" len="med"/>
                    </a:lnB>
                    <a:solidFill>
                      <a:srgbClr val="FCFCF8"/>
                    </a:solidFill>
                  </a:tcPr>
                </a:tc>
                <a:tc>
                  <a:txBody>
                    <a:bodyPr/>
                    <a:lstStyle/>
                    <a:p>
                      <a:pPr marL="0" indent="0">
                        <a:lnSpc>
                          <a:spcPts val="1960"/>
                        </a:lnSpc>
                        <a:buNone/>
                      </a:pPr>
                      <a:r>
                        <a:rPr lang="en-US" sz="1400" dirty="0">
                          <a:solidFill>
                            <a:srgbClr val="1B2A1E"/>
                          </a:solidFill>
                          <a:latin typeface="IBM Plex Sans" pitchFamily="34" charset="0"/>
                          <a:ea typeface="IBM Plex Sans" pitchFamily="34" charset="-122"/>
                          <a:cs typeface="IBM Plex Sans" pitchFamily="34" charset="-120"/>
                        </a:rPr>
                        <a:t>округ, год, 2008-2025</a:t>
                      </a:r>
                      <a:endParaRPr lang="en-US" sz="1400" dirty="0">
                        <a:latin typeface="IBM Plex Sans" charset="0"/>
                        <a:ea typeface="IBM Plex Sans" charset="0"/>
                        <a:cs typeface="IBM Plex Sans" charset="0"/>
                      </a:endParaRPr>
                    </a:p>
                  </a:txBody>
                  <a:tcPr marL="62230" marR="62230" marT="62230" marB="62230">
                    <a:lnL w="12700" cap="flat" cmpd="sng" algn="ctr">
                      <a:solidFill>
                        <a:srgbClr val="C9C9C6"/>
                      </a:solidFill>
                      <a:prstDash val="solid"/>
                      <a:round/>
                      <a:headEnd type="none" w="med" len="med"/>
                      <a:tailEnd type="none" w="med" len="med"/>
                    </a:lnL>
                    <a:lnR w="12700" cap="flat" cmpd="sng" algn="ctr">
                      <a:solidFill>
                        <a:srgbClr val="C9C9C6"/>
                      </a:solidFill>
                      <a:prstDash val="solid"/>
                      <a:round/>
                      <a:headEnd type="none" w="med" len="med"/>
                      <a:tailEnd type="none" w="med" len="med"/>
                    </a:lnR>
                    <a:lnT w="12700" cap="flat" cmpd="sng" algn="ctr">
                      <a:solidFill>
                        <a:srgbClr val="1D3920"/>
                      </a:solidFill>
                      <a:prstDash val="solid"/>
                      <a:round/>
                      <a:headEnd type="none" w="med" len="med"/>
                      <a:tailEnd type="none" w="med" len="med"/>
                    </a:lnT>
                    <a:lnB w="12700" cap="flat" cmpd="sng" algn="ctr">
                      <a:solidFill>
                        <a:srgbClr val="C9C9C6"/>
                      </a:solidFill>
                      <a:prstDash val="solid"/>
                      <a:round/>
                      <a:headEnd type="none" w="med" len="med"/>
                      <a:tailEnd type="none" w="med" len="med"/>
                    </a:lnB>
                    <a:solidFill>
                      <a:srgbClr val="FCFCF8"/>
                    </a:solidFill>
                  </a:tcPr>
                </a:tc>
                <a:tc>
                  <a:txBody>
                    <a:bodyPr/>
                    <a:lstStyle/>
                    <a:p>
                      <a:pPr marL="0" indent="0">
                        <a:lnSpc>
                          <a:spcPts val="1960"/>
                        </a:lnSpc>
                        <a:buNone/>
                      </a:pPr>
                      <a:r>
                        <a:rPr lang="en-US" sz="1400" dirty="0">
                          <a:solidFill>
                            <a:srgbClr val="1B2A1E"/>
                          </a:solidFill>
                          <a:latin typeface="IBM Plex Sans" pitchFamily="34" charset="0"/>
                          <a:ea typeface="IBM Plex Sans" pitchFamily="34" charset="-122"/>
                          <a:cs typeface="IBM Plex Sans" pitchFamily="34" charset="-120"/>
                        </a:rPr>
                        <a:t>раз в год</a:t>
                      </a:r>
                      <a:endParaRPr lang="en-US" sz="1400" dirty="0">
                        <a:latin typeface="IBM Plex Sans" charset="0"/>
                        <a:ea typeface="IBM Plex Sans" charset="0"/>
                        <a:cs typeface="IBM Plex Sans" charset="0"/>
                      </a:endParaRPr>
                    </a:p>
                  </a:txBody>
                  <a:tcPr marL="62230" marR="62230" marT="62230" marB="62230">
                    <a:lnL w="12700" cap="flat" cmpd="sng" algn="ctr">
                      <a:solidFill>
                        <a:srgbClr val="C9C9C6"/>
                      </a:solidFill>
                      <a:prstDash val="solid"/>
                      <a:round/>
                      <a:headEnd type="none" w="med" len="med"/>
                      <a:tailEnd type="none" w="med" len="med"/>
                    </a:lnL>
                    <a:lnR w="12700" cap="flat" cmpd="sng" algn="ctr">
                      <a:solidFill>
                        <a:srgbClr val="C9C9C6"/>
                      </a:solidFill>
                      <a:prstDash val="solid"/>
                      <a:round/>
                      <a:headEnd type="none" w="med" len="med"/>
                      <a:tailEnd type="none" w="med" len="med"/>
                    </a:lnR>
                    <a:lnT w="12700" cap="flat" cmpd="sng" algn="ctr">
                      <a:solidFill>
                        <a:srgbClr val="1D3920"/>
                      </a:solidFill>
                      <a:prstDash val="solid"/>
                      <a:round/>
                      <a:headEnd type="none" w="med" len="med"/>
                      <a:tailEnd type="none" w="med" len="med"/>
                    </a:lnT>
                    <a:lnB w="12700" cap="flat" cmpd="sng" algn="ctr">
                      <a:solidFill>
                        <a:srgbClr val="C9C9C6"/>
                      </a:solidFill>
                      <a:prstDash val="solid"/>
                      <a:round/>
                      <a:headEnd type="none" w="med" len="med"/>
                      <a:tailEnd type="none" w="med" len="med"/>
                    </a:lnB>
                    <a:solidFill>
                      <a:srgbClr val="FCFCF8"/>
                    </a:solidFill>
                  </a:tcPr>
                </a:tc>
                <a:extLst>
                  <a:ext uri="{0D108BD9-81ED-4DB2-BD59-A6C34878D82A}">
                    <a16:rowId xmlns:a16="http://schemas.microsoft.com/office/drawing/2014/main" val="10001"/>
                  </a:ext>
                </a:extLst>
              </a:tr>
              <a:tr h="383540">
                <a:tc>
                  <a:txBody>
                    <a:bodyPr/>
                    <a:lstStyle/>
                    <a:p>
                      <a:pPr marL="0" indent="0">
                        <a:lnSpc>
                          <a:spcPts val="1960"/>
                        </a:lnSpc>
                        <a:buNone/>
                      </a:pPr>
                      <a:r>
                        <a:rPr lang="en-US" sz="1400" dirty="0">
                          <a:solidFill>
                            <a:srgbClr val="1B2A1E"/>
                          </a:solidFill>
                          <a:latin typeface="IBM Plex Sans" pitchFamily="34" charset="0"/>
                          <a:ea typeface="IBM Plex Sans" pitchFamily="34" charset="-122"/>
                          <a:cs typeface="IBM Plex Sans" pitchFamily="34" charset="-120"/>
                        </a:rPr>
                        <a:t>ЕМИСС, 57693</a:t>
                      </a:r>
                      <a:endParaRPr lang="en-US" sz="1400" dirty="0">
                        <a:latin typeface="IBM Plex Sans" charset="0"/>
                        <a:ea typeface="IBM Plex Sans" charset="0"/>
                        <a:cs typeface="IBM Plex Sans" charset="0"/>
                      </a:endParaRPr>
                    </a:p>
                  </a:txBody>
                  <a:tcPr marL="62230" marR="62230" marT="62230" marB="62230">
                    <a:lnL w="12700" cap="flat" cmpd="sng" algn="ctr">
                      <a:solidFill>
                        <a:srgbClr val="C4C4BF"/>
                      </a:solidFill>
                      <a:prstDash val="solid"/>
                      <a:round/>
                      <a:headEnd type="none" w="med" len="med"/>
                      <a:tailEnd type="none" w="med" len="med"/>
                    </a:lnL>
                    <a:lnR w="12700" cap="flat" cmpd="sng" algn="ctr">
                      <a:solidFill>
                        <a:srgbClr val="BCBFB5"/>
                      </a:solidFill>
                      <a:prstDash val="solid"/>
                      <a:round/>
                      <a:headEnd type="none" w="med" len="med"/>
                      <a:tailEnd type="none" w="med" len="med"/>
                    </a:lnR>
                    <a:lnT w="12700" cap="flat" cmpd="sng" algn="ctr">
                      <a:solidFill>
                        <a:srgbClr val="C9C9C6"/>
                      </a:solidFill>
                      <a:prstDash val="solid"/>
                      <a:round/>
                      <a:headEnd type="none" w="med" len="med"/>
                      <a:tailEnd type="none" w="med" len="med"/>
                    </a:lnT>
                    <a:lnB w="12700" cap="flat" cmpd="sng" algn="ctr">
                      <a:solidFill>
                        <a:srgbClr val="BCBFB5"/>
                      </a:solidFill>
                      <a:prstDash val="solid"/>
                      <a:round/>
                      <a:headEnd type="none" w="med" len="med"/>
                      <a:tailEnd type="none" w="med" len="med"/>
                    </a:lnB>
                    <a:solidFill>
                      <a:srgbClr val="ECEFE3"/>
                    </a:solidFill>
                  </a:tcPr>
                </a:tc>
                <a:tc>
                  <a:txBody>
                    <a:bodyPr/>
                    <a:lstStyle/>
                    <a:p>
                      <a:pPr marL="0" indent="0">
                        <a:lnSpc>
                          <a:spcPts val="1960"/>
                        </a:lnSpc>
                        <a:buNone/>
                      </a:pPr>
                      <a:r>
                        <a:rPr lang="en-US" sz="1400" dirty="0">
                          <a:solidFill>
                            <a:srgbClr val="1B2A1E"/>
                          </a:solidFill>
                          <a:latin typeface="IBM Plex Sans" pitchFamily="34" charset="0"/>
                          <a:ea typeface="IBM Plex Sans" pitchFamily="34" charset="-122"/>
                          <a:cs typeface="IBM Plex Sans" pitchFamily="34" charset="-120"/>
                        </a:rPr>
                        <a:t>цены производителей на пшеницу</a:t>
                      </a:r>
                      <a:endParaRPr lang="en-US" sz="1400" dirty="0">
                        <a:latin typeface="IBM Plex Sans" charset="0"/>
                        <a:ea typeface="IBM Plex Sans" charset="0"/>
                        <a:cs typeface="IBM Plex Sans" charset="0"/>
                      </a:endParaRPr>
                    </a:p>
                  </a:txBody>
                  <a:tcPr marL="62230" marR="62230" marT="62230" marB="62230">
                    <a:lnL w="12700" cap="flat" cmpd="sng" algn="ctr">
                      <a:solidFill>
                        <a:srgbClr val="BCBFB5"/>
                      </a:solidFill>
                      <a:prstDash val="solid"/>
                      <a:round/>
                      <a:headEnd type="none" w="med" len="med"/>
                      <a:tailEnd type="none" w="med" len="med"/>
                    </a:lnL>
                    <a:lnR w="12700" cap="flat" cmpd="sng" algn="ctr">
                      <a:solidFill>
                        <a:srgbClr val="BCBFB5"/>
                      </a:solidFill>
                      <a:prstDash val="solid"/>
                      <a:round/>
                      <a:headEnd type="none" w="med" len="med"/>
                      <a:tailEnd type="none" w="med" len="med"/>
                    </a:lnR>
                    <a:lnT w="12700" cap="flat" cmpd="sng" algn="ctr">
                      <a:solidFill>
                        <a:srgbClr val="C9C9C6"/>
                      </a:solidFill>
                      <a:prstDash val="solid"/>
                      <a:round/>
                      <a:headEnd type="none" w="med" len="med"/>
                      <a:tailEnd type="none" w="med" len="med"/>
                    </a:lnT>
                    <a:lnB w="12700" cap="flat" cmpd="sng" algn="ctr">
                      <a:solidFill>
                        <a:srgbClr val="BCBFB5"/>
                      </a:solidFill>
                      <a:prstDash val="solid"/>
                      <a:round/>
                      <a:headEnd type="none" w="med" len="med"/>
                      <a:tailEnd type="none" w="med" len="med"/>
                    </a:lnB>
                    <a:solidFill>
                      <a:srgbClr val="ECEFE3"/>
                    </a:solidFill>
                  </a:tcPr>
                </a:tc>
                <a:tc>
                  <a:txBody>
                    <a:bodyPr/>
                    <a:lstStyle/>
                    <a:p>
                      <a:pPr marL="0" indent="0">
                        <a:lnSpc>
                          <a:spcPts val="1960"/>
                        </a:lnSpc>
                        <a:buNone/>
                      </a:pPr>
                      <a:r>
                        <a:rPr lang="en-US" sz="1400" dirty="0">
                          <a:solidFill>
                            <a:srgbClr val="1B2A1E"/>
                          </a:solidFill>
                          <a:latin typeface="IBM Plex Sans" pitchFamily="34" charset="0"/>
                          <a:ea typeface="IBM Plex Sans" pitchFamily="34" charset="-122"/>
                          <a:cs typeface="IBM Plex Sans" pitchFamily="34" charset="-120"/>
                        </a:rPr>
                        <a:t>край, месяц</a:t>
                      </a:r>
                      <a:endParaRPr lang="en-US" sz="1400" dirty="0">
                        <a:latin typeface="IBM Plex Sans" charset="0"/>
                        <a:ea typeface="IBM Plex Sans" charset="0"/>
                        <a:cs typeface="IBM Plex Sans" charset="0"/>
                      </a:endParaRPr>
                    </a:p>
                  </a:txBody>
                  <a:tcPr marL="62230" marR="62230" marT="62230" marB="62230">
                    <a:lnL w="12700" cap="flat" cmpd="sng" algn="ctr">
                      <a:solidFill>
                        <a:srgbClr val="BCBFB5"/>
                      </a:solidFill>
                      <a:prstDash val="solid"/>
                      <a:round/>
                      <a:headEnd type="none" w="med" len="med"/>
                      <a:tailEnd type="none" w="med" len="med"/>
                    </a:lnL>
                    <a:lnR w="12700" cap="flat" cmpd="sng" algn="ctr">
                      <a:solidFill>
                        <a:srgbClr val="BCBFB5"/>
                      </a:solidFill>
                      <a:prstDash val="solid"/>
                      <a:round/>
                      <a:headEnd type="none" w="med" len="med"/>
                      <a:tailEnd type="none" w="med" len="med"/>
                    </a:lnR>
                    <a:lnT w="12700" cap="flat" cmpd="sng" algn="ctr">
                      <a:solidFill>
                        <a:srgbClr val="C9C9C6"/>
                      </a:solidFill>
                      <a:prstDash val="solid"/>
                      <a:round/>
                      <a:headEnd type="none" w="med" len="med"/>
                      <a:tailEnd type="none" w="med" len="med"/>
                    </a:lnT>
                    <a:lnB w="12700" cap="flat" cmpd="sng" algn="ctr">
                      <a:solidFill>
                        <a:srgbClr val="BCBFB5"/>
                      </a:solidFill>
                      <a:prstDash val="solid"/>
                      <a:round/>
                      <a:headEnd type="none" w="med" len="med"/>
                      <a:tailEnd type="none" w="med" len="med"/>
                    </a:lnB>
                    <a:solidFill>
                      <a:srgbClr val="ECEFE3"/>
                    </a:solidFill>
                  </a:tcPr>
                </a:tc>
                <a:tc>
                  <a:txBody>
                    <a:bodyPr/>
                    <a:lstStyle/>
                    <a:p>
                      <a:pPr marL="0" indent="0">
                        <a:lnSpc>
                          <a:spcPts val="1960"/>
                        </a:lnSpc>
                        <a:buNone/>
                      </a:pPr>
                      <a:r>
                        <a:rPr lang="en-US" sz="1400" dirty="0">
                          <a:solidFill>
                            <a:srgbClr val="1B2A1E"/>
                          </a:solidFill>
                          <a:latin typeface="IBM Plex Sans" pitchFamily="34" charset="0"/>
                          <a:ea typeface="IBM Plex Sans" pitchFamily="34" charset="-122"/>
                          <a:cs typeface="IBM Plex Sans" pitchFamily="34" charset="-120"/>
                        </a:rPr>
                        <a:t>ежемесячно</a:t>
                      </a:r>
                      <a:endParaRPr lang="en-US" sz="1400" dirty="0">
                        <a:latin typeface="IBM Plex Sans" charset="0"/>
                        <a:ea typeface="IBM Plex Sans" charset="0"/>
                        <a:cs typeface="IBM Plex Sans" charset="0"/>
                      </a:endParaRPr>
                    </a:p>
                  </a:txBody>
                  <a:tcPr marL="62230" marR="62230" marT="62230" marB="62230">
                    <a:lnL w="12700" cap="flat" cmpd="sng" algn="ctr">
                      <a:solidFill>
                        <a:srgbClr val="BCBFB5"/>
                      </a:solidFill>
                      <a:prstDash val="solid"/>
                      <a:round/>
                      <a:headEnd type="none" w="med" len="med"/>
                      <a:tailEnd type="none" w="med" len="med"/>
                    </a:lnL>
                    <a:lnR w="12700" cap="flat" cmpd="sng" algn="ctr">
                      <a:solidFill>
                        <a:srgbClr val="BCBFB5"/>
                      </a:solidFill>
                      <a:prstDash val="solid"/>
                      <a:round/>
                      <a:headEnd type="none" w="med" len="med"/>
                      <a:tailEnd type="none" w="med" len="med"/>
                    </a:lnR>
                    <a:lnT w="12700" cap="flat" cmpd="sng" algn="ctr">
                      <a:solidFill>
                        <a:srgbClr val="C9C9C6"/>
                      </a:solidFill>
                      <a:prstDash val="solid"/>
                      <a:round/>
                      <a:headEnd type="none" w="med" len="med"/>
                      <a:tailEnd type="none" w="med" len="med"/>
                    </a:lnT>
                    <a:lnB w="12700" cap="flat" cmpd="sng" algn="ctr">
                      <a:solidFill>
                        <a:srgbClr val="BCBFB5"/>
                      </a:solidFill>
                      <a:prstDash val="solid"/>
                      <a:round/>
                      <a:headEnd type="none" w="med" len="med"/>
                      <a:tailEnd type="none" w="med" len="med"/>
                    </a:lnB>
                    <a:solidFill>
                      <a:srgbClr val="ECEFE3"/>
                    </a:solidFill>
                  </a:tcPr>
                </a:tc>
                <a:extLst>
                  <a:ext uri="{0D108BD9-81ED-4DB2-BD59-A6C34878D82A}">
                    <a16:rowId xmlns:a16="http://schemas.microsoft.com/office/drawing/2014/main" val="10002"/>
                  </a:ext>
                </a:extLst>
              </a:tr>
              <a:tr h="383540">
                <a:tc>
                  <a:txBody>
                    <a:bodyPr/>
                    <a:lstStyle/>
                    <a:p>
                      <a:pPr marL="0" indent="0">
                        <a:lnSpc>
                          <a:spcPts val="1960"/>
                        </a:lnSpc>
                        <a:buNone/>
                      </a:pPr>
                      <a:r>
                        <a:rPr lang="en-US" sz="1400" dirty="0">
                          <a:solidFill>
                            <a:srgbClr val="1B2A1E"/>
                          </a:solidFill>
                          <a:latin typeface="IBM Plex Sans" pitchFamily="34" charset="0"/>
                          <a:ea typeface="IBM Plex Sans" pitchFamily="34" charset="-122"/>
                          <a:cs typeface="IBM Plex Sans" pitchFamily="34" charset="-120"/>
                        </a:rPr>
                        <a:t>ЕМИСС, 31448</a:t>
                      </a:r>
                      <a:endParaRPr lang="en-US" sz="1400" dirty="0">
                        <a:latin typeface="IBM Plex Sans" charset="0"/>
                        <a:ea typeface="IBM Plex Sans" charset="0"/>
                        <a:cs typeface="IBM Plex Sans" charset="0"/>
                      </a:endParaRPr>
                    </a:p>
                  </a:txBody>
                  <a:tcPr marL="62230" marR="62230" marT="62230" marB="62230">
                    <a:lnL w="12700" cap="flat" cmpd="sng" algn="ctr">
                      <a:solidFill>
                        <a:srgbClr val="C4C4BF"/>
                      </a:solidFill>
                      <a:prstDash val="solid"/>
                      <a:round/>
                      <a:headEnd type="none" w="med" len="med"/>
                      <a:tailEnd type="none" w="med" len="med"/>
                    </a:lnL>
                    <a:lnR w="12700" cap="flat" cmpd="sng" algn="ctr">
                      <a:solidFill>
                        <a:srgbClr val="C9C9C6"/>
                      </a:solidFill>
                      <a:prstDash val="solid"/>
                      <a:round/>
                      <a:headEnd type="none" w="med" len="med"/>
                      <a:tailEnd type="none" w="med" len="med"/>
                    </a:lnR>
                    <a:lnT w="12700" cap="flat" cmpd="sng" algn="ctr">
                      <a:solidFill>
                        <a:srgbClr val="BCBFB5"/>
                      </a:solidFill>
                      <a:prstDash val="solid"/>
                      <a:round/>
                      <a:headEnd type="none" w="med" len="med"/>
                      <a:tailEnd type="none" w="med" len="med"/>
                    </a:lnT>
                    <a:lnB w="12700" cap="flat" cmpd="sng" algn="ctr">
                      <a:solidFill>
                        <a:srgbClr val="C9C9C6"/>
                      </a:solidFill>
                      <a:prstDash val="solid"/>
                      <a:round/>
                      <a:headEnd type="none" w="med" len="med"/>
                      <a:tailEnd type="none" w="med" len="med"/>
                    </a:lnB>
                    <a:solidFill>
                      <a:srgbClr val="FCFCF8"/>
                    </a:solidFill>
                  </a:tcPr>
                </a:tc>
                <a:tc>
                  <a:txBody>
                    <a:bodyPr/>
                    <a:lstStyle/>
                    <a:p>
                      <a:pPr marL="0" indent="0">
                        <a:lnSpc>
                          <a:spcPts val="1960"/>
                        </a:lnSpc>
                        <a:buNone/>
                      </a:pPr>
                      <a:r>
                        <a:rPr lang="en-US" sz="1400" dirty="0">
                          <a:solidFill>
                            <a:srgbClr val="1B2A1E"/>
                          </a:solidFill>
                          <a:latin typeface="IBM Plex Sans" pitchFamily="34" charset="0"/>
                          <a:ea typeface="IBM Plex Sans" pitchFamily="34" charset="-122"/>
                          <a:cs typeface="IBM Plex Sans" pitchFamily="34" charset="-120"/>
                        </a:rPr>
                        <a:t>цены на дизельное топливо</a:t>
                      </a:r>
                      <a:endParaRPr lang="en-US" sz="1400" dirty="0">
                        <a:latin typeface="IBM Plex Sans" charset="0"/>
                        <a:ea typeface="IBM Plex Sans" charset="0"/>
                        <a:cs typeface="IBM Plex Sans" charset="0"/>
                      </a:endParaRPr>
                    </a:p>
                  </a:txBody>
                  <a:tcPr marL="62230" marR="62230" marT="62230" marB="62230">
                    <a:lnL w="12700" cap="flat" cmpd="sng" algn="ctr">
                      <a:solidFill>
                        <a:srgbClr val="C9C9C6"/>
                      </a:solidFill>
                      <a:prstDash val="solid"/>
                      <a:round/>
                      <a:headEnd type="none" w="med" len="med"/>
                      <a:tailEnd type="none" w="med" len="med"/>
                    </a:lnL>
                    <a:lnR w="12700" cap="flat" cmpd="sng" algn="ctr">
                      <a:solidFill>
                        <a:srgbClr val="C9C9C6"/>
                      </a:solidFill>
                      <a:prstDash val="solid"/>
                      <a:round/>
                      <a:headEnd type="none" w="med" len="med"/>
                      <a:tailEnd type="none" w="med" len="med"/>
                    </a:lnR>
                    <a:lnT w="12700" cap="flat" cmpd="sng" algn="ctr">
                      <a:solidFill>
                        <a:srgbClr val="BCBFB5"/>
                      </a:solidFill>
                      <a:prstDash val="solid"/>
                      <a:round/>
                      <a:headEnd type="none" w="med" len="med"/>
                      <a:tailEnd type="none" w="med" len="med"/>
                    </a:lnT>
                    <a:lnB w="12700" cap="flat" cmpd="sng" algn="ctr">
                      <a:solidFill>
                        <a:srgbClr val="C9C9C6"/>
                      </a:solidFill>
                      <a:prstDash val="solid"/>
                      <a:round/>
                      <a:headEnd type="none" w="med" len="med"/>
                      <a:tailEnd type="none" w="med" len="med"/>
                    </a:lnB>
                    <a:solidFill>
                      <a:srgbClr val="FCFCF8"/>
                    </a:solidFill>
                  </a:tcPr>
                </a:tc>
                <a:tc>
                  <a:txBody>
                    <a:bodyPr/>
                    <a:lstStyle/>
                    <a:p>
                      <a:pPr marL="0" indent="0">
                        <a:lnSpc>
                          <a:spcPts val="1960"/>
                        </a:lnSpc>
                        <a:buNone/>
                      </a:pPr>
                      <a:r>
                        <a:rPr lang="en-US" sz="1400" dirty="0">
                          <a:solidFill>
                            <a:srgbClr val="1B2A1E"/>
                          </a:solidFill>
                          <a:latin typeface="IBM Plex Sans" pitchFamily="34" charset="0"/>
                          <a:ea typeface="IBM Plex Sans" pitchFamily="34" charset="-122"/>
                          <a:cs typeface="IBM Plex Sans" pitchFamily="34" charset="-120"/>
                        </a:rPr>
                        <a:t>край, месяц</a:t>
                      </a:r>
                      <a:endParaRPr lang="en-US" sz="1400" dirty="0">
                        <a:latin typeface="IBM Plex Sans" charset="0"/>
                        <a:ea typeface="IBM Plex Sans" charset="0"/>
                        <a:cs typeface="IBM Plex Sans" charset="0"/>
                      </a:endParaRPr>
                    </a:p>
                  </a:txBody>
                  <a:tcPr marL="62230" marR="62230" marT="62230" marB="62230">
                    <a:lnL w="12700" cap="flat" cmpd="sng" algn="ctr">
                      <a:solidFill>
                        <a:srgbClr val="C9C9C6"/>
                      </a:solidFill>
                      <a:prstDash val="solid"/>
                      <a:round/>
                      <a:headEnd type="none" w="med" len="med"/>
                      <a:tailEnd type="none" w="med" len="med"/>
                    </a:lnL>
                    <a:lnR w="12700" cap="flat" cmpd="sng" algn="ctr">
                      <a:solidFill>
                        <a:srgbClr val="C9C9C6"/>
                      </a:solidFill>
                      <a:prstDash val="solid"/>
                      <a:round/>
                      <a:headEnd type="none" w="med" len="med"/>
                      <a:tailEnd type="none" w="med" len="med"/>
                    </a:lnR>
                    <a:lnT w="12700" cap="flat" cmpd="sng" algn="ctr">
                      <a:solidFill>
                        <a:srgbClr val="BCBFB5"/>
                      </a:solidFill>
                      <a:prstDash val="solid"/>
                      <a:round/>
                      <a:headEnd type="none" w="med" len="med"/>
                      <a:tailEnd type="none" w="med" len="med"/>
                    </a:lnT>
                    <a:lnB w="12700" cap="flat" cmpd="sng" algn="ctr">
                      <a:solidFill>
                        <a:srgbClr val="C9C9C6"/>
                      </a:solidFill>
                      <a:prstDash val="solid"/>
                      <a:round/>
                      <a:headEnd type="none" w="med" len="med"/>
                      <a:tailEnd type="none" w="med" len="med"/>
                    </a:lnB>
                    <a:solidFill>
                      <a:srgbClr val="FCFCF8"/>
                    </a:solidFill>
                  </a:tcPr>
                </a:tc>
                <a:tc>
                  <a:txBody>
                    <a:bodyPr/>
                    <a:lstStyle/>
                    <a:p>
                      <a:pPr marL="0" indent="0">
                        <a:lnSpc>
                          <a:spcPts val="1960"/>
                        </a:lnSpc>
                        <a:buNone/>
                      </a:pPr>
                      <a:r>
                        <a:rPr lang="en-US" sz="1400" dirty="0">
                          <a:solidFill>
                            <a:srgbClr val="1B2A1E"/>
                          </a:solidFill>
                          <a:latin typeface="IBM Plex Sans" pitchFamily="34" charset="0"/>
                          <a:ea typeface="IBM Plex Sans" pitchFamily="34" charset="-122"/>
                          <a:cs typeface="IBM Plex Sans" pitchFamily="34" charset="-120"/>
                        </a:rPr>
                        <a:t>ежемесячно</a:t>
                      </a:r>
                      <a:endParaRPr lang="en-US" sz="1400" dirty="0">
                        <a:latin typeface="IBM Plex Sans" charset="0"/>
                        <a:ea typeface="IBM Plex Sans" charset="0"/>
                        <a:cs typeface="IBM Plex Sans" charset="0"/>
                      </a:endParaRPr>
                    </a:p>
                  </a:txBody>
                  <a:tcPr marL="62230" marR="62230" marT="62230" marB="62230">
                    <a:lnL w="12700" cap="flat" cmpd="sng" algn="ctr">
                      <a:solidFill>
                        <a:srgbClr val="C9C9C6"/>
                      </a:solidFill>
                      <a:prstDash val="solid"/>
                      <a:round/>
                      <a:headEnd type="none" w="med" len="med"/>
                      <a:tailEnd type="none" w="med" len="med"/>
                    </a:lnL>
                    <a:lnR w="12700" cap="flat" cmpd="sng" algn="ctr">
                      <a:solidFill>
                        <a:srgbClr val="C9C9C6"/>
                      </a:solidFill>
                      <a:prstDash val="solid"/>
                      <a:round/>
                      <a:headEnd type="none" w="med" len="med"/>
                      <a:tailEnd type="none" w="med" len="med"/>
                    </a:lnR>
                    <a:lnT w="12700" cap="flat" cmpd="sng" algn="ctr">
                      <a:solidFill>
                        <a:srgbClr val="BCBFB5"/>
                      </a:solidFill>
                      <a:prstDash val="solid"/>
                      <a:round/>
                      <a:headEnd type="none" w="med" len="med"/>
                      <a:tailEnd type="none" w="med" len="med"/>
                    </a:lnT>
                    <a:lnB w="12700" cap="flat" cmpd="sng" algn="ctr">
                      <a:solidFill>
                        <a:srgbClr val="C9C9C6"/>
                      </a:solidFill>
                      <a:prstDash val="solid"/>
                      <a:round/>
                      <a:headEnd type="none" w="med" len="med"/>
                      <a:tailEnd type="none" w="med" len="med"/>
                    </a:lnB>
                    <a:solidFill>
                      <a:srgbClr val="FCFCF8"/>
                    </a:solidFill>
                  </a:tcPr>
                </a:tc>
                <a:extLst>
                  <a:ext uri="{0D108BD9-81ED-4DB2-BD59-A6C34878D82A}">
                    <a16:rowId xmlns:a16="http://schemas.microsoft.com/office/drawing/2014/main" val="10003"/>
                  </a:ext>
                </a:extLst>
              </a:tr>
              <a:tr h="383540">
                <a:tc>
                  <a:txBody>
                    <a:bodyPr/>
                    <a:lstStyle/>
                    <a:p>
                      <a:pPr marL="0" indent="0">
                        <a:lnSpc>
                          <a:spcPts val="1960"/>
                        </a:lnSpc>
                        <a:buNone/>
                      </a:pPr>
                      <a:r>
                        <a:rPr lang="en-US" sz="1400" dirty="0">
                          <a:solidFill>
                            <a:srgbClr val="1B2A1E"/>
                          </a:solidFill>
                          <a:latin typeface="IBM Plex Sans" pitchFamily="34" charset="0"/>
                          <a:ea typeface="IBM Plex Sans" pitchFamily="34" charset="-122"/>
                          <a:cs typeface="IBM Plex Sans" pitchFamily="34" charset="-120"/>
                        </a:rPr>
                        <a:t>Open-Meteo, ERA5</a:t>
                      </a:r>
                      <a:endParaRPr lang="en-US" sz="1400" dirty="0">
                        <a:latin typeface="IBM Plex Sans" charset="0"/>
                        <a:ea typeface="IBM Plex Sans" charset="0"/>
                        <a:cs typeface="IBM Plex Sans" charset="0"/>
                      </a:endParaRPr>
                    </a:p>
                  </a:txBody>
                  <a:tcPr marL="62230" marR="62230" marT="62230" marB="62230">
                    <a:lnL w="12700" cap="flat" cmpd="sng" algn="ctr">
                      <a:solidFill>
                        <a:srgbClr val="C4C4BF"/>
                      </a:solidFill>
                      <a:prstDash val="solid"/>
                      <a:round/>
                      <a:headEnd type="none" w="med" len="med"/>
                      <a:tailEnd type="none" w="med" len="med"/>
                    </a:lnL>
                    <a:lnR w="12700" cap="flat" cmpd="sng" algn="ctr">
                      <a:solidFill>
                        <a:srgbClr val="BCBFB5"/>
                      </a:solidFill>
                      <a:prstDash val="solid"/>
                      <a:round/>
                      <a:headEnd type="none" w="med" len="med"/>
                      <a:tailEnd type="none" w="med" len="med"/>
                    </a:lnR>
                    <a:lnT w="12700" cap="flat" cmpd="sng" algn="ctr">
                      <a:solidFill>
                        <a:srgbClr val="C9C9C6"/>
                      </a:solidFill>
                      <a:prstDash val="solid"/>
                      <a:round/>
                      <a:headEnd type="none" w="med" len="med"/>
                      <a:tailEnd type="none" w="med" len="med"/>
                    </a:lnT>
                    <a:lnB w="12700" cap="flat" cmpd="sng" algn="ctr">
                      <a:solidFill>
                        <a:srgbClr val="BCBFB5"/>
                      </a:solidFill>
                      <a:prstDash val="solid"/>
                      <a:round/>
                      <a:headEnd type="none" w="med" len="med"/>
                      <a:tailEnd type="none" w="med" len="med"/>
                    </a:lnB>
                    <a:solidFill>
                      <a:srgbClr val="ECEFE3"/>
                    </a:solidFill>
                  </a:tcPr>
                </a:tc>
                <a:tc>
                  <a:txBody>
                    <a:bodyPr/>
                    <a:lstStyle/>
                    <a:p>
                      <a:pPr marL="0" indent="0">
                        <a:lnSpc>
                          <a:spcPts val="1960"/>
                        </a:lnSpc>
                        <a:buNone/>
                      </a:pPr>
                      <a:r>
                        <a:rPr lang="en-US" sz="1400" dirty="0">
                          <a:solidFill>
                            <a:srgbClr val="1B2A1E"/>
                          </a:solidFill>
                          <a:latin typeface="IBM Plex Sans" pitchFamily="34" charset="0"/>
                          <a:ea typeface="IBM Plex Sans" pitchFamily="34" charset="-122"/>
                          <a:cs typeface="IBM Plex Sans" pitchFamily="34" charset="-120"/>
                        </a:rPr>
                        <a:t>осадки, температура, ГТК, заморозки</a:t>
                      </a:r>
                      <a:endParaRPr lang="en-US" sz="1400" dirty="0">
                        <a:latin typeface="IBM Plex Sans" charset="0"/>
                        <a:ea typeface="IBM Plex Sans" charset="0"/>
                        <a:cs typeface="IBM Plex Sans" charset="0"/>
                      </a:endParaRPr>
                    </a:p>
                  </a:txBody>
                  <a:tcPr marL="62230" marR="62230" marT="62230" marB="62230">
                    <a:lnL w="12700" cap="flat" cmpd="sng" algn="ctr">
                      <a:solidFill>
                        <a:srgbClr val="BCBFB5"/>
                      </a:solidFill>
                      <a:prstDash val="solid"/>
                      <a:round/>
                      <a:headEnd type="none" w="med" len="med"/>
                      <a:tailEnd type="none" w="med" len="med"/>
                    </a:lnL>
                    <a:lnR w="12700" cap="flat" cmpd="sng" algn="ctr">
                      <a:solidFill>
                        <a:srgbClr val="BCBFB5"/>
                      </a:solidFill>
                      <a:prstDash val="solid"/>
                      <a:round/>
                      <a:headEnd type="none" w="med" len="med"/>
                      <a:tailEnd type="none" w="med" len="med"/>
                    </a:lnR>
                    <a:lnT w="12700" cap="flat" cmpd="sng" algn="ctr">
                      <a:solidFill>
                        <a:srgbClr val="C9C9C6"/>
                      </a:solidFill>
                      <a:prstDash val="solid"/>
                      <a:round/>
                      <a:headEnd type="none" w="med" len="med"/>
                      <a:tailEnd type="none" w="med" len="med"/>
                    </a:lnT>
                    <a:lnB w="12700" cap="flat" cmpd="sng" algn="ctr">
                      <a:solidFill>
                        <a:srgbClr val="BCBFB5"/>
                      </a:solidFill>
                      <a:prstDash val="solid"/>
                      <a:round/>
                      <a:headEnd type="none" w="med" len="med"/>
                      <a:tailEnd type="none" w="med" len="med"/>
                    </a:lnB>
                    <a:solidFill>
                      <a:srgbClr val="ECEFE3"/>
                    </a:solidFill>
                  </a:tcPr>
                </a:tc>
                <a:tc>
                  <a:txBody>
                    <a:bodyPr/>
                    <a:lstStyle/>
                    <a:p>
                      <a:pPr marL="0" indent="0">
                        <a:lnSpc>
                          <a:spcPts val="1960"/>
                        </a:lnSpc>
                        <a:buNone/>
                      </a:pPr>
                      <a:r>
                        <a:rPr lang="en-US" sz="1400" dirty="0">
                          <a:solidFill>
                            <a:srgbClr val="1B2A1E"/>
                          </a:solidFill>
                          <a:latin typeface="IBM Plex Sans" pitchFamily="34" charset="0"/>
                          <a:ea typeface="IBM Plex Sans" pitchFamily="34" charset="-122"/>
                          <a:cs typeface="IBM Plex Sans" pitchFamily="34" charset="-120"/>
                        </a:rPr>
                        <a:t>центр округа, день</a:t>
                      </a:r>
                      <a:endParaRPr lang="en-US" sz="1400" dirty="0">
                        <a:latin typeface="IBM Plex Sans" charset="0"/>
                        <a:ea typeface="IBM Plex Sans" charset="0"/>
                        <a:cs typeface="IBM Plex Sans" charset="0"/>
                      </a:endParaRPr>
                    </a:p>
                  </a:txBody>
                  <a:tcPr marL="62230" marR="62230" marT="62230" marB="62230">
                    <a:lnL w="12700" cap="flat" cmpd="sng" algn="ctr">
                      <a:solidFill>
                        <a:srgbClr val="BCBFB5"/>
                      </a:solidFill>
                      <a:prstDash val="solid"/>
                      <a:round/>
                      <a:headEnd type="none" w="med" len="med"/>
                      <a:tailEnd type="none" w="med" len="med"/>
                    </a:lnL>
                    <a:lnR w="12700" cap="flat" cmpd="sng" algn="ctr">
                      <a:solidFill>
                        <a:srgbClr val="BCBFB5"/>
                      </a:solidFill>
                      <a:prstDash val="solid"/>
                      <a:round/>
                      <a:headEnd type="none" w="med" len="med"/>
                      <a:tailEnd type="none" w="med" len="med"/>
                    </a:lnR>
                    <a:lnT w="12700" cap="flat" cmpd="sng" algn="ctr">
                      <a:solidFill>
                        <a:srgbClr val="C9C9C6"/>
                      </a:solidFill>
                      <a:prstDash val="solid"/>
                      <a:round/>
                      <a:headEnd type="none" w="med" len="med"/>
                      <a:tailEnd type="none" w="med" len="med"/>
                    </a:lnT>
                    <a:lnB w="12700" cap="flat" cmpd="sng" algn="ctr">
                      <a:solidFill>
                        <a:srgbClr val="BCBFB5"/>
                      </a:solidFill>
                      <a:prstDash val="solid"/>
                      <a:round/>
                      <a:headEnd type="none" w="med" len="med"/>
                      <a:tailEnd type="none" w="med" len="med"/>
                    </a:lnB>
                    <a:solidFill>
                      <a:srgbClr val="ECEFE3"/>
                    </a:solidFill>
                  </a:tcPr>
                </a:tc>
                <a:tc>
                  <a:txBody>
                    <a:bodyPr/>
                    <a:lstStyle/>
                    <a:p>
                      <a:pPr marL="0" indent="0">
                        <a:lnSpc>
                          <a:spcPts val="1960"/>
                        </a:lnSpc>
                        <a:buNone/>
                      </a:pPr>
                      <a:r>
                        <a:rPr lang="en-US" sz="1400" dirty="0">
                          <a:solidFill>
                            <a:srgbClr val="1B2A1E"/>
                          </a:solidFill>
                          <a:latin typeface="IBM Plex Sans" pitchFamily="34" charset="0"/>
                          <a:ea typeface="IBM Plex Sans" pitchFamily="34" charset="-122"/>
                          <a:cs typeface="IBM Plex Sans" pitchFamily="34" charset="-120"/>
                        </a:rPr>
                        <a:t>ежедневно</a:t>
                      </a:r>
                      <a:endParaRPr lang="en-US" sz="1400" dirty="0">
                        <a:latin typeface="IBM Plex Sans" charset="0"/>
                        <a:ea typeface="IBM Plex Sans" charset="0"/>
                        <a:cs typeface="IBM Plex Sans" charset="0"/>
                      </a:endParaRPr>
                    </a:p>
                  </a:txBody>
                  <a:tcPr marL="62230" marR="62230" marT="62230" marB="62230">
                    <a:lnL w="12700" cap="flat" cmpd="sng" algn="ctr">
                      <a:solidFill>
                        <a:srgbClr val="BCBFB5"/>
                      </a:solidFill>
                      <a:prstDash val="solid"/>
                      <a:round/>
                      <a:headEnd type="none" w="med" len="med"/>
                      <a:tailEnd type="none" w="med" len="med"/>
                    </a:lnL>
                    <a:lnR w="12700" cap="flat" cmpd="sng" algn="ctr">
                      <a:solidFill>
                        <a:srgbClr val="BCBFB5"/>
                      </a:solidFill>
                      <a:prstDash val="solid"/>
                      <a:round/>
                      <a:headEnd type="none" w="med" len="med"/>
                      <a:tailEnd type="none" w="med" len="med"/>
                    </a:lnR>
                    <a:lnT w="12700" cap="flat" cmpd="sng" algn="ctr">
                      <a:solidFill>
                        <a:srgbClr val="C9C9C6"/>
                      </a:solidFill>
                      <a:prstDash val="solid"/>
                      <a:round/>
                      <a:headEnd type="none" w="med" len="med"/>
                      <a:tailEnd type="none" w="med" len="med"/>
                    </a:lnT>
                    <a:lnB w="12700" cap="flat" cmpd="sng" algn="ctr">
                      <a:solidFill>
                        <a:srgbClr val="BCBFB5"/>
                      </a:solidFill>
                      <a:prstDash val="solid"/>
                      <a:round/>
                      <a:headEnd type="none" w="med" len="med"/>
                      <a:tailEnd type="none" w="med" len="med"/>
                    </a:lnB>
                    <a:solidFill>
                      <a:srgbClr val="ECEFE3"/>
                    </a:solidFill>
                  </a:tcPr>
                </a:tc>
                <a:extLst>
                  <a:ext uri="{0D108BD9-81ED-4DB2-BD59-A6C34878D82A}">
                    <a16:rowId xmlns:a16="http://schemas.microsoft.com/office/drawing/2014/main" val="10004"/>
                  </a:ext>
                </a:extLst>
              </a:tr>
              <a:tr h="383540">
                <a:tc>
                  <a:txBody>
                    <a:bodyPr/>
                    <a:lstStyle/>
                    <a:p>
                      <a:pPr marL="0" indent="0">
                        <a:lnSpc>
                          <a:spcPts val="1960"/>
                        </a:lnSpc>
                        <a:buNone/>
                      </a:pPr>
                      <a:r>
                        <a:rPr lang="en-US" sz="1400" dirty="0">
                          <a:solidFill>
                            <a:srgbClr val="1B2A1E"/>
                          </a:solidFill>
                          <a:latin typeface="IBM Plex Sans" pitchFamily="34" charset="0"/>
                          <a:ea typeface="IBM Plex Sans" pitchFamily="34" charset="-122"/>
                          <a:cs typeface="IBM Plex Sans" pitchFamily="34" charset="-120"/>
                        </a:rPr>
                        <a:t>Северо-Кавказстат</a:t>
                      </a:r>
                      <a:endParaRPr lang="en-US" sz="1400" dirty="0">
                        <a:latin typeface="IBM Plex Sans" charset="0"/>
                        <a:ea typeface="IBM Plex Sans" charset="0"/>
                        <a:cs typeface="IBM Plex Sans" charset="0"/>
                      </a:endParaRPr>
                    </a:p>
                  </a:txBody>
                  <a:tcPr marL="62230" marR="62230" marT="62230" marB="62230">
                    <a:lnL w="12700" cap="flat" cmpd="sng" algn="ctr">
                      <a:solidFill>
                        <a:srgbClr val="C4C4BF"/>
                      </a:solidFill>
                      <a:prstDash val="solid"/>
                      <a:round/>
                      <a:headEnd type="none" w="med" len="med"/>
                      <a:tailEnd type="none" w="med" len="med"/>
                    </a:lnL>
                    <a:lnR w="12700" cap="flat" cmpd="sng" algn="ctr">
                      <a:solidFill>
                        <a:srgbClr val="C9C9C6"/>
                      </a:solidFill>
                      <a:prstDash val="solid"/>
                      <a:round/>
                      <a:headEnd type="none" w="med" len="med"/>
                      <a:tailEnd type="none" w="med" len="med"/>
                    </a:lnR>
                    <a:lnT w="12700" cap="flat" cmpd="sng" algn="ctr">
                      <a:solidFill>
                        <a:srgbClr val="BCBFB5"/>
                      </a:solidFill>
                      <a:prstDash val="solid"/>
                      <a:round/>
                      <a:headEnd type="none" w="med" len="med"/>
                      <a:tailEnd type="none" w="med" len="med"/>
                    </a:lnT>
                    <a:lnB w="12700" cap="flat" cmpd="sng" algn="ctr">
                      <a:solidFill>
                        <a:srgbClr val="C9C9C6"/>
                      </a:solidFill>
                      <a:prstDash val="solid"/>
                      <a:round/>
                      <a:headEnd type="none" w="med" len="med"/>
                      <a:tailEnd type="none" w="med" len="med"/>
                    </a:lnB>
                    <a:solidFill>
                      <a:srgbClr val="FCFCF8"/>
                    </a:solidFill>
                  </a:tcPr>
                </a:tc>
                <a:tc>
                  <a:txBody>
                    <a:bodyPr/>
                    <a:lstStyle/>
                    <a:p>
                      <a:pPr marL="0" indent="0">
                        <a:lnSpc>
                          <a:spcPts val="1960"/>
                        </a:lnSpc>
                        <a:buNone/>
                      </a:pPr>
                      <a:r>
                        <a:rPr lang="en-US" sz="1400" dirty="0">
                          <a:solidFill>
                            <a:srgbClr val="1B2A1E"/>
                          </a:solidFill>
                          <a:latin typeface="IBM Plex Sans" pitchFamily="34" charset="0"/>
                          <a:ea typeface="IBM Plex Sans" pitchFamily="34" charset="-122"/>
                          <a:cs typeface="IBM Plex Sans" pitchFamily="34" charset="-120"/>
                        </a:rPr>
                        <a:t>индексы производства, валовой сбор</a:t>
                      </a:r>
                      <a:endParaRPr lang="en-US" sz="1400" dirty="0">
                        <a:latin typeface="IBM Plex Sans" charset="0"/>
                        <a:ea typeface="IBM Plex Sans" charset="0"/>
                        <a:cs typeface="IBM Plex Sans" charset="0"/>
                      </a:endParaRPr>
                    </a:p>
                  </a:txBody>
                  <a:tcPr marL="62230" marR="62230" marT="62230" marB="62230">
                    <a:lnL w="12700" cap="flat" cmpd="sng" algn="ctr">
                      <a:solidFill>
                        <a:srgbClr val="C9C9C6"/>
                      </a:solidFill>
                      <a:prstDash val="solid"/>
                      <a:round/>
                      <a:headEnd type="none" w="med" len="med"/>
                      <a:tailEnd type="none" w="med" len="med"/>
                    </a:lnL>
                    <a:lnR w="12700" cap="flat" cmpd="sng" algn="ctr">
                      <a:solidFill>
                        <a:srgbClr val="C9C9C6"/>
                      </a:solidFill>
                      <a:prstDash val="solid"/>
                      <a:round/>
                      <a:headEnd type="none" w="med" len="med"/>
                      <a:tailEnd type="none" w="med" len="med"/>
                    </a:lnR>
                    <a:lnT w="12700" cap="flat" cmpd="sng" algn="ctr">
                      <a:solidFill>
                        <a:srgbClr val="BCBFB5"/>
                      </a:solidFill>
                      <a:prstDash val="solid"/>
                      <a:round/>
                      <a:headEnd type="none" w="med" len="med"/>
                      <a:tailEnd type="none" w="med" len="med"/>
                    </a:lnT>
                    <a:lnB w="12700" cap="flat" cmpd="sng" algn="ctr">
                      <a:solidFill>
                        <a:srgbClr val="C9C9C6"/>
                      </a:solidFill>
                      <a:prstDash val="solid"/>
                      <a:round/>
                      <a:headEnd type="none" w="med" len="med"/>
                      <a:tailEnd type="none" w="med" len="med"/>
                    </a:lnB>
                    <a:solidFill>
                      <a:srgbClr val="FCFCF8"/>
                    </a:solidFill>
                  </a:tcPr>
                </a:tc>
                <a:tc>
                  <a:txBody>
                    <a:bodyPr/>
                    <a:lstStyle/>
                    <a:p>
                      <a:pPr marL="0" indent="0">
                        <a:lnSpc>
                          <a:spcPts val="1960"/>
                        </a:lnSpc>
                        <a:buNone/>
                      </a:pPr>
                      <a:r>
                        <a:rPr lang="en-US" sz="1400" dirty="0">
                          <a:solidFill>
                            <a:srgbClr val="1B2A1E"/>
                          </a:solidFill>
                          <a:latin typeface="IBM Plex Sans" pitchFamily="34" charset="0"/>
                          <a:ea typeface="IBM Plex Sans" pitchFamily="34" charset="-122"/>
                          <a:cs typeface="IBM Plex Sans" pitchFamily="34" charset="-120"/>
                        </a:rPr>
                        <a:t>край, округ, год</a:t>
                      </a:r>
                      <a:endParaRPr lang="en-US" sz="1400" dirty="0">
                        <a:latin typeface="IBM Plex Sans" charset="0"/>
                        <a:ea typeface="IBM Plex Sans" charset="0"/>
                        <a:cs typeface="IBM Plex Sans" charset="0"/>
                      </a:endParaRPr>
                    </a:p>
                  </a:txBody>
                  <a:tcPr marL="62230" marR="62230" marT="62230" marB="62230">
                    <a:lnL w="12700" cap="flat" cmpd="sng" algn="ctr">
                      <a:solidFill>
                        <a:srgbClr val="C9C9C6"/>
                      </a:solidFill>
                      <a:prstDash val="solid"/>
                      <a:round/>
                      <a:headEnd type="none" w="med" len="med"/>
                      <a:tailEnd type="none" w="med" len="med"/>
                    </a:lnL>
                    <a:lnR w="12700" cap="flat" cmpd="sng" algn="ctr">
                      <a:solidFill>
                        <a:srgbClr val="C9C9C6"/>
                      </a:solidFill>
                      <a:prstDash val="solid"/>
                      <a:round/>
                      <a:headEnd type="none" w="med" len="med"/>
                      <a:tailEnd type="none" w="med" len="med"/>
                    </a:lnR>
                    <a:lnT w="12700" cap="flat" cmpd="sng" algn="ctr">
                      <a:solidFill>
                        <a:srgbClr val="BCBFB5"/>
                      </a:solidFill>
                      <a:prstDash val="solid"/>
                      <a:round/>
                      <a:headEnd type="none" w="med" len="med"/>
                      <a:tailEnd type="none" w="med" len="med"/>
                    </a:lnT>
                    <a:lnB w="12700" cap="flat" cmpd="sng" algn="ctr">
                      <a:solidFill>
                        <a:srgbClr val="C9C9C6"/>
                      </a:solidFill>
                      <a:prstDash val="solid"/>
                      <a:round/>
                      <a:headEnd type="none" w="med" len="med"/>
                      <a:tailEnd type="none" w="med" len="med"/>
                    </a:lnB>
                    <a:solidFill>
                      <a:srgbClr val="FCFCF8"/>
                    </a:solidFill>
                  </a:tcPr>
                </a:tc>
                <a:tc>
                  <a:txBody>
                    <a:bodyPr/>
                    <a:lstStyle/>
                    <a:p>
                      <a:pPr marL="0" indent="0">
                        <a:lnSpc>
                          <a:spcPts val="1960"/>
                        </a:lnSpc>
                        <a:buNone/>
                      </a:pPr>
                      <a:r>
                        <a:rPr lang="en-US" sz="1400" dirty="0">
                          <a:solidFill>
                            <a:srgbClr val="1B2A1E"/>
                          </a:solidFill>
                          <a:latin typeface="IBM Plex Sans" pitchFamily="34" charset="0"/>
                          <a:ea typeface="IBM Plex Sans" pitchFamily="34" charset="-122"/>
                          <a:cs typeface="IBM Plex Sans" pitchFamily="34" charset="-120"/>
                        </a:rPr>
                        <a:t>раз в год</a:t>
                      </a:r>
                      <a:endParaRPr lang="en-US" sz="1400" dirty="0">
                        <a:latin typeface="IBM Plex Sans" charset="0"/>
                        <a:ea typeface="IBM Plex Sans" charset="0"/>
                        <a:cs typeface="IBM Plex Sans" charset="0"/>
                      </a:endParaRPr>
                    </a:p>
                  </a:txBody>
                  <a:tcPr marL="62230" marR="62230" marT="62230" marB="62230">
                    <a:lnL w="12700" cap="flat" cmpd="sng" algn="ctr">
                      <a:solidFill>
                        <a:srgbClr val="C9C9C6"/>
                      </a:solidFill>
                      <a:prstDash val="solid"/>
                      <a:round/>
                      <a:headEnd type="none" w="med" len="med"/>
                      <a:tailEnd type="none" w="med" len="med"/>
                    </a:lnL>
                    <a:lnR w="12700" cap="flat" cmpd="sng" algn="ctr">
                      <a:solidFill>
                        <a:srgbClr val="C9C9C6"/>
                      </a:solidFill>
                      <a:prstDash val="solid"/>
                      <a:round/>
                      <a:headEnd type="none" w="med" len="med"/>
                      <a:tailEnd type="none" w="med" len="med"/>
                    </a:lnR>
                    <a:lnT w="12700" cap="flat" cmpd="sng" algn="ctr">
                      <a:solidFill>
                        <a:srgbClr val="BCBFB5"/>
                      </a:solidFill>
                      <a:prstDash val="solid"/>
                      <a:round/>
                      <a:headEnd type="none" w="med" len="med"/>
                      <a:tailEnd type="none" w="med" len="med"/>
                    </a:lnT>
                    <a:lnB w="12700" cap="flat" cmpd="sng" algn="ctr">
                      <a:solidFill>
                        <a:srgbClr val="C9C9C6"/>
                      </a:solidFill>
                      <a:prstDash val="solid"/>
                      <a:round/>
                      <a:headEnd type="none" w="med" len="med"/>
                      <a:tailEnd type="none" w="med" len="med"/>
                    </a:lnB>
                    <a:solidFill>
                      <a:srgbClr val="FCFCF8"/>
                    </a:solidFill>
                  </a:tcPr>
                </a:tc>
                <a:extLst>
                  <a:ext uri="{0D108BD9-81ED-4DB2-BD59-A6C34878D82A}">
                    <a16:rowId xmlns:a16="http://schemas.microsoft.com/office/drawing/2014/main" val="10005"/>
                  </a:ext>
                </a:extLst>
              </a:tr>
            </a:tbl>
          </a:graphicData>
        </a:graphic>
      </p:graphicFrame>
      <p:sp>
        <p:nvSpPr>
          <p:cNvPr id="5" name="Text 2"/>
          <p:cNvSpPr/>
          <p:nvPr/>
        </p:nvSpPr>
        <p:spPr>
          <a:xfrm>
            <a:off x="812800" y="4516120"/>
            <a:ext cx="3386614" cy="802640"/>
          </a:xfrm>
          <a:prstGeom prst="roundRect">
            <a:avLst>
              <a:gd name="adj" fmla="val 9494"/>
            </a:avLst>
          </a:prstGeom>
          <a:solidFill>
            <a:srgbClr val="ECEFE3"/>
          </a:solidFill>
          <a:ln/>
          <a:effectLst>
            <a:outerShdw blurRad="50800" dist="38100" dir="5400000" algn="t" rotWithShape="0">
              <a:prstClr val="black">
                <a:alpha val="40000"/>
              </a:prstClr>
            </a:outerShdw>
          </a:effectLst>
        </p:spPr>
        <p:txBody>
          <a:bodyPr wrap="square" lIns="180882" tIns="130082" rIns="91475" bIns="104682" rtlCol="0" anchor="t">
            <a:normAutofit/>
          </a:bodyPr>
          <a:lstStyle/>
          <a:p>
            <a:pPr marL="0" indent="0" algn="l">
              <a:lnSpc>
                <a:spcPts val="1960"/>
              </a:lnSpc>
              <a:buNone/>
            </a:pPr>
            <a:r>
              <a:rPr lang="en-US" sz="1400" b="1" dirty="0">
                <a:solidFill>
                  <a:srgbClr val="3F4F43"/>
                </a:solidFill>
                <a:latin typeface="IBM Plex Sans" pitchFamily="34" charset="0"/>
                <a:ea typeface="IBM Plex Sans" pitchFamily="34" charset="-122"/>
                <a:cs typeface="IBM Plex Sans" pitchFamily="34" charset="-120"/>
              </a:rPr>
              <a:t>408</a:t>
            </a:r>
            <a:r>
              <a:rPr lang="en-US" sz="1400" dirty="0">
                <a:solidFill>
                  <a:srgbClr val="3F4F43"/>
                </a:solidFill>
                <a:latin typeface="IBM Plex Sans" pitchFamily="34" charset="0"/>
                <a:ea typeface="IBM Plex Sans" pitchFamily="34" charset="-122"/>
                <a:cs typeface="IBM Plex Sans" pitchFamily="34" charset="-120"/>
              </a:rPr>
              <a:t> наблюдений округ-год для модели урожая</a:t>
            </a:r>
            <a:endParaRPr lang="en-US" sz="1400" dirty="0"/>
          </a:p>
        </p:txBody>
      </p:sp>
      <p:sp>
        <p:nvSpPr>
          <p:cNvPr id="6" name="Text 3"/>
          <p:cNvSpPr/>
          <p:nvPr/>
        </p:nvSpPr>
        <p:spPr>
          <a:xfrm>
            <a:off x="4402614" y="4516120"/>
            <a:ext cx="3386693" cy="802640"/>
          </a:xfrm>
          <a:prstGeom prst="roundRect">
            <a:avLst>
              <a:gd name="adj" fmla="val 9494"/>
            </a:avLst>
          </a:prstGeom>
          <a:solidFill>
            <a:srgbClr val="ECEFE3"/>
          </a:solidFill>
          <a:ln/>
          <a:effectLst>
            <a:outerShdw blurRad="50800" dist="38100" dir="5400000" algn="t" rotWithShape="0">
              <a:prstClr val="black">
                <a:alpha val="40000"/>
              </a:prstClr>
            </a:outerShdw>
          </a:effectLst>
        </p:spPr>
        <p:txBody>
          <a:bodyPr wrap="square" lIns="180882" tIns="130082" rIns="91473" bIns="104682" rtlCol="0" anchor="t">
            <a:normAutofit/>
          </a:bodyPr>
          <a:lstStyle/>
          <a:p>
            <a:pPr marL="0" indent="0" algn="l">
              <a:lnSpc>
                <a:spcPts val="1960"/>
              </a:lnSpc>
              <a:buNone/>
            </a:pPr>
            <a:r>
              <a:rPr lang="en-US" sz="1400" b="1" dirty="0">
                <a:solidFill>
                  <a:srgbClr val="3F4F43"/>
                </a:solidFill>
                <a:latin typeface="IBM Plex Sans" pitchFamily="34" charset="0"/>
                <a:ea typeface="IBM Plex Sans" pitchFamily="34" charset="-122"/>
                <a:cs typeface="IBM Plex Sans" pitchFamily="34" charset="-120"/>
              </a:rPr>
              <a:t>117</a:t>
            </a:r>
            <a:r>
              <a:rPr lang="en-US" sz="1400" dirty="0">
                <a:solidFill>
                  <a:srgbClr val="3F4F43"/>
                </a:solidFill>
                <a:latin typeface="IBM Plex Sans" pitchFamily="34" charset="0"/>
                <a:ea typeface="IBM Plex Sans" pitchFamily="34" charset="-122"/>
                <a:cs typeface="IBM Plex Sans" pitchFamily="34" charset="-120"/>
              </a:rPr>
              <a:t> месяцев цен на пшеницу, 2017-2026</a:t>
            </a:r>
            <a:endParaRPr lang="en-US" sz="1400" dirty="0"/>
          </a:p>
        </p:txBody>
      </p:sp>
      <p:sp>
        <p:nvSpPr>
          <p:cNvPr id="7" name="Text 4"/>
          <p:cNvSpPr/>
          <p:nvPr/>
        </p:nvSpPr>
        <p:spPr>
          <a:xfrm>
            <a:off x="7992507" y="4516120"/>
            <a:ext cx="3386693" cy="802640"/>
          </a:xfrm>
          <a:prstGeom prst="roundRect">
            <a:avLst>
              <a:gd name="adj" fmla="val 9494"/>
            </a:avLst>
          </a:prstGeom>
          <a:solidFill>
            <a:srgbClr val="ECEFE3"/>
          </a:solidFill>
          <a:ln/>
          <a:effectLst>
            <a:outerShdw blurRad="50800" dist="38100" dir="5400000" algn="t" rotWithShape="0">
              <a:prstClr val="black">
                <a:alpha val="40000"/>
              </a:prstClr>
            </a:outerShdw>
          </a:effectLst>
        </p:spPr>
        <p:txBody>
          <a:bodyPr wrap="square" lIns="180882" tIns="130082" rIns="91473" bIns="104682" rtlCol="0" anchor="t">
            <a:normAutofit/>
          </a:bodyPr>
          <a:lstStyle/>
          <a:p>
            <a:pPr marL="0" indent="0" algn="l">
              <a:lnSpc>
                <a:spcPts val="1960"/>
              </a:lnSpc>
              <a:buNone/>
            </a:pPr>
            <a:r>
              <a:rPr lang="en-US" sz="1400" b="1" dirty="0">
                <a:solidFill>
                  <a:srgbClr val="3F4F43"/>
                </a:solidFill>
                <a:latin typeface="IBM Plex Sans" pitchFamily="34" charset="0"/>
                <a:ea typeface="IBM Plex Sans" pitchFamily="34" charset="-122"/>
                <a:cs typeface="IBM Plex Sans" pitchFamily="34" charset="-120"/>
              </a:rPr>
              <a:t>30</a:t>
            </a:r>
            <a:r>
              <a:rPr lang="en-US" sz="1400" dirty="0">
                <a:solidFill>
                  <a:srgbClr val="3F4F43"/>
                </a:solidFill>
                <a:latin typeface="IBM Plex Sans" pitchFamily="34" charset="0"/>
                <a:ea typeface="IBM Plex Sans" pitchFamily="34" charset="-122"/>
                <a:cs typeface="IBM Plex Sans" pitchFamily="34" charset="-120"/>
              </a:rPr>
              <a:t> лет климатической нормы, 1991-2020</a:t>
            </a:r>
            <a:endParaRPr lang="en-US" sz="1400" dirty="0"/>
          </a:p>
        </p:txBody>
      </p:sp>
      <p:sp>
        <p:nvSpPr>
          <p:cNvPr id="9" name="Text 6"/>
          <p:cNvSpPr/>
          <p:nvPr/>
        </p:nvSpPr>
        <p:spPr>
          <a:xfrm>
            <a:off x="10058400" y="6238239"/>
            <a:ext cx="1320800" cy="23876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6B7A6E"/>
                </a:solidFill>
                <a:latin typeface="IBM Plex Sans" pitchFamily="34" charset="0"/>
                <a:ea typeface="IBM Plex Sans" pitchFamily="34" charset="-122"/>
                <a:cs typeface="IBM Plex Sans" pitchFamily="34" charset="-120"/>
              </a:rPr>
              <a:t>4</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5F6EF"/>
        </a:solidFill>
        <a:effectLst/>
      </p:bgPr>
    </p:bg>
    <p:spTree>
      <p:nvGrpSpPr>
        <p:cNvPr id="1" name=""/>
        <p:cNvGrpSpPr/>
        <p:nvPr/>
      </p:nvGrpSpPr>
      <p:grpSpPr>
        <a:xfrm>
          <a:off x="0" y="0"/>
          <a:ext cx="0" cy="0"/>
          <a:chOff x="0" y="0"/>
          <a:chExt cx="0" cy="0"/>
        </a:xfrm>
      </p:grpSpPr>
      <p:sp>
        <p:nvSpPr>
          <p:cNvPr id="3" name="Text 1"/>
          <p:cNvSpPr>
            <a:spLocks noGrp="1"/>
          </p:cNvSpPr>
          <p:nvPr>
            <p:ph type="title"/>
          </p:nvPr>
        </p:nvSpPr>
        <p:spPr>
          <a:xfrm>
            <a:off x="812800" y="812800"/>
            <a:ext cx="10883392" cy="807720"/>
          </a:xfrm>
          <a:prstGeom prst="rect">
            <a:avLst/>
          </a:prstGeom>
          <a:noFill/>
          <a:ln/>
        </p:spPr>
        <p:txBody>
          <a:bodyPr wrap="square" lIns="0" tIns="0" rIns="0" bIns="0" rtlCol="0" anchor="t">
            <a:normAutofit/>
          </a:bodyPr>
          <a:lstStyle/>
          <a:p>
            <a:pPr marL="0" indent="0" algn="l">
              <a:lnSpc>
                <a:spcPts val="3080"/>
              </a:lnSpc>
              <a:buNone/>
            </a:pPr>
            <a:r>
              <a:rPr lang="en-US" sz="2800" b="1" i="0" dirty="0">
                <a:solidFill>
                  <a:srgbClr val="1F4424"/>
                </a:solidFill>
                <a:latin typeface="Montserrat" pitchFamily="34" charset="0"/>
                <a:ea typeface="Montserrat" pitchFamily="34" charset="-122"/>
                <a:cs typeface="Montserrat" pitchFamily="34" charset="-120"/>
              </a:rPr>
              <a:t>Показатели сгруппированы в четыре блока: урожай, погода, рынок и риск</a:t>
            </a:r>
            <a:endParaRPr lang="en-US" sz="2800" dirty="0"/>
          </a:p>
        </p:txBody>
      </p:sp>
      <p:sp>
        <p:nvSpPr>
          <p:cNvPr id="4" name="Shape 2"/>
          <p:cNvSpPr/>
          <p:nvPr/>
        </p:nvSpPr>
        <p:spPr>
          <a:xfrm>
            <a:off x="815975" y="1953896"/>
            <a:ext cx="2520950" cy="2538095"/>
          </a:xfrm>
          <a:prstGeom prst="roundRect">
            <a:avLst>
              <a:gd name="adj" fmla="val 3904"/>
            </a:avLst>
          </a:prstGeom>
          <a:solidFill>
            <a:srgbClr val="FCFCF8"/>
          </a:solidFill>
          <a:ln w="6350">
            <a:solidFill>
              <a:srgbClr val="DDE2D3"/>
            </a:solidFill>
            <a:prstDash val="solid"/>
          </a:ln>
          <a:effectLst>
            <a:outerShdw blurRad="50800" dist="38100" dir="5400000" algn="t" rotWithShape="0">
              <a:prstClr val="black">
                <a:alpha val="40000"/>
              </a:prstClr>
            </a:outerShdw>
          </a:effectLst>
        </p:spPr>
        <p:txBody>
          <a:bodyPr/>
          <a:lstStyle/>
          <a:p>
            <a:endParaRPr lang="ru-RU"/>
          </a:p>
        </p:txBody>
      </p:sp>
      <p:sp>
        <p:nvSpPr>
          <p:cNvPr id="5" name="Text 3"/>
          <p:cNvSpPr/>
          <p:nvPr/>
        </p:nvSpPr>
        <p:spPr>
          <a:xfrm>
            <a:off x="1046480" y="2184400"/>
            <a:ext cx="2121738" cy="299720"/>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1F4424"/>
                </a:solidFill>
                <a:latin typeface="Montserrat" pitchFamily="34" charset="0"/>
                <a:ea typeface="Montserrat" pitchFamily="34" charset="-122"/>
                <a:cs typeface="Montserrat" pitchFamily="34" charset="-120"/>
              </a:rPr>
              <a:t>Урожай</a:t>
            </a:r>
            <a:endParaRPr lang="en-US" sz="1800" dirty="0"/>
          </a:p>
        </p:txBody>
      </p:sp>
      <p:sp>
        <p:nvSpPr>
          <p:cNvPr id="6" name="Text 4"/>
          <p:cNvSpPr/>
          <p:nvPr/>
        </p:nvSpPr>
        <p:spPr>
          <a:xfrm>
            <a:off x="1131824" y="2585721"/>
            <a:ext cx="2028774" cy="1222375"/>
          </a:xfrm>
          <a:prstGeom prst="rect">
            <a:avLst/>
          </a:prstGeom>
          <a:noFill/>
          <a:ln/>
        </p:spPr>
        <p:txBody>
          <a:bodyPr wrap="square" lIns="0" tIns="0" rIns="0" bIns="0" rtlCol="0" anchor="t">
            <a:normAutofit/>
          </a:bodyPr>
          <a:lstStyle/>
          <a:p>
            <a:pPr marL="285750" indent="-285750" algn="l">
              <a:lnSpc>
                <a:spcPts val="1885"/>
              </a:lnSpc>
              <a:buSzPct val="100000"/>
              <a:buFont typeface="Wingdings" panose="05000000000000000000" pitchFamily="2" charset="2"/>
              <a:buChar char="v"/>
            </a:pPr>
            <a:r>
              <a:rPr lang="en-US" sz="1300" dirty="0">
                <a:solidFill>
                  <a:srgbClr val="3F4F43"/>
                </a:solidFill>
                <a:latin typeface="IBM Plex Sans" pitchFamily="34" charset="0"/>
                <a:ea typeface="IBM Plex Sans" pitchFamily="34" charset="-122"/>
                <a:cs typeface="IBM Plex Sans" pitchFamily="34" charset="-120"/>
              </a:rPr>
              <a:t>урожайность, ц/га</a:t>
            </a:r>
            <a:endParaRPr lang="en-US" sz="1300" dirty="0"/>
          </a:p>
          <a:p>
            <a:pPr marL="285750" indent="-285750" algn="l">
              <a:lnSpc>
                <a:spcPts val="1885"/>
              </a:lnSpc>
              <a:buSzPct val="100000"/>
              <a:buFont typeface="Wingdings" panose="05000000000000000000" pitchFamily="2" charset="2"/>
              <a:buChar char="v"/>
            </a:pPr>
            <a:r>
              <a:rPr lang="en-US" sz="1300" dirty="0">
                <a:solidFill>
                  <a:srgbClr val="3F4F43"/>
                </a:solidFill>
                <a:latin typeface="IBM Plex Sans" pitchFamily="34" charset="0"/>
                <a:ea typeface="IBM Plex Sans" pitchFamily="34" charset="-122"/>
                <a:cs typeface="IBM Plex Sans" pitchFamily="34" charset="-120"/>
              </a:rPr>
              <a:t>тренд и отклонение от тренда</a:t>
            </a:r>
            <a:endParaRPr lang="en-US" sz="1300" dirty="0"/>
          </a:p>
          <a:p>
            <a:pPr marL="285750" indent="-285750" algn="l">
              <a:lnSpc>
                <a:spcPts val="1885"/>
              </a:lnSpc>
              <a:buSzPct val="100000"/>
              <a:buFont typeface="Wingdings" panose="05000000000000000000" pitchFamily="2" charset="2"/>
              <a:buChar char="v"/>
            </a:pPr>
            <a:r>
              <a:rPr lang="en-US" sz="1300" dirty="0">
                <a:solidFill>
                  <a:srgbClr val="3F4F43"/>
                </a:solidFill>
                <a:latin typeface="IBM Plex Sans" pitchFamily="34" charset="0"/>
                <a:ea typeface="IBM Plex Sans" pitchFamily="34" charset="-122"/>
                <a:cs typeface="IBM Plex Sans" pitchFamily="34" charset="-120"/>
              </a:rPr>
              <a:t>волатильность, σ</a:t>
            </a:r>
            <a:endParaRPr lang="en-US" sz="1300" dirty="0"/>
          </a:p>
          <a:p>
            <a:pPr marL="285750" indent="-285750" algn="l">
              <a:lnSpc>
                <a:spcPts val="1885"/>
              </a:lnSpc>
              <a:buSzPct val="100000"/>
              <a:buFont typeface="Wingdings" panose="05000000000000000000" pitchFamily="2" charset="2"/>
              <a:buChar char="v"/>
            </a:pPr>
            <a:r>
              <a:rPr lang="en-US" sz="1300" dirty="0">
                <a:solidFill>
                  <a:srgbClr val="3F4F43"/>
                </a:solidFill>
                <a:latin typeface="IBM Plex Sans" pitchFamily="34" charset="0"/>
                <a:ea typeface="IBM Plex Sans" pitchFamily="34" charset="-122"/>
                <a:cs typeface="IBM Plex Sans" pitchFamily="34" charset="-120"/>
              </a:rPr>
              <a:t>индекс производства</a:t>
            </a:r>
            <a:endParaRPr lang="en-US" sz="1300" dirty="0"/>
          </a:p>
        </p:txBody>
      </p:sp>
      <p:sp>
        <p:nvSpPr>
          <p:cNvPr id="7" name="Shape 5"/>
          <p:cNvSpPr/>
          <p:nvPr/>
        </p:nvSpPr>
        <p:spPr>
          <a:xfrm>
            <a:off x="3495675" y="1953896"/>
            <a:ext cx="2520950" cy="2538095"/>
          </a:xfrm>
          <a:prstGeom prst="roundRect">
            <a:avLst>
              <a:gd name="adj" fmla="val 3904"/>
            </a:avLst>
          </a:prstGeom>
          <a:solidFill>
            <a:srgbClr val="FCFCF8"/>
          </a:solidFill>
          <a:ln w="6350">
            <a:solidFill>
              <a:srgbClr val="DDE2D3"/>
            </a:solidFill>
            <a:prstDash val="solid"/>
          </a:ln>
          <a:effectLst>
            <a:outerShdw blurRad="50800" dist="38100" dir="5400000" algn="t" rotWithShape="0">
              <a:prstClr val="black">
                <a:alpha val="40000"/>
              </a:prstClr>
            </a:outerShdw>
          </a:effectLst>
        </p:spPr>
        <p:txBody>
          <a:bodyPr/>
          <a:lstStyle/>
          <a:p>
            <a:endParaRPr lang="ru-RU"/>
          </a:p>
        </p:txBody>
      </p:sp>
      <p:sp>
        <p:nvSpPr>
          <p:cNvPr id="8" name="Text 6"/>
          <p:cNvSpPr/>
          <p:nvPr/>
        </p:nvSpPr>
        <p:spPr>
          <a:xfrm>
            <a:off x="3726180" y="2184400"/>
            <a:ext cx="2121738" cy="299720"/>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1F4424"/>
                </a:solidFill>
                <a:latin typeface="Montserrat" pitchFamily="34" charset="0"/>
                <a:ea typeface="Montserrat" pitchFamily="34" charset="-122"/>
                <a:cs typeface="Montserrat" pitchFamily="34" charset="-120"/>
              </a:rPr>
              <a:t>Погода</a:t>
            </a:r>
            <a:endParaRPr lang="en-US" sz="1800" dirty="0"/>
          </a:p>
        </p:txBody>
      </p:sp>
      <p:sp>
        <p:nvSpPr>
          <p:cNvPr id="9" name="Text 7"/>
          <p:cNvSpPr/>
          <p:nvPr/>
        </p:nvSpPr>
        <p:spPr>
          <a:xfrm>
            <a:off x="3811524" y="2585721"/>
            <a:ext cx="2028774" cy="1222375"/>
          </a:xfrm>
          <a:prstGeom prst="rect">
            <a:avLst/>
          </a:prstGeom>
          <a:noFill/>
          <a:ln/>
        </p:spPr>
        <p:txBody>
          <a:bodyPr wrap="square" lIns="0" tIns="0" rIns="0" bIns="0" rtlCol="0" anchor="t">
            <a:normAutofit fontScale="92500"/>
          </a:bodyPr>
          <a:lstStyle/>
          <a:p>
            <a:pPr marL="285750" indent="-285750" algn="l">
              <a:lnSpc>
                <a:spcPts val="1885"/>
              </a:lnSpc>
              <a:buSzPct val="100000"/>
              <a:buFont typeface="Wingdings" panose="05000000000000000000" pitchFamily="2" charset="2"/>
              <a:buChar char="v"/>
            </a:pPr>
            <a:r>
              <a:rPr lang="en-US" sz="1300" dirty="0">
                <a:solidFill>
                  <a:srgbClr val="3F4F43"/>
                </a:solidFill>
                <a:latin typeface="IBM Plex Sans" pitchFamily="34" charset="0"/>
                <a:ea typeface="IBM Plex Sans" pitchFamily="34" charset="-122"/>
                <a:cs typeface="IBM Plex Sans" pitchFamily="34" charset="-120"/>
              </a:rPr>
              <a:t>ГТК мая-июня</a:t>
            </a:r>
            <a:endParaRPr lang="en-US" sz="1300" dirty="0"/>
          </a:p>
          <a:p>
            <a:pPr marL="285750" indent="-285750" algn="l">
              <a:lnSpc>
                <a:spcPts val="1885"/>
              </a:lnSpc>
              <a:buSzPct val="100000"/>
              <a:buFont typeface="Wingdings" panose="05000000000000000000" pitchFamily="2" charset="2"/>
              <a:buChar char="v"/>
            </a:pPr>
            <a:r>
              <a:rPr lang="en-US" sz="1300" dirty="0">
                <a:solidFill>
                  <a:srgbClr val="3F4F43"/>
                </a:solidFill>
                <a:latin typeface="IBM Plex Sans" pitchFamily="34" charset="0"/>
                <a:ea typeface="IBM Plex Sans" pitchFamily="34" charset="-122"/>
                <a:cs typeface="IBM Plex Sans" pitchFamily="34" charset="-120"/>
              </a:rPr>
              <a:t>осадки весны, осени и зимы к норме</a:t>
            </a:r>
            <a:endParaRPr lang="en-US" sz="1300" dirty="0"/>
          </a:p>
          <a:p>
            <a:pPr marL="285750" indent="-285750" algn="l">
              <a:lnSpc>
                <a:spcPts val="1885"/>
              </a:lnSpc>
              <a:buSzPct val="100000"/>
              <a:buFont typeface="Wingdings" panose="05000000000000000000" pitchFamily="2" charset="2"/>
              <a:buChar char="v"/>
            </a:pPr>
            <a:r>
              <a:rPr lang="en-US" sz="1300" dirty="0">
                <a:solidFill>
                  <a:srgbClr val="3F4F43"/>
                </a:solidFill>
                <a:latin typeface="IBM Plex Sans" pitchFamily="34" charset="0"/>
                <a:ea typeface="IBM Plex Sans" pitchFamily="34" charset="-122"/>
                <a:cs typeface="IBM Plex Sans" pitchFamily="34" charset="-120"/>
              </a:rPr>
              <a:t>температура мая-июня</a:t>
            </a:r>
            <a:endParaRPr lang="en-US" sz="1300" dirty="0"/>
          </a:p>
          <a:p>
            <a:pPr marL="285750" indent="-285750" algn="l">
              <a:lnSpc>
                <a:spcPts val="1885"/>
              </a:lnSpc>
              <a:buSzPct val="100000"/>
              <a:buFont typeface="Wingdings" panose="05000000000000000000" pitchFamily="2" charset="2"/>
              <a:buChar char="v"/>
            </a:pPr>
            <a:r>
              <a:rPr lang="en-US" sz="1300" dirty="0">
                <a:solidFill>
                  <a:srgbClr val="3F4F43"/>
                </a:solidFill>
                <a:latin typeface="IBM Plex Sans" pitchFamily="34" charset="0"/>
                <a:ea typeface="IBM Plex Sans" pitchFamily="34" charset="-122"/>
                <a:cs typeface="IBM Plex Sans" pitchFamily="34" charset="-120"/>
              </a:rPr>
              <a:t>заморозки</a:t>
            </a:r>
            <a:endParaRPr lang="en-US" sz="1300" dirty="0"/>
          </a:p>
        </p:txBody>
      </p:sp>
      <p:sp>
        <p:nvSpPr>
          <p:cNvPr id="10" name="Shape 8"/>
          <p:cNvSpPr/>
          <p:nvPr/>
        </p:nvSpPr>
        <p:spPr>
          <a:xfrm>
            <a:off x="6175375" y="1953896"/>
            <a:ext cx="2520950" cy="2538095"/>
          </a:xfrm>
          <a:prstGeom prst="roundRect">
            <a:avLst>
              <a:gd name="adj" fmla="val 3904"/>
            </a:avLst>
          </a:prstGeom>
          <a:solidFill>
            <a:srgbClr val="FCFCF8"/>
          </a:solidFill>
          <a:ln w="6350">
            <a:solidFill>
              <a:srgbClr val="DDE2D3"/>
            </a:solidFill>
            <a:prstDash val="solid"/>
          </a:ln>
          <a:effectLst>
            <a:outerShdw blurRad="50800" dist="38100" dir="5400000" algn="t" rotWithShape="0">
              <a:prstClr val="black">
                <a:alpha val="40000"/>
              </a:prstClr>
            </a:outerShdw>
          </a:effectLst>
        </p:spPr>
        <p:txBody>
          <a:bodyPr/>
          <a:lstStyle/>
          <a:p>
            <a:endParaRPr lang="ru-RU"/>
          </a:p>
        </p:txBody>
      </p:sp>
      <p:sp>
        <p:nvSpPr>
          <p:cNvPr id="11" name="Text 9"/>
          <p:cNvSpPr/>
          <p:nvPr/>
        </p:nvSpPr>
        <p:spPr>
          <a:xfrm>
            <a:off x="6405880" y="2184400"/>
            <a:ext cx="2121738" cy="299720"/>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1F4424"/>
                </a:solidFill>
                <a:latin typeface="Montserrat" pitchFamily="34" charset="0"/>
                <a:ea typeface="Montserrat" pitchFamily="34" charset="-122"/>
                <a:cs typeface="Montserrat" pitchFamily="34" charset="-120"/>
              </a:rPr>
              <a:t>Рынок</a:t>
            </a:r>
            <a:endParaRPr lang="en-US" sz="1800" dirty="0"/>
          </a:p>
        </p:txBody>
      </p:sp>
      <p:sp>
        <p:nvSpPr>
          <p:cNvPr id="12" name="Text 10"/>
          <p:cNvSpPr/>
          <p:nvPr/>
        </p:nvSpPr>
        <p:spPr>
          <a:xfrm>
            <a:off x="6491224" y="2585721"/>
            <a:ext cx="2028774" cy="1222375"/>
          </a:xfrm>
          <a:prstGeom prst="rect">
            <a:avLst/>
          </a:prstGeom>
          <a:noFill/>
          <a:ln/>
        </p:spPr>
        <p:txBody>
          <a:bodyPr wrap="square" lIns="0" tIns="0" rIns="0" bIns="0" rtlCol="0" anchor="t">
            <a:normAutofit fontScale="92500"/>
          </a:bodyPr>
          <a:lstStyle/>
          <a:p>
            <a:pPr marL="285750" indent="-285750" algn="l">
              <a:lnSpc>
                <a:spcPts val="1885"/>
              </a:lnSpc>
              <a:buSzPct val="100000"/>
              <a:buFont typeface="Wingdings" panose="05000000000000000000" pitchFamily="2" charset="2"/>
              <a:buChar char="v"/>
            </a:pPr>
            <a:r>
              <a:rPr lang="en-US" sz="1300" dirty="0">
                <a:solidFill>
                  <a:srgbClr val="3F4F43"/>
                </a:solidFill>
                <a:latin typeface="IBM Plex Sans" pitchFamily="34" charset="0"/>
                <a:ea typeface="IBM Plex Sans" pitchFamily="34" charset="-122"/>
                <a:cs typeface="IBM Plex Sans" pitchFamily="34" charset="-120"/>
              </a:rPr>
              <a:t>цена пшеницы, руб./т</a:t>
            </a:r>
            <a:endParaRPr lang="en-US" sz="1300" dirty="0"/>
          </a:p>
          <a:p>
            <a:pPr marL="285750" indent="-285750" algn="l">
              <a:lnSpc>
                <a:spcPts val="1885"/>
              </a:lnSpc>
              <a:buSzPct val="100000"/>
              <a:buFont typeface="Wingdings" panose="05000000000000000000" pitchFamily="2" charset="2"/>
              <a:buChar char="v"/>
            </a:pPr>
            <a:r>
              <a:rPr lang="en-US" sz="1300" dirty="0">
                <a:solidFill>
                  <a:srgbClr val="3F4F43"/>
                </a:solidFill>
                <a:latin typeface="IBM Plex Sans" pitchFamily="34" charset="0"/>
                <a:ea typeface="IBM Plex Sans" pitchFamily="34" charset="-122"/>
                <a:cs typeface="IBM Plex Sans" pitchFamily="34" charset="-120"/>
              </a:rPr>
              <a:t>сезонный индекс цены</a:t>
            </a:r>
            <a:endParaRPr lang="en-US" sz="1300" dirty="0"/>
          </a:p>
          <a:p>
            <a:pPr marL="285750" indent="-285750" algn="l">
              <a:lnSpc>
                <a:spcPts val="1885"/>
              </a:lnSpc>
              <a:buSzPct val="100000"/>
              <a:buFont typeface="Wingdings" panose="05000000000000000000" pitchFamily="2" charset="2"/>
              <a:buChar char="v"/>
            </a:pPr>
            <a:r>
              <a:rPr lang="en-US" sz="1300" dirty="0">
                <a:solidFill>
                  <a:srgbClr val="3F4F43"/>
                </a:solidFill>
                <a:latin typeface="IBM Plex Sans" pitchFamily="34" charset="0"/>
                <a:ea typeface="IBM Plex Sans" pitchFamily="34" charset="-122"/>
                <a:cs typeface="IBM Plex Sans" pitchFamily="34" charset="-120"/>
              </a:rPr>
              <a:t>паритет дизель/пшеница</a:t>
            </a:r>
            <a:endParaRPr lang="en-US" sz="1300" dirty="0"/>
          </a:p>
          <a:p>
            <a:pPr marL="285750" indent="-285750" algn="l">
              <a:lnSpc>
                <a:spcPts val="1885"/>
              </a:lnSpc>
              <a:buSzPct val="100000"/>
              <a:buFont typeface="Wingdings" panose="05000000000000000000" pitchFamily="2" charset="2"/>
              <a:buChar char="v"/>
            </a:pPr>
            <a:r>
              <a:rPr lang="en-US" sz="1300" dirty="0">
                <a:solidFill>
                  <a:srgbClr val="3F4F43"/>
                </a:solidFill>
                <a:latin typeface="IBM Plex Sans" pitchFamily="34" charset="0"/>
                <a:ea typeface="IBM Plex Sans" pitchFamily="34" charset="-122"/>
                <a:cs typeface="IBM Plex Sans" pitchFamily="34" charset="-120"/>
              </a:rPr>
              <a:t>маржа на гектар</a:t>
            </a:r>
            <a:endParaRPr lang="en-US" sz="1300" dirty="0"/>
          </a:p>
        </p:txBody>
      </p:sp>
      <p:sp>
        <p:nvSpPr>
          <p:cNvPr id="13" name="Shape 11"/>
          <p:cNvSpPr/>
          <p:nvPr/>
        </p:nvSpPr>
        <p:spPr>
          <a:xfrm>
            <a:off x="8855075" y="1953896"/>
            <a:ext cx="2520950" cy="2538095"/>
          </a:xfrm>
          <a:prstGeom prst="roundRect">
            <a:avLst>
              <a:gd name="adj" fmla="val 3904"/>
            </a:avLst>
          </a:prstGeom>
          <a:solidFill>
            <a:srgbClr val="FCFCF8"/>
          </a:solidFill>
          <a:ln w="6350">
            <a:solidFill>
              <a:srgbClr val="DDE2D3"/>
            </a:solidFill>
            <a:prstDash val="solid"/>
          </a:ln>
          <a:effectLst>
            <a:outerShdw blurRad="50800" dist="38100" dir="5400000" algn="t" rotWithShape="0">
              <a:prstClr val="black">
                <a:alpha val="40000"/>
              </a:prstClr>
            </a:outerShdw>
          </a:effectLst>
        </p:spPr>
        <p:txBody>
          <a:bodyPr/>
          <a:lstStyle/>
          <a:p>
            <a:endParaRPr lang="ru-RU"/>
          </a:p>
        </p:txBody>
      </p:sp>
      <p:sp>
        <p:nvSpPr>
          <p:cNvPr id="14" name="Text 12"/>
          <p:cNvSpPr/>
          <p:nvPr/>
        </p:nvSpPr>
        <p:spPr>
          <a:xfrm>
            <a:off x="9085580" y="2184400"/>
            <a:ext cx="2121738" cy="299720"/>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1F4424"/>
                </a:solidFill>
                <a:latin typeface="Montserrat" pitchFamily="34" charset="0"/>
                <a:ea typeface="Montserrat" pitchFamily="34" charset="-122"/>
                <a:cs typeface="Montserrat" pitchFamily="34" charset="-120"/>
              </a:rPr>
              <a:t>Риск</a:t>
            </a:r>
            <a:endParaRPr lang="en-US" sz="1800" dirty="0"/>
          </a:p>
        </p:txBody>
      </p:sp>
      <p:sp>
        <p:nvSpPr>
          <p:cNvPr id="15" name="Text 13"/>
          <p:cNvSpPr/>
          <p:nvPr/>
        </p:nvSpPr>
        <p:spPr>
          <a:xfrm>
            <a:off x="9170924" y="2585721"/>
            <a:ext cx="2028774" cy="1701165"/>
          </a:xfrm>
          <a:prstGeom prst="rect">
            <a:avLst/>
          </a:prstGeom>
          <a:noFill/>
          <a:ln/>
        </p:spPr>
        <p:txBody>
          <a:bodyPr wrap="square" lIns="0" tIns="0" rIns="0" bIns="0" rtlCol="0" anchor="t">
            <a:normAutofit/>
          </a:bodyPr>
          <a:lstStyle/>
          <a:p>
            <a:pPr marL="285750" indent="-285750" algn="l">
              <a:lnSpc>
                <a:spcPts val="1885"/>
              </a:lnSpc>
              <a:buSzPct val="100000"/>
              <a:buFont typeface="Wingdings" panose="05000000000000000000" pitchFamily="2" charset="2"/>
              <a:buChar char="v"/>
            </a:pPr>
            <a:r>
              <a:rPr lang="en-US" sz="1300" dirty="0">
                <a:solidFill>
                  <a:srgbClr val="3F4F43"/>
                </a:solidFill>
                <a:latin typeface="IBM Plex Sans" pitchFamily="34" charset="0"/>
                <a:ea typeface="IBM Plex Sans" pitchFamily="34" charset="-122"/>
                <a:cs typeface="IBM Plex Sans" pitchFamily="34" charset="-120"/>
              </a:rPr>
              <a:t>вероятность убыточного сезона</a:t>
            </a:r>
            <a:endParaRPr lang="en-US" sz="1300" dirty="0"/>
          </a:p>
          <a:p>
            <a:pPr marL="285750" indent="-285750" algn="l">
              <a:lnSpc>
                <a:spcPts val="1885"/>
              </a:lnSpc>
              <a:buSzPct val="100000"/>
              <a:buFont typeface="Wingdings" panose="05000000000000000000" pitchFamily="2" charset="2"/>
              <a:buChar char="v"/>
            </a:pPr>
            <a:r>
              <a:rPr lang="en-US" sz="1300" dirty="0">
                <a:solidFill>
                  <a:srgbClr val="3F4F43"/>
                </a:solidFill>
                <a:latin typeface="IBM Plex Sans" pitchFamily="34" charset="0"/>
                <a:ea typeface="IBM Plex Sans" pitchFamily="34" charset="-122"/>
                <a:cs typeface="IBM Plex Sans" pitchFamily="34" charset="-120"/>
              </a:rPr>
              <a:t>маржа в худших 5% сценариев</a:t>
            </a:r>
            <a:endParaRPr lang="en-US" sz="1300" dirty="0"/>
          </a:p>
          <a:p>
            <a:pPr marL="285750" indent="-285750" algn="l">
              <a:lnSpc>
                <a:spcPts val="1885"/>
              </a:lnSpc>
              <a:buSzPct val="100000"/>
              <a:buFont typeface="Wingdings" panose="05000000000000000000" pitchFamily="2" charset="2"/>
              <a:buChar char="v"/>
            </a:pPr>
            <a:r>
              <a:rPr lang="en-US" sz="1300" dirty="0">
                <a:solidFill>
                  <a:srgbClr val="3F4F43"/>
                </a:solidFill>
                <a:latin typeface="IBM Plex Sans" pitchFamily="34" charset="0"/>
                <a:ea typeface="IBM Plex Sans" pitchFamily="34" charset="-122"/>
                <a:cs typeface="IBM Plex Sans" pitchFamily="34" charset="-120"/>
              </a:rPr>
              <a:t>стресс-тест на прошлых годах</a:t>
            </a:r>
            <a:endParaRPr lang="en-US" sz="1300" dirty="0"/>
          </a:p>
          <a:p>
            <a:pPr marL="285750" indent="-285750" algn="l">
              <a:lnSpc>
                <a:spcPts val="1885"/>
              </a:lnSpc>
              <a:buSzPct val="100000"/>
              <a:buFont typeface="Wingdings" panose="05000000000000000000" pitchFamily="2" charset="2"/>
              <a:buChar char="v"/>
            </a:pPr>
            <a:r>
              <a:rPr lang="en-US" sz="1300" dirty="0">
                <a:solidFill>
                  <a:srgbClr val="3F4F43"/>
                </a:solidFill>
                <a:latin typeface="IBM Plex Sans" pitchFamily="34" charset="0"/>
                <a:ea typeface="IBM Plex Sans" pitchFamily="34" charset="-122"/>
                <a:cs typeface="IBM Plex Sans" pitchFamily="34" charset="-120"/>
              </a:rPr>
              <a:t>кластер риска округа</a:t>
            </a:r>
            <a:endParaRPr lang="en-US" sz="1300" dirty="0"/>
          </a:p>
        </p:txBody>
      </p:sp>
      <p:sp>
        <p:nvSpPr>
          <p:cNvPr id="16" name="Text 14"/>
          <p:cNvSpPr/>
          <p:nvPr/>
        </p:nvSpPr>
        <p:spPr>
          <a:xfrm>
            <a:off x="812800" y="4850764"/>
            <a:ext cx="10883392" cy="5588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3F4F43"/>
                </a:solidFill>
                <a:latin typeface="IBM Plex Sans" pitchFamily="34" charset="0"/>
                <a:ea typeface="IBM Plex Sans" pitchFamily="34" charset="-122"/>
                <a:cs typeface="IBM Plex Sans" pitchFamily="34" charset="-120"/>
              </a:rPr>
              <a:t>Все показатели считаются для каждого из 26 округов и для края в целом, погода всегда сравнивается с климатической нормой округа.</a:t>
            </a:r>
            <a:endParaRPr lang="en-US" sz="1500" dirty="0"/>
          </a:p>
        </p:txBody>
      </p:sp>
      <p:sp>
        <p:nvSpPr>
          <p:cNvPr id="18" name="Text 16"/>
          <p:cNvSpPr/>
          <p:nvPr/>
        </p:nvSpPr>
        <p:spPr>
          <a:xfrm>
            <a:off x="10058400" y="6238239"/>
            <a:ext cx="1320800" cy="23876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6B7A6E"/>
                </a:solidFill>
                <a:latin typeface="IBM Plex Sans" pitchFamily="34" charset="0"/>
                <a:ea typeface="IBM Plex Sans" pitchFamily="34" charset="-122"/>
                <a:cs typeface="IBM Plex Sans" pitchFamily="34" charset="-120"/>
              </a:rPr>
              <a:t>5</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5F6EF"/>
        </a:solidFill>
        <a:effectLst/>
      </p:bgPr>
    </p:bg>
    <p:spTree>
      <p:nvGrpSpPr>
        <p:cNvPr id="1" name=""/>
        <p:cNvGrpSpPr/>
        <p:nvPr/>
      </p:nvGrpSpPr>
      <p:grpSpPr>
        <a:xfrm>
          <a:off x="0" y="0"/>
          <a:ext cx="0" cy="0"/>
          <a:chOff x="0" y="0"/>
          <a:chExt cx="0" cy="0"/>
        </a:xfrm>
      </p:grpSpPr>
      <p:sp>
        <p:nvSpPr>
          <p:cNvPr id="3" name="Text 1"/>
          <p:cNvSpPr>
            <a:spLocks noGrp="1"/>
          </p:cNvSpPr>
          <p:nvPr>
            <p:ph type="title"/>
          </p:nvPr>
        </p:nvSpPr>
        <p:spPr>
          <a:xfrm>
            <a:off x="812800" y="812800"/>
            <a:ext cx="10883392" cy="807720"/>
          </a:xfrm>
          <a:prstGeom prst="rect">
            <a:avLst/>
          </a:prstGeom>
          <a:noFill/>
          <a:ln/>
        </p:spPr>
        <p:txBody>
          <a:bodyPr wrap="square" lIns="0" tIns="0" rIns="0" bIns="0" rtlCol="0" anchor="t">
            <a:normAutofit/>
          </a:bodyPr>
          <a:lstStyle/>
          <a:p>
            <a:pPr marL="0" indent="0" algn="l">
              <a:lnSpc>
                <a:spcPts val="3080"/>
              </a:lnSpc>
              <a:buNone/>
            </a:pPr>
            <a:r>
              <a:rPr lang="en-US" sz="2800" b="1" i="0" dirty="0">
                <a:solidFill>
                  <a:srgbClr val="1F4424"/>
                </a:solidFill>
                <a:latin typeface="Montserrat" pitchFamily="34" charset="0"/>
                <a:ea typeface="Montserrat" pitchFamily="34" charset="-122"/>
                <a:cs typeface="Montserrat" pitchFamily="34" charset="-120"/>
              </a:rPr>
              <a:t>Логика анализа: показатель, динамика, регион, фактор. Пример 2020 года</a:t>
            </a:r>
            <a:endParaRPr lang="en-US" sz="2800" dirty="0"/>
          </a:p>
        </p:txBody>
      </p:sp>
      <p:sp>
        <p:nvSpPr>
          <p:cNvPr id="4" name="Shape 2"/>
          <p:cNvSpPr/>
          <p:nvPr/>
        </p:nvSpPr>
        <p:spPr>
          <a:xfrm>
            <a:off x="815975" y="1953896"/>
            <a:ext cx="2520950" cy="1997710"/>
          </a:xfrm>
          <a:prstGeom prst="roundRect">
            <a:avLst>
              <a:gd name="adj" fmla="val 4927"/>
            </a:avLst>
          </a:prstGeom>
          <a:solidFill>
            <a:srgbClr val="FCFCF8"/>
          </a:solidFill>
          <a:ln w="6350">
            <a:solidFill>
              <a:srgbClr val="DDE2D3"/>
            </a:solidFill>
            <a:prstDash val="solid"/>
          </a:ln>
          <a:effectLst>
            <a:outerShdw blurRad="50800" dist="38100" dir="5400000" algn="t" rotWithShape="0">
              <a:prstClr val="black">
                <a:alpha val="40000"/>
              </a:prstClr>
            </a:outerShdw>
          </a:effectLst>
        </p:spPr>
        <p:txBody>
          <a:bodyPr/>
          <a:lstStyle/>
          <a:p>
            <a:endParaRPr lang="ru-RU"/>
          </a:p>
        </p:txBody>
      </p:sp>
      <p:sp>
        <p:nvSpPr>
          <p:cNvPr id="5" name="Text 3"/>
          <p:cNvSpPr/>
          <p:nvPr/>
        </p:nvSpPr>
        <p:spPr>
          <a:xfrm>
            <a:off x="1046480" y="2184400"/>
            <a:ext cx="2121738" cy="27432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238441"/>
                </a:solidFill>
                <a:latin typeface="Montserrat" pitchFamily="34" charset="0"/>
                <a:ea typeface="Montserrat" pitchFamily="34" charset="-122"/>
                <a:cs typeface="Montserrat" pitchFamily="34" charset="-120"/>
              </a:rPr>
              <a:t>1. Показатель</a:t>
            </a:r>
            <a:endParaRPr lang="en-US" sz="1400" dirty="0"/>
          </a:p>
        </p:txBody>
      </p:sp>
      <p:sp>
        <p:nvSpPr>
          <p:cNvPr id="6" name="Text 4"/>
          <p:cNvSpPr/>
          <p:nvPr/>
        </p:nvSpPr>
        <p:spPr>
          <a:xfrm>
            <a:off x="1046480" y="2534921"/>
            <a:ext cx="2121738" cy="416560"/>
          </a:xfrm>
          <a:prstGeom prst="rect">
            <a:avLst/>
          </a:prstGeom>
          <a:noFill/>
          <a:ln/>
        </p:spPr>
        <p:txBody>
          <a:bodyPr wrap="square" lIns="0" tIns="0" rIns="0" bIns="0" rtlCol="0" anchor="t">
            <a:normAutofit/>
          </a:bodyPr>
          <a:lstStyle/>
          <a:p>
            <a:pPr marL="0" indent="0" algn="l">
              <a:lnSpc>
                <a:spcPts val="3080"/>
              </a:lnSpc>
              <a:buNone/>
            </a:pPr>
            <a:r>
              <a:rPr lang="en-US" sz="2800" b="1" dirty="0">
                <a:solidFill>
                  <a:srgbClr val="1F4424"/>
                </a:solidFill>
                <a:latin typeface="Montserrat" pitchFamily="34" charset="0"/>
                <a:ea typeface="Montserrat" pitchFamily="34" charset="-122"/>
                <a:cs typeface="Montserrat" pitchFamily="34" charset="-120"/>
              </a:rPr>
              <a:t>25,5 ц/га</a:t>
            </a:r>
            <a:endParaRPr lang="en-US" sz="2800" dirty="0"/>
          </a:p>
        </p:txBody>
      </p:sp>
      <p:sp>
        <p:nvSpPr>
          <p:cNvPr id="7" name="Text 5"/>
          <p:cNvSpPr/>
          <p:nvPr/>
        </p:nvSpPr>
        <p:spPr>
          <a:xfrm>
            <a:off x="1046480" y="3027682"/>
            <a:ext cx="2121738" cy="48768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3F4F43"/>
                </a:solidFill>
                <a:latin typeface="IBM Plex Sans" pitchFamily="34" charset="0"/>
                <a:ea typeface="IBM Plex Sans" pitchFamily="34" charset="-122"/>
                <a:cs typeface="IBM Plex Sans" pitchFamily="34" charset="-120"/>
              </a:rPr>
              <a:t>урожайность озимой пшеницы края</a:t>
            </a:r>
            <a:endParaRPr lang="en-US" sz="1300" dirty="0"/>
          </a:p>
        </p:txBody>
      </p:sp>
      <p:sp>
        <p:nvSpPr>
          <p:cNvPr id="8" name="Shape 6"/>
          <p:cNvSpPr/>
          <p:nvPr/>
        </p:nvSpPr>
        <p:spPr>
          <a:xfrm>
            <a:off x="3495675" y="1953896"/>
            <a:ext cx="2520950" cy="1997710"/>
          </a:xfrm>
          <a:prstGeom prst="roundRect">
            <a:avLst>
              <a:gd name="adj" fmla="val 4927"/>
            </a:avLst>
          </a:prstGeom>
          <a:solidFill>
            <a:srgbClr val="FCFCF8"/>
          </a:solidFill>
          <a:ln w="6350">
            <a:solidFill>
              <a:srgbClr val="DDE2D3"/>
            </a:solidFill>
            <a:prstDash val="solid"/>
          </a:ln>
          <a:effectLst>
            <a:outerShdw blurRad="50800" dist="38100" dir="5400000" algn="t" rotWithShape="0">
              <a:prstClr val="black">
                <a:alpha val="40000"/>
              </a:prstClr>
            </a:outerShdw>
          </a:effectLst>
        </p:spPr>
        <p:txBody>
          <a:bodyPr/>
          <a:lstStyle/>
          <a:p>
            <a:endParaRPr lang="ru-RU"/>
          </a:p>
        </p:txBody>
      </p:sp>
      <p:sp>
        <p:nvSpPr>
          <p:cNvPr id="9" name="Text 7"/>
          <p:cNvSpPr/>
          <p:nvPr/>
        </p:nvSpPr>
        <p:spPr>
          <a:xfrm>
            <a:off x="3726180" y="2184400"/>
            <a:ext cx="2121738" cy="27432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238441"/>
                </a:solidFill>
                <a:latin typeface="Montserrat" pitchFamily="34" charset="0"/>
                <a:ea typeface="Montserrat" pitchFamily="34" charset="-122"/>
                <a:cs typeface="Montserrat" pitchFamily="34" charset="-120"/>
              </a:rPr>
              <a:t>2. Динамика</a:t>
            </a:r>
            <a:endParaRPr lang="en-US" sz="1400" dirty="0"/>
          </a:p>
        </p:txBody>
      </p:sp>
      <p:sp>
        <p:nvSpPr>
          <p:cNvPr id="10" name="Text 8"/>
          <p:cNvSpPr/>
          <p:nvPr/>
        </p:nvSpPr>
        <p:spPr>
          <a:xfrm>
            <a:off x="3726180" y="2534921"/>
            <a:ext cx="2121738" cy="416560"/>
          </a:xfrm>
          <a:prstGeom prst="rect">
            <a:avLst/>
          </a:prstGeom>
          <a:noFill/>
          <a:ln/>
        </p:spPr>
        <p:txBody>
          <a:bodyPr wrap="square" lIns="0" tIns="0" rIns="0" bIns="0" rtlCol="0" anchor="t">
            <a:normAutofit/>
          </a:bodyPr>
          <a:lstStyle/>
          <a:p>
            <a:pPr marL="0" indent="0" algn="l">
              <a:lnSpc>
                <a:spcPts val="3080"/>
              </a:lnSpc>
              <a:buNone/>
            </a:pPr>
            <a:r>
              <a:rPr lang="en-US" sz="2800" b="1" dirty="0">
                <a:solidFill>
                  <a:srgbClr val="B23A2E"/>
                </a:solidFill>
                <a:latin typeface="Montserrat" pitchFamily="34" charset="0"/>
                <a:ea typeface="Montserrat" pitchFamily="34" charset="-122"/>
                <a:cs typeface="Montserrat" pitchFamily="34" charset="-120"/>
              </a:rPr>
              <a:t>-33%</a:t>
            </a:r>
            <a:endParaRPr lang="en-US" sz="2800" dirty="0"/>
          </a:p>
        </p:txBody>
      </p:sp>
      <p:sp>
        <p:nvSpPr>
          <p:cNvPr id="11" name="Text 9"/>
          <p:cNvSpPr/>
          <p:nvPr/>
        </p:nvSpPr>
        <p:spPr>
          <a:xfrm>
            <a:off x="3726180" y="3027682"/>
            <a:ext cx="2121738" cy="48768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3F4F43"/>
                </a:solidFill>
                <a:latin typeface="IBM Plex Sans" pitchFamily="34" charset="0"/>
                <a:ea typeface="IBM Plex Sans" pitchFamily="34" charset="-122"/>
                <a:cs typeface="IBM Plex Sans" pitchFamily="34" charset="-120"/>
              </a:rPr>
              <a:t>к тренду, худший год ряда 2008-2025</a:t>
            </a:r>
            <a:endParaRPr lang="en-US" sz="1300" dirty="0"/>
          </a:p>
        </p:txBody>
      </p:sp>
      <p:sp>
        <p:nvSpPr>
          <p:cNvPr id="12" name="Shape 10"/>
          <p:cNvSpPr/>
          <p:nvPr/>
        </p:nvSpPr>
        <p:spPr>
          <a:xfrm>
            <a:off x="6175375" y="1953896"/>
            <a:ext cx="2520950" cy="1997710"/>
          </a:xfrm>
          <a:prstGeom prst="roundRect">
            <a:avLst>
              <a:gd name="adj" fmla="val 4927"/>
            </a:avLst>
          </a:prstGeom>
          <a:solidFill>
            <a:srgbClr val="FCFCF8"/>
          </a:solidFill>
          <a:ln w="6350">
            <a:solidFill>
              <a:srgbClr val="DDE2D3"/>
            </a:solidFill>
            <a:prstDash val="solid"/>
          </a:ln>
          <a:effectLst>
            <a:outerShdw blurRad="50800" dist="38100" dir="5400000" algn="t" rotWithShape="0">
              <a:prstClr val="black">
                <a:alpha val="40000"/>
              </a:prstClr>
            </a:outerShdw>
          </a:effectLst>
        </p:spPr>
        <p:txBody>
          <a:bodyPr/>
          <a:lstStyle/>
          <a:p>
            <a:endParaRPr lang="ru-RU"/>
          </a:p>
        </p:txBody>
      </p:sp>
      <p:sp>
        <p:nvSpPr>
          <p:cNvPr id="13" name="Text 11"/>
          <p:cNvSpPr/>
          <p:nvPr/>
        </p:nvSpPr>
        <p:spPr>
          <a:xfrm>
            <a:off x="6405880" y="2184400"/>
            <a:ext cx="2121738" cy="27432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238441"/>
                </a:solidFill>
                <a:latin typeface="Montserrat" pitchFamily="34" charset="0"/>
                <a:ea typeface="Montserrat" pitchFamily="34" charset="-122"/>
                <a:cs typeface="Montserrat" pitchFamily="34" charset="-120"/>
              </a:rPr>
              <a:t>3. Регион</a:t>
            </a:r>
            <a:endParaRPr lang="en-US" sz="1400" dirty="0"/>
          </a:p>
        </p:txBody>
      </p:sp>
      <p:sp>
        <p:nvSpPr>
          <p:cNvPr id="14" name="Text 12"/>
          <p:cNvSpPr/>
          <p:nvPr/>
        </p:nvSpPr>
        <p:spPr>
          <a:xfrm>
            <a:off x="6405880" y="2534921"/>
            <a:ext cx="2121738" cy="416560"/>
          </a:xfrm>
          <a:prstGeom prst="rect">
            <a:avLst/>
          </a:prstGeom>
          <a:noFill/>
          <a:ln/>
        </p:spPr>
        <p:txBody>
          <a:bodyPr wrap="square" lIns="0" tIns="0" rIns="0" bIns="0" rtlCol="0" anchor="t">
            <a:normAutofit/>
          </a:bodyPr>
          <a:lstStyle/>
          <a:p>
            <a:pPr marL="0" indent="0" algn="l">
              <a:lnSpc>
                <a:spcPts val="3080"/>
              </a:lnSpc>
              <a:buNone/>
            </a:pPr>
            <a:r>
              <a:rPr lang="en-US" sz="2800" b="1" dirty="0">
                <a:solidFill>
                  <a:srgbClr val="B23A2E"/>
                </a:solidFill>
                <a:latin typeface="Montserrat" pitchFamily="34" charset="0"/>
                <a:ea typeface="Montserrat" pitchFamily="34" charset="-122"/>
                <a:cs typeface="Montserrat" pitchFamily="34" charset="-120"/>
              </a:rPr>
              <a:t>-53%</a:t>
            </a:r>
            <a:endParaRPr lang="en-US" sz="2800" dirty="0"/>
          </a:p>
        </p:txBody>
      </p:sp>
      <p:sp>
        <p:nvSpPr>
          <p:cNvPr id="15" name="Text 13"/>
          <p:cNvSpPr/>
          <p:nvPr/>
        </p:nvSpPr>
        <p:spPr>
          <a:xfrm>
            <a:off x="6405880" y="3027682"/>
            <a:ext cx="2121738" cy="71882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3F4F43"/>
                </a:solidFill>
                <a:latin typeface="IBM Plex Sans" pitchFamily="34" charset="0"/>
                <a:ea typeface="IBM Plex Sans" pitchFamily="34" charset="-122"/>
                <a:cs typeface="IBM Plex Sans" pitchFamily="34" charset="-120"/>
              </a:rPr>
              <a:t>Труновский округ, у Грачевского и Петровского -51%</a:t>
            </a:r>
            <a:endParaRPr lang="en-US" sz="1300" dirty="0"/>
          </a:p>
        </p:txBody>
      </p:sp>
      <p:sp>
        <p:nvSpPr>
          <p:cNvPr id="16" name="Shape 14"/>
          <p:cNvSpPr/>
          <p:nvPr/>
        </p:nvSpPr>
        <p:spPr>
          <a:xfrm>
            <a:off x="8855075" y="1953896"/>
            <a:ext cx="2520950" cy="1997710"/>
          </a:xfrm>
          <a:prstGeom prst="roundRect">
            <a:avLst>
              <a:gd name="adj" fmla="val 4927"/>
            </a:avLst>
          </a:prstGeom>
          <a:solidFill>
            <a:srgbClr val="FCFCF8"/>
          </a:solidFill>
          <a:ln w="6350">
            <a:solidFill>
              <a:srgbClr val="DDE2D3"/>
            </a:solidFill>
            <a:prstDash val="solid"/>
          </a:ln>
          <a:effectLst>
            <a:outerShdw blurRad="50800" dist="38100" dir="5400000" algn="t" rotWithShape="0">
              <a:prstClr val="black">
                <a:alpha val="40000"/>
              </a:prstClr>
            </a:outerShdw>
          </a:effectLst>
        </p:spPr>
        <p:txBody>
          <a:bodyPr/>
          <a:lstStyle/>
          <a:p>
            <a:endParaRPr lang="ru-RU"/>
          </a:p>
        </p:txBody>
      </p:sp>
      <p:sp>
        <p:nvSpPr>
          <p:cNvPr id="17" name="Text 15"/>
          <p:cNvSpPr/>
          <p:nvPr/>
        </p:nvSpPr>
        <p:spPr>
          <a:xfrm>
            <a:off x="9085580" y="2184400"/>
            <a:ext cx="2121738" cy="27432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238441"/>
                </a:solidFill>
                <a:latin typeface="Montserrat" pitchFamily="34" charset="0"/>
                <a:ea typeface="Montserrat" pitchFamily="34" charset="-122"/>
                <a:cs typeface="Montserrat" pitchFamily="34" charset="-120"/>
              </a:rPr>
              <a:t>4. Фактор</a:t>
            </a:r>
            <a:endParaRPr lang="en-US" sz="1400" dirty="0"/>
          </a:p>
        </p:txBody>
      </p:sp>
      <p:sp>
        <p:nvSpPr>
          <p:cNvPr id="18" name="Text 16"/>
          <p:cNvSpPr/>
          <p:nvPr/>
        </p:nvSpPr>
        <p:spPr>
          <a:xfrm>
            <a:off x="9085580" y="2534921"/>
            <a:ext cx="2121738" cy="416560"/>
          </a:xfrm>
          <a:prstGeom prst="rect">
            <a:avLst/>
          </a:prstGeom>
          <a:noFill/>
          <a:ln/>
        </p:spPr>
        <p:txBody>
          <a:bodyPr wrap="square" lIns="0" tIns="0" rIns="0" bIns="0" rtlCol="0" anchor="t">
            <a:normAutofit/>
          </a:bodyPr>
          <a:lstStyle/>
          <a:p>
            <a:pPr marL="0" indent="0" algn="l">
              <a:lnSpc>
                <a:spcPts val="3080"/>
              </a:lnSpc>
              <a:buNone/>
            </a:pPr>
            <a:r>
              <a:rPr lang="en-US" sz="2800" b="1" dirty="0">
                <a:solidFill>
                  <a:srgbClr val="1F4424"/>
                </a:solidFill>
                <a:latin typeface="Montserrat" pitchFamily="34" charset="0"/>
                <a:ea typeface="Montserrat" pitchFamily="34" charset="-122"/>
                <a:cs typeface="Montserrat" pitchFamily="34" charset="-120"/>
              </a:rPr>
              <a:t>70%</a:t>
            </a:r>
            <a:endParaRPr lang="en-US" sz="2800" dirty="0"/>
          </a:p>
        </p:txBody>
      </p:sp>
      <p:sp>
        <p:nvSpPr>
          <p:cNvPr id="19" name="Text 17"/>
          <p:cNvSpPr/>
          <p:nvPr/>
        </p:nvSpPr>
        <p:spPr>
          <a:xfrm>
            <a:off x="9085580" y="3027682"/>
            <a:ext cx="2121738" cy="71882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3F4F43"/>
                </a:solidFill>
                <a:latin typeface="IBM Plex Sans" pitchFamily="34" charset="0"/>
                <a:ea typeface="IBM Plex Sans" pitchFamily="34" charset="-122"/>
                <a:cs typeface="IBM Plex Sans" pitchFamily="34" charset="-120"/>
              </a:rPr>
              <a:t>нормы осадков весной и май-июнь теплее нормы на 1 °C</a:t>
            </a:r>
            <a:endParaRPr lang="en-US" sz="1300" dirty="0"/>
          </a:p>
        </p:txBody>
      </p:sp>
      <p:sp>
        <p:nvSpPr>
          <p:cNvPr id="20" name="Text 18"/>
          <p:cNvSpPr/>
          <p:nvPr/>
        </p:nvSpPr>
        <p:spPr>
          <a:xfrm>
            <a:off x="812800" y="4310382"/>
            <a:ext cx="10566400" cy="889000"/>
          </a:xfrm>
          <a:prstGeom prst="roundRect">
            <a:avLst>
              <a:gd name="adj" fmla="val 8571"/>
            </a:avLst>
          </a:prstGeom>
          <a:solidFill>
            <a:srgbClr val="ECEFE3"/>
          </a:solidFill>
          <a:ln>
            <a:solidFill>
              <a:schemeClr val="accent1"/>
            </a:solidFill>
          </a:ln>
        </p:spPr>
        <p:txBody>
          <a:bodyPr wrap="square" lIns="231682" tIns="155482" rIns="0" bIns="130082" rtlCol="0" anchor="t">
            <a:normAutofit/>
          </a:bodyPr>
          <a:lstStyle/>
          <a:p>
            <a:pPr marL="0" indent="0" algn="l">
              <a:lnSpc>
                <a:spcPts val="2100"/>
              </a:lnSpc>
              <a:buNone/>
            </a:pPr>
            <a:r>
              <a:rPr lang="en-US" sz="1500" dirty="0">
                <a:solidFill>
                  <a:srgbClr val="3F4F43"/>
                </a:solidFill>
                <a:latin typeface="IBM Plex Sans" pitchFamily="34" charset="0"/>
                <a:ea typeface="IBM Plex Sans" pitchFamily="34" charset="-122"/>
                <a:cs typeface="IBM Plex Sans" pitchFamily="34" charset="-120"/>
              </a:rPr>
              <a:t>На дашборде эта цепочка проходится кликами: карта и матрица отклонений, затем выбор округа, затем вклад погодных факторов из модели.</a:t>
            </a:r>
            <a:endParaRPr lang="en-US" sz="1500" dirty="0"/>
          </a:p>
        </p:txBody>
      </p:sp>
      <p:sp>
        <p:nvSpPr>
          <p:cNvPr id="22" name="Text 20"/>
          <p:cNvSpPr/>
          <p:nvPr/>
        </p:nvSpPr>
        <p:spPr>
          <a:xfrm>
            <a:off x="10058400" y="6238239"/>
            <a:ext cx="1320800" cy="23876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6B7A6E"/>
                </a:solidFill>
                <a:latin typeface="IBM Plex Sans" pitchFamily="34" charset="0"/>
                <a:ea typeface="IBM Plex Sans" pitchFamily="34" charset="-122"/>
                <a:cs typeface="IBM Plex Sans" pitchFamily="34" charset="-120"/>
              </a:rPr>
              <a:t>6</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5F6EF"/>
        </a:solidFill>
        <a:effectLst/>
      </p:bgPr>
    </p:bg>
    <p:spTree>
      <p:nvGrpSpPr>
        <p:cNvPr id="1" name=""/>
        <p:cNvGrpSpPr/>
        <p:nvPr/>
      </p:nvGrpSpPr>
      <p:grpSpPr>
        <a:xfrm>
          <a:off x="0" y="0"/>
          <a:ext cx="0" cy="0"/>
          <a:chOff x="0" y="0"/>
          <a:chExt cx="0" cy="0"/>
        </a:xfrm>
      </p:grpSpPr>
      <p:sp>
        <p:nvSpPr>
          <p:cNvPr id="3" name="Text 1"/>
          <p:cNvSpPr>
            <a:spLocks noGrp="1"/>
          </p:cNvSpPr>
          <p:nvPr>
            <p:ph type="title"/>
          </p:nvPr>
        </p:nvSpPr>
        <p:spPr>
          <a:xfrm>
            <a:off x="812800" y="812800"/>
            <a:ext cx="10883392" cy="792083"/>
          </a:xfrm>
          <a:prstGeom prst="rect">
            <a:avLst/>
          </a:prstGeom>
          <a:noFill/>
          <a:ln/>
        </p:spPr>
        <p:txBody>
          <a:bodyPr wrap="square" lIns="0" tIns="0" rIns="0" bIns="0" rtlCol="0" anchor="t">
            <a:normAutofit/>
          </a:bodyPr>
          <a:lstStyle/>
          <a:p>
            <a:pPr marL="0" indent="0" algn="l">
              <a:lnSpc>
                <a:spcPts val="3032"/>
              </a:lnSpc>
              <a:buNone/>
            </a:pPr>
            <a:r>
              <a:rPr lang="en-US" sz="2756" b="1" i="0" dirty="0">
                <a:solidFill>
                  <a:srgbClr val="1F4424"/>
                </a:solidFill>
                <a:latin typeface="Montserrat" pitchFamily="34" charset="0"/>
                <a:ea typeface="Montserrat" pitchFamily="34" charset="-122"/>
                <a:cs typeface="Montserrat" pitchFamily="34" charset="-120"/>
              </a:rPr>
              <a:t>Экран "Обзор": состояние края и каждого округа на одной странице</a:t>
            </a:r>
            <a:endParaRPr lang="en-US" sz="2756" dirty="0"/>
          </a:p>
        </p:txBody>
      </p:sp>
      <p:pic>
        <p:nvPicPr>
          <p:cNvPr id="4" name="Image 0" descr="Скриншот экрана Обзор: карточки края, карта округов и паспорт округа"/>
          <p:cNvPicPr>
            <a:picLocks noChangeAspect="1"/>
          </p:cNvPicPr>
          <p:nvPr/>
        </p:nvPicPr>
        <p:blipFill>
          <a:blip r:embed="rId3"/>
          <a:srcRect t="-2" b="-2"/>
          <a:stretch/>
        </p:blipFill>
        <p:spPr>
          <a:xfrm>
            <a:off x="819150" y="1890635"/>
            <a:ext cx="6083300" cy="4025900"/>
          </a:xfrm>
          <a:prstGeom prst="roundRect">
            <a:avLst>
              <a:gd name="adj" fmla="val 1735"/>
            </a:avLst>
          </a:prstGeom>
          <a:ln>
            <a:solidFill>
              <a:schemeClr val="accent1"/>
            </a:solidFill>
          </a:ln>
        </p:spPr>
      </p:pic>
      <p:sp>
        <p:nvSpPr>
          <p:cNvPr id="5" name="Shape 2"/>
          <p:cNvSpPr/>
          <p:nvPr/>
        </p:nvSpPr>
        <p:spPr>
          <a:xfrm>
            <a:off x="815975" y="1887460"/>
            <a:ext cx="6089650" cy="4032250"/>
          </a:xfrm>
          <a:prstGeom prst="roundRect">
            <a:avLst>
              <a:gd name="adj" fmla="val 1811"/>
            </a:avLst>
          </a:prstGeom>
          <a:noFill/>
          <a:ln w="6350">
            <a:solidFill>
              <a:srgbClr val="DDE2D3"/>
            </a:solidFill>
            <a:prstDash val="solid"/>
          </a:ln>
        </p:spPr>
        <p:txBody>
          <a:bodyPr/>
          <a:lstStyle/>
          <a:p>
            <a:endParaRPr lang="ru-RU"/>
          </a:p>
        </p:txBody>
      </p:sp>
      <p:sp>
        <p:nvSpPr>
          <p:cNvPr id="6" name="Text 3"/>
          <p:cNvSpPr/>
          <p:nvPr/>
        </p:nvSpPr>
        <p:spPr>
          <a:xfrm>
            <a:off x="7213600" y="1884285"/>
            <a:ext cx="4290568"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238441"/>
                </a:solidFill>
                <a:latin typeface="Montserrat" pitchFamily="34" charset="0"/>
                <a:ea typeface="Montserrat" pitchFamily="34" charset="-122"/>
                <a:cs typeface="Montserrat" pitchFamily="34" charset="-120"/>
              </a:rPr>
              <a:t>Карта округов</a:t>
            </a:r>
            <a:endParaRPr lang="en-US" sz="1500" dirty="0"/>
          </a:p>
        </p:txBody>
      </p:sp>
      <p:sp>
        <p:nvSpPr>
          <p:cNvPr id="7" name="Text 4"/>
          <p:cNvSpPr/>
          <p:nvPr/>
        </p:nvSpPr>
        <p:spPr>
          <a:xfrm>
            <a:off x="7213600" y="2163685"/>
            <a:ext cx="4290568" cy="48768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3F4F43"/>
                </a:solidFill>
                <a:latin typeface="IBM Plex Sans" pitchFamily="34" charset="0"/>
                <a:ea typeface="IBM Plex Sans" pitchFamily="34" charset="-122"/>
                <a:cs typeface="IBM Plex Sans" pitchFamily="34" charset="-120"/>
              </a:rPr>
              <a:t>6 показателей на выбор: урожайность, индекс, волатильность, 2020 год, осадки осени, риск убытка</a:t>
            </a:r>
            <a:endParaRPr lang="en-US" sz="1300" dirty="0"/>
          </a:p>
        </p:txBody>
      </p:sp>
      <p:sp>
        <p:nvSpPr>
          <p:cNvPr id="8" name="Text 5"/>
          <p:cNvSpPr/>
          <p:nvPr/>
        </p:nvSpPr>
        <p:spPr>
          <a:xfrm>
            <a:off x="7213600" y="2803764"/>
            <a:ext cx="4290568"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238441"/>
                </a:solidFill>
                <a:latin typeface="Montserrat" pitchFamily="34" charset="0"/>
                <a:ea typeface="Montserrat" pitchFamily="34" charset="-122"/>
                <a:cs typeface="Montserrat" pitchFamily="34" charset="-120"/>
              </a:rPr>
              <a:t>Паспорт округа</a:t>
            </a:r>
            <a:endParaRPr lang="en-US" sz="1500" dirty="0"/>
          </a:p>
        </p:txBody>
      </p:sp>
      <p:sp>
        <p:nvSpPr>
          <p:cNvPr id="9" name="Text 6"/>
          <p:cNvSpPr/>
          <p:nvPr/>
        </p:nvSpPr>
        <p:spPr>
          <a:xfrm>
            <a:off x="7213600" y="3083164"/>
            <a:ext cx="4290568" cy="48768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3F4F43"/>
                </a:solidFill>
                <a:latin typeface="IBM Plex Sans" pitchFamily="34" charset="0"/>
                <a:ea typeface="IBM Plex Sans" pitchFamily="34" charset="-122"/>
                <a:cs typeface="IBM Plex Sans" pitchFamily="34" charset="-120"/>
              </a:rPr>
              <a:t>10 ключевых показателей и отклонения урожая по годам</a:t>
            </a:r>
            <a:endParaRPr lang="en-US" sz="1300" dirty="0"/>
          </a:p>
        </p:txBody>
      </p:sp>
      <p:sp>
        <p:nvSpPr>
          <p:cNvPr id="10" name="Text 7"/>
          <p:cNvSpPr/>
          <p:nvPr/>
        </p:nvSpPr>
        <p:spPr>
          <a:xfrm>
            <a:off x="7213600" y="3723243"/>
            <a:ext cx="4290568"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238441"/>
                </a:solidFill>
                <a:latin typeface="Montserrat" pitchFamily="34" charset="0"/>
                <a:ea typeface="Montserrat" pitchFamily="34" charset="-122"/>
                <a:cs typeface="Montserrat" pitchFamily="34" charset="-120"/>
              </a:rPr>
              <a:t>Матрица отклонений</a:t>
            </a:r>
            <a:endParaRPr lang="en-US" sz="1500" dirty="0"/>
          </a:p>
        </p:txBody>
      </p:sp>
      <p:sp>
        <p:nvSpPr>
          <p:cNvPr id="11" name="Text 8"/>
          <p:cNvSpPr/>
          <p:nvPr/>
        </p:nvSpPr>
        <p:spPr>
          <a:xfrm>
            <a:off x="7213600" y="4002643"/>
            <a:ext cx="4290568" cy="48768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3F4F43"/>
                </a:solidFill>
                <a:latin typeface="IBM Plex Sans" pitchFamily="34" charset="0"/>
                <a:ea typeface="IBM Plex Sans" pitchFamily="34" charset="-122"/>
                <a:cs typeface="IBM Plex Sans" pitchFamily="34" charset="-120"/>
              </a:rPr>
              <a:t>26 округов за 16 лет: видно, где и когда были провалы</a:t>
            </a:r>
            <a:endParaRPr lang="en-US" sz="1300" dirty="0"/>
          </a:p>
        </p:txBody>
      </p:sp>
      <p:sp>
        <p:nvSpPr>
          <p:cNvPr id="13" name="Text 10"/>
          <p:cNvSpPr/>
          <p:nvPr/>
        </p:nvSpPr>
        <p:spPr>
          <a:xfrm>
            <a:off x="10058400" y="6238239"/>
            <a:ext cx="1320800" cy="23876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6B7A6E"/>
                </a:solidFill>
                <a:latin typeface="IBM Plex Sans" pitchFamily="34" charset="0"/>
                <a:ea typeface="IBM Plex Sans" pitchFamily="34" charset="-122"/>
                <a:cs typeface="IBM Plex Sans" pitchFamily="34" charset="-120"/>
              </a:rPr>
              <a:t>7</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5F6EF"/>
        </a:solidFill>
        <a:effectLst/>
      </p:bgPr>
    </p:bg>
    <p:spTree>
      <p:nvGrpSpPr>
        <p:cNvPr id="1" name=""/>
        <p:cNvGrpSpPr/>
        <p:nvPr/>
      </p:nvGrpSpPr>
      <p:grpSpPr>
        <a:xfrm>
          <a:off x="0" y="0"/>
          <a:ext cx="0" cy="0"/>
          <a:chOff x="0" y="0"/>
          <a:chExt cx="0" cy="0"/>
        </a:xfrm>
      </p:grpSpPr>
      <p:sp>
        <p:nvSpPr>
          <p:cNvPr id="3" name="Text 1"/>
          <p:cNvSpPr>
            <a:spLocks noGrp="1"/>
          </p:cNvSpPr>
          <p:nvPr>
            <p:ph type="title"/>
          </p:nvPr>
        </p:nvSpPr>
        <p:spPr>
          <a:xfrm>
            <a:off x="812800" y="812800"/>
            <a:ext cx="10883392" cy="807720"/>
          </a:xfrm>
          <a:prstGeom prst="rect">
            <a:avLst/>
          </a:prstGeom>
          <a:noFill/>
          <a:ln/>
        </p:spPr>
        <p:txBody>
          <a:bodyPr wrap="square" lIns="0" tIns="0" rIns="0" bIns="0" rtlCol="0" anchor="t">
            <a:normAutofit/>
          </a:bodyPr>
          <a:lstStyle/>
          <a:p>
            <a:pPr marL="0" indent="0" algn="l">
              <a:lnSpc>
                <a:spcPts val="3080"/>
              </a:lnSpc>
              <a:buNone/>
            </a:pPr>
            <a:r>
              <a:rPr lang="en-US" sz="2800" b="1" i="0" dirty="0">
                <a:solidFill>
                  <a:srgbClr val="1F4424"/>
                </a:solidFill>
                <a:latin typeface="Montserrat" pitchFamily="34" charset="0"/>
                <a:ea typeface="Montserrat" pitchFamily="34" charset="-122"/>
                <a:cs typeface="Montserrat" pitchFamily="34" charset="-120"/>
              </a:rPr>
              <a:t>Экран "Урожайность и погода": модель показывает, какие факторы двигают урожай</a:t>
            </a:r>
            <a:endParaRPr lang="en-US" sz="2800" dirty="0"/>
          </a:p>
        </p:txBody>
      </p:sp>
      <p:pic>
        <p:nvPicPr>
          <p:cNvPr id="4" name="Image 0" descr="Эффекты погодных факторов на урожайность с доверительными интервалами"/>
          <p:cNvPicPr>
            <a:picLocks noChangeAspect="1"/>
          </p:cNvPicPr>
          <p:nvPr/>
        </p:nvPicPr>
        <p:blipFill>
          <a:blip r:embed="rId3"/>
          <a:srcRect l="-123" r="-123"/>
          <a:stretch/>
        </p:blipFill>
        <p:spPr>
          <a:xfrm>
            <a:off x="819150" y="1906271"/>
            <a:ext cx="5168900" cy="2946400"/>
          </a:xfrm>
          <a:prstGeom prst="roundRect">
            <a:avLst>
              <a:gd name="adj" fmla="val 2371"/>
            </a:avLst>
          </a:prstGeom>
          <a:ln>
            <a:solidFill>
              <a:schemeClr val="accent1"/>
            </a:solidFill>
          </a:ln>
        </p:spPr>
      </p:pic>
      <p:sp>
        <p:nvSpPr>
          <p:cNvPr id="5" name="Shape 2"/>
          <p:cNvSpPr/>
          <p:nvPr/>
        </p:nvSpPr>
        <p:spPr>
          <a:xfrm>
            <a:off x="815975" y="1903096"/>
            <a:ext cx="5175250" cy="2952750"/>
          </a:xfrm>
          <a:prstGeom prst="roundRect">
            <a:avLst>
              <a:gd name="adj" fmla="val 2473"/>
            </a:avLst>
          </a:prstGeom>
          <a:noFill/>
          <a:ln w="6350">
            <a:solidFill>
              <a:srgbClr val="DDE2D3"/>
            </a:solidFill>
            <a:prstDash val="solid"/>
          </a:ln>
        </p:spPr>
        <p:txBody>
          <a:bodyPr/>
          <a:lstStyle/>
          <a:p>
            <a:endParaRPr lang="ru-RU"/>
          </a:p>
        </p:txBody>
      </p:sp>
      <p:sp>
        <p:nvSpPr>
          <p:cNvPr id="6" name="Text 3"/>
          <p:cNvSpPr/>
          <p:nvPr/>
        </p:nvSpPr>
        <p:spPr>
          <a:xfrm>
            <a:off x="812800" y="4986021"/>
            <a:ext cx="5337048" cy="48768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3F4F43"/>
                </a:solidFill>
                <a:latin typeface="IBM Plex Sans" pitchFamily="34" charset="0"/>
                <a:ea typeface="IBM Plex Sans" pitchFamily="34" charset="-122"/>
                <a:cs typeface="IBM Plex Sans" pitchFamily="34" charset="-120"/>
              </a:rPr>
              <a:t>Панельная регрессия по 408 наблюдениям: значимы жара мая-июня и осадки весны</a:t>
            </a:r>
            <a:endParaRPr lang="en-US" sz="1300" dirty="0"/>
          </a:p>
        </p:txBody>
      </p:sp>
      <p:pic>
        <p:nvPicPr>
          <p:cNvPr id="7" name="Image 1" descr="Осадки весны и отклонение урожайности от тренда"/>
          <p:cNvPicPr>
            <a:picLocks noChangeAspect="1"/>
          </p:cNvPicPr>
          <p:nvPr/>
        </p:nvPicPr>
        <p:blipFill>
          <a:blip r:embed="rId4"/>
          <a:stretch>
            <a:fillRect/>
          </a:stretch>
        </p:blipFill>
        <p:spPr>
          <a:xfrm>
            <a:off x="6437387" y="1906271"/>
            <a:ext cx="4702027" cy="2946400"/>
          </a:xfrm>
          <a:prstGeom prst="rect">
            <a:avLst/>
          </a:prstGeom>
          <a:ln>
            <a:solidFill>
              <a:schemeClr val="accent1"/>
            </a:solidFill>
          </a:ln>
        </p:spPr>
      </p:pic>
      <p:sp>
        <p:nvSpPr>
          <p:cNvPr id="8" name="Shape 4"/>
          <p:cNvSpPr/>
          <p:nvPr/>
        </p:nvSpPr>
        <p:spPr>
          <a:xfrm>
            <a:off x="6200775" y="1903096"/>
            <a:ext cx="5175250" cy="2952750"/>
          </a:xfrm>
          <a:prstGeom prst="roundRect">
            <a:avLst>
              <a:gd name="adj" fmla="val 2473"/>
            </a:avLst>
          </a:prstGeom>
          <a:noFill/>
          <a:ln w="6350">
            <a:solidFill>
              <a:srgbClr val="DDE2D3"/>
            </a:solidFill>
            <a:prstDash val="solid"/>
          </a:ln>
        </p:spPr>
        <p:txBody>
          <a:bodyPr/>
          <a:lstStyle/>
          <a:p>
            <a:endParaRPr lang="ru-RU"/>
          </a:p>
        </p:txBody>
      </p:sp>
      <p:sp>
        <p:nvSpPr>
          <p:cNvPr id="9" name="Text 5"/>
          <p:cNvSpPr/>
          <p:nvPr/>
        </p:nvSpPr>
        <p:spPr>
          <a:xfrm>
            <a:off x="6197600" y="4986021"/>
            <a:ext cx="5337048" cy="48768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3F4F43"/>
                </a:solidFill>
                <a:latin typeface="IBM Plex Sans" pitchFamily="34" charset="0"/>
                <a:ea typeface="IBM Plex Sans" pitchFamily="34" charset="-122"/>
                <a:cs typeface="IBM Plex Sans" pitchFamily="34" charset="-120"/>
              </a:rPr>
              <a:t>Чем суше весна, тем ниже урожай: r = 0,49, эффект удвоения осадков +17%</a:t>
            </a:r>
            <a:endParaRPr lang="en-US" sz="1300" dirty="0"/>
          </a:p>
        </p:txBody>
      </p:sp>
      <p:sp>
        <p:nvSpPr>
          <p:cNvPr id="11" name="Text 7"/>
          <p:cNvSpPr/>
          <p:nvPr/>
        </p:nvSpPr>
        <p:spPr>
          <a:xfrm>
            <a:off x="10058400" y="6238242"/>
            <a:ext cx="1320800" cy="23876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6B7A6E"/>
                </a:solidFill>
                <a:latin typeface="IBM Plex Sans" pitchFamily="34" charset="0"/>
                <a:ea typeface="IBM Plex Sans" pitchFamily="34" charset="-122"/>
                <a:cs typeface="IBM Plex Sans" pitchFamily="34" charset="-120"/>
              </a:rPr>
              <a:t>8</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5F6EF"/>
        </a:solidFill>
        <a:effectLst/>
      </p:bgPr>
    </p:bg>
    <p:spTree>
      <p:nvGrpSpPr>
        <p:cNvPr id="1" name=""/>
        <p:cNvGrpSpPr/>
        <p:nvPr/>
      </p:nvGrpSpPr>
      <p:grpSpPr>
        <a:xfrm>
          <a:off x="0" y="0"/>
          <a:ext cx="0" cy="0"/>
          <a:chOff x="0" y="0"/>
          <a:chExt cx="0" cy="0"/>
        </a:xfrm>
      </p:grpSpPr>
      <p:sp>
        <p:nvSpPr>
          <p:cNvPr id="3" name="Text 1"/>
          <p:cNvSpPr>
            <a:spLocks noGrp="1"/>
          </p:cNvSpPr>
          <p:nvPr>
            <p:ph type="title"/>
          </p:nvPr>
        </p:nvSpPr>
        <p:spPr>
          <a:xfrm>
            <a:off x="812800" y="812800"/>
            <a:ext cx="10883392" cy="756603"/>
          </a:xfrm>
          <a:prstGeom prst="rect">
            <a:avLst/>
          </a:prstGeom>
          <a:noFill/>
          <a:ln/>
        </p:spPr>
        <p:txBody>
          <a:bodyPr wrap="square" lIns="0" tIns="0" rIns="0" bIns="0" rtlCol="0" anchor="t">
            <a:normAutofit/>
          </a:bodyPr>
          <a:lstStyle/>
          <a:p>
            <a:pPr marL="0" indent="0" algn="l">
              <a:lnSpc>
                <a:spcPts val="2878"/>
              </a:lnSpc>
              <a:buNone/>
            </a:pPr>
            <a:r>
              <a:rPr lang="en-US" sz="2616" b="1" i="0" dirty="0">
                <a:solidFill>
                  <a:srgbClr val="1F4424"/>
                </a:solidFill>
                <a:latin typeface="Montserrat" pitchFamily="34" charset="0"/>
                <a:ea typeface="Montserrat" pitchFamily="34" charset="-122"/>
                <a:cs typeface="Montserrat" pitchFamily="34" charset="-120"/>
              </a:rPr>
              <a:t>Экран "Рынок и маржа": когда продавать и сколько остается с гектара</a:t>
            </a:r>
            <a:endParaRPr lang="en-US" sz="2616" dirty="0"/>
          </a:p>
        </p:txBody>
      </p:sp>
      <p:pic>
        <p:nvPicPr>
          <p:cNvPr id="4" name="Image 0" descr="Сезонный индекс цены пшеницы по месяцам"/>
          <p:cNvPicPr>
            <a:picLocks noChangeAspect="1"/>
          </p:cNvPicPr>
          <p:nvPr/>
        </p:nvPicPr>
        <p:blipFill>
          <a:blip r:embed="rId3"/>
          <a:stretch>
            <a:fillRect/>
          </a:stretch>
        </p:blipFill>
        <p:spPr>
          <a:xfrm>
            <a:off x="985140" y="1855155"/>
            <a:ext cx="5370320" cy="3670300"/>
          </a:xfrm>
          <a:prstGeom prst="rect">
            <a:avLst/>
          </a:prstGeom>
          <a:ln>
            <a:solidFill>
              <a:schemeClr val="accent1"/>
            </a:solidFill>
          </a:ln>
        </p:spPr>
      </p:pic>
      <p:sp>
        <p:nvSpPr>
          <p:cNvPr id="5" name="Shape 2"/>
          <p:cNvSpPr/>
          <p:nvPr/>
        </p:nvSpPr>
        <p:spPr>
          <a:xfrm>
            <a:off x="815975" y="1851980"/>
            <a:ext cx="5708650" cy="3676650"/>
          </a:xfrm>
          <a:prstGeom prst="roundRect">
            <a:avLst>
              <a:gd name="adj" fmla="val 1986"/>
            </a:avLst>
          </a:prstGeom>
          <a:noFill/>
          <a:ln w="6350">
            <a:solidFill>
              <a:srgbClr val="DDE2D3"/>
            </a:solidFill>
            <a:prstDash val="solid"/>
          </a:ln>
        </p:spPr>
        <p:txBody>
          <a:bodyPr/>
          <a:lstStyle/>
          <a:p>
            <a:endParaRPr lang="ru-RU"/>
          </a:p>
        </p:txBody>
      </p:sp>
      <p:sp>
        <p:nvSpPr>
          <p:cNvPr id="6" name="Text 3"/>
          <p:cNvSpPr/>
          <p:nvPr/>
        </p:nvSpPr>
        <p:spPr>
          <a:xfrm>
            <a:off x="812800" y="5658805"/>
            <a:ext cx="5886450" cy="25654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3F4F43"/>
                </a:solidFill>
                <a:latin typeface="IBM Plex Sans" pitchFamily="34" charset="0"/>
                <a:ea typeface="IBM Plex Sans" pitchFamily="34" charset="-122"/>
                <a:cs typeface="IBM Plex Sans" pitchFamily="34" charset="-120"/>
              </a:rPr>
              <a:t>STL-разложение цены: весной цена выше тренда, в августе ниже</a:t>
            </a:r>
            <a:endParaRPr lang="en-US" sz="1300" dirty="0"/>
          </a:p>
        </p:txBody>
      </p:sp>
      <p:pic>
        <p:nvPicPr>
          <p:cNvPr id="7" name="Image 1" descr="Калькулятор маржи 2027 с анализом чувствительности"/>
          <p:cNvPicPr>
            <a:picLocks noChangeAspect="1"/>
          </p:cNvPicPr>
          <p:nvPr/>
        </p:nvPicPr>
        <p:blipFill>
          <a:blip r:embed="rId4"/>
          <a:stretch>
            <a:fillRect/>
          </a:stretch>
        </p:blipFill>
        <p:spPr>
          <a:xfrm>
            <a:off x="6882048" y="1855155"/>
            <a:ext cx="3761905" cy="3670300"/>
          </a:xfrm>
          <a:prstGeom prst="rect">
            <a:avLst/>
          </a:prstGeom>
          <a:ln>
            <a:solidFill>
              <a:schemeClr val="accent1"/>
            </a:solidFill>
          </a:ln>
        </p:spPr>
      </p:pic>
      <p:sp>
        <p:nvSpPr>
          <p:cNvPr id="8" name="Shape 4"/>
          <p:cNvSpPr/>
          <p:nvPr/>
        </p:nvSpPr>
        <p:spPr>
          <a:xfrm>
            <a:off x="6734175" y="1851980"/>
            <a:ext cx="4057650" cy="3676650"/>
          </a:xfrm>
          <a:prstGeom prst="roundRect">
            <a:avLst>
              <a:gd name="adj" fmla="val 1986"/>
            </a:avLst>
          </a:prstGeom>
          <a:noFill/>
          <a:ln w="6350">
            <a:solidFill>
              <a:srgbClr val="DDE2D3"/>
            </a:solidFill>
            <a:prstDash val="solid"/>
          </a:ln>
        </p:spPr>
        <p:txBody>
          <a:bodyPr/>
          <a:lstStyle/>
          <a:p>
            <a:endParaRPr lang="ru-RU"/>
          </a:p>
        </p:txBody>
      </p:sp>
      <p:sp>
        <p:nvSpPr>
          <p:cNvPr id="9" name="Text 5"/>
          <p:cNvSpPr/>
          <p:nvPr/>
        </p:nvSpPr>
        <p:spPr>
          <a:xfrm>
            <a:off x="6731000" y="5658805"/>
            <a:ext cx="4787646" cy="48768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3F4F43"/>
                </a:solidFill>
                <a:latin typeface="IBM Plex Sans" pitchFamily="34" charset="0"/>
                <a:ea typeface="IBM Plex Sans" pitchFamily="34" charset="-122"/>
                <a:cs typeface="IBM Plex Sans" pitchFamily="34" charset="-120"/>
              </a:rPr>
              <a:t>Калькулятор маржи и чувствительность к цене, урожаю и затратам</a:t>
            </a:r>
            <a:endParaRPr lang="en-US" sz="1300" dirty="0"/>
          </a:p>
        </p:txBody>
      </p:sp>
      <p:sp>
        <p:nvSpPr>
          <p:cNvPr id="11" name="Text 7"/>
          <p:cNvSpPr/>
          <p:nvPr/>
        </p:nvSpPr>
        <p:spPr>
          <a:xfrm>
            <a:off x="10058400" y="6238242"/>
            <a:ext cx="1320800" cy="23876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6B7A6E"/>
                </a:solidFill>
                <a:latin typeface="IBM Plex Sans" pitchFamily="34" charset="0"/>
                <a:ea typeface="IBM Plex Sans" pitchFamily="34" charset="-122"/>
                <a:cs typeface="IBM Plex Sans" pitchFamily="34" charset="-120"/>
              </a:rPr>
              <a:t>9</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5F6EF"/>
        </a:solidFill>
        <a:effectLst/>
      </p:bgPr>
    </p:bg>
    <p:spTree>
      <p:nvGrpSpPr>
        <p:cNvPr id="1" name=""/>
        <p:cNvGrpSpPr/>
        <p:nvPr/>
      </p:nvGrpSpPr>
      <p:grpSpPr>
        <a:xfrm>
          <a:off x="0" y="0"/>
          <a:ext cx="0" cy="0"/>
          <a:chOff x="0" y="0"/>
          <a:chExt cx="0" cy="0"/>
        </a:xfrm>
      </p:grpSpPr>
      <p:sp>
        <p:nvSpPr>
          <p:cNvPr id="3" name="Text 1"/>
          <p:cNvSpPr>
            <a:spLocks noGrp="1"/>
          </p:cNvSpPr>
          <p:nvPr>
            <p:ph type="title"/>
          </p:nvPr>
        </p:nvSpPr>
        <p:spPr>
          <a:xfrm>
            <a:off x="812800" y="812800"/>
            <a:ext cx="10883392" cy="807720"/>
          </a:xfrm>
          <a:prstGeom prst="rect">
            <a:avLst/>
          </a:prstGeom>
          <a:noFill/>
          <a:ln/>
        </p:spPr>
        <p:txBody>
          <a:bodyPr wrap="square" lIns="0" tIns="0" rIns="0" bIns="0" rtlCol="0" anchor="t">
            <a:normAutofit/>
          </a:bodyPr>
          <a:lstStyle/>
          <a:p>
            <a:pPr marL="0" indent="0" algn="l">
              <a:lnSpc>
                <a:spcPts val="3080"/>
              </a:lnSpc>
              <a:buNone/>
            </a:pPr>
            <a:r>
              <a:rPr lang="en-US" sz="2800" b="1" i="0" dirty="0">
                <a:solidFill>
                  <a:srgbClr val="1F4424"/>
                </a:solidFill>
                <a:latin typeface="Montserrat" pitchFamily="34" charset="0"/>
                <a:ea typeface="Montserrat" pitchFamily="34" charset="-122"/>
                <a:cs typeface="Montserrat" pitchFamily="34" charset="-120"/>
              </a:rPr>
              <a:t>Что показали данные: урожай зависит от весны, а риск сильно различается по округам</a:t>
            </a:r>
            <a:endParaRPr lang="en-US" sz="2800" dirty="0"/>
          </a:p>
        </p:txBody>
      </p:sp>
      <p:sp>
        <p:nvSpPr>
          <p:cNvPr id="4" name="Shape 2"/>
          <p:cNvSpPr/>
          <p:nvPr/>
        </p:nvSpPr>
        <p:spPr>
          <a:xfrm>
            <a:off x="815975" y="1852296"/>
            <a:ext cx="10560050" cy="648970"/>
          </a:xfrm>
          <a:prstGeom prst="roundRect">
            <a:avLst>
              <a:gd name="adj" fmla="val 13209"/>
            </a:avLst>
          </a:prstGeom>
          <a:solidFill>
            <a:srgbClr val="FCFCF8"/>
          </a:solidFill>
          <a:ln w="6350">
            <a:solidFill>
              <a:schemeClr val="accent1"/>
            </a:solidFill>
            <a:prstDash val="solid"/>
          </a:ln>
        </p:spPr>
        <p:txBody>
          <a:bodyPr/>
          <a:lstStyle/>
          <a:p>
            <a:endParaRPr lang="ru-RU"/>
          </a:p>
        </p:txBody>
      </p:sp>
      <p:sp>
        <p:nvSpPr>
          <p:cNvPr id="5" name="Text 3"/>
          <p:cNvSpPr/>
          <p:nvPr/>
        </p:nvSpPr>
        <p:spPr>
          <a:xfrm>
            <a:off x="1046480" y="1981200"/>
            <a:ext cx="1962150" cy="416560"/>
          </a:xfrm>
          <a:prstGeom prst="rect">
            <a:avLst/>
          </a:prstGeom>
          <a:noFill/>
          <a:ln/>
        </p:spPr>
        <p:txBody>
          <a:bodyPr wrap="none" lIns="0" tIns="0" rIns="0" bIns="0" rtlCol="0" anchor="t">
            <a:normAutofit/>
          </a:bodyPr>
          <a:lstStyle/>
          <a:p>
            <a:pPr marL="0" indent="0" algn="l">
              <a:lnSpc>
                <a:spcPts val="3080"/>
              </a:lnSpc>
              <a:buNone/>
            </a:pPr>
            <a:r>
              <a:rPr lang="en-US" sz="2200" b="1" dirty="0">
                <a:solidFill>
                  <a:srgbClr val="238441"/>
                </a:solidFill>
                <a:latin typeface="Montserrat" pitchFamily="34" charset="0"/>
                <a:ea typeface="Montserrat" pitchFamily="34" charset="-122"/>
                <a:cs typeface="Montserrat" pitchFamily="34" charset="-120"/>
              </a:rPr>
              <a:t>±13,6%</a:t>
            </a:r>
            <a:endParaRPr lang="en-US" sz="2200" dirty="0"/>
          </a:p>
        </p:txBody>
      </p:sp>
      <p:sp>
        <p:nvSpPr>
          <p:cNvPr id="6" name="Text 4"/>
          <p:cNvSpPr/>
          <p:nvPr/>
        </p:nvSpPr>
        <p:spPr>
          <a:xfrm>
            <a:off x="3205480" y="2056767"/>
            <a:ext cx="8178241" cy="265430"/>
          </a:xfrm>
          <a:prstGeom prst="rect">
            <a:avLst/>
          </a:prstGeom>
          <a:noFill/>
          <a:ln/>
        </p:spPr>
        <p:txBody>
          <a:bodyPr wrap="square" lIns="0" tIns="0" rIns="0" bIns="0" rtlCol="0" anchor="t">
            <a:normAutofit/>
          </a:bodyPr>
          <a:lstStyle/>
          <a:p>
            <a:pPr marL="0" indent="0" algn="l">
              <a:lnSpc>
                <a:spcPts val="1890"/>
              </a:lnSpc>
              <a:buNone/>
            </a:pPr>
            <a:r>
              <a:rPr lang="en-US" sz="1400" dirty="0">
                <a:solidFill>
                  <a:srgbClr val="3F4F43"/>
                </a:solidFill>
                <a:latin typeface="IBM Plex Sans" pitchFamily="34" charset="0"/>
                <a:ea typeface="IBM Plex Sans" pitchFamily="34" charset="-122"/>
                <a:cs typeface="IBM Plex Sans" pitchFamily="34" charset="-120"/>
              </a:rPr>
              <a:t>колебания урожайности края вокруг тренда; в 2020 году -33%, в Труновском округе -53%</a:t>
            </a:r>
            <a:endParaRPr lang="en-US" sz="1400" dirty="0"/>
          </a:p>
        </p:txBody>
      </p:sp>
      <p:sp>
        <p:nvSpPr>
          <p:cNvPr id="7" name="Shape 5"/>
          <p:cNvSpPr/>
          <p:nvPr/>
        </p:nvSpPr>
        <p:spPr>
          <a:xfrm>
            <a:off x="815975" y="2609217"/>
            <a:ext cx="10560050" cy="737870"/>
          </a:xfrm>
          <a:prstGeom prst="roundRect">
            <a:avLst>
              <a:gd name="adj" fmla="val 11618"/>
            </a:avLst>
          </a:prstGeom>
          <a:solidFill>
            <a:srgbClr val="FCFCF8"/>
          </a:solidFill>
          <a:ln w="6350">
            <a:solidFill>
              <a:schemeClr val="accent1"/>
            </a:solidFill>
            <a:prstDash val="solid"/>
          </a:ln>
        </p:spPr>
        <p:txBody>
          <a:bodyPr/>
          <a:lstStyle/>
          <a:p>
            <a:endParaRPr lang="ru-RU"/>
          </a:p>
        </p:txBody>
      </p:sp>
      <p:sp>
        <p:nvSpPr>
          <p:cNvPr id="8" name="Text 6"/>
          <p:cNvSpPr/>
          <p:nvPr/>
        </p:nvSpPr>
        <p:spPr>
          <a:xfrm>
            <a:off x="1046480" y="2782571"/>
            <a:ext cx="1962150" cy="416560"/>
          </a:xfrm>
          <a:prstGeom prst="rect">
            <a:avLst/>
          </a:prstGeom>
          <a:noFill/>
          <a:ln/>
        </p:spPr>
        <p:txBody>
          <a:bodyPr wrap="none" lIns="0" tIns="0" rIns="0" bIns="0" rtlCol="0" anchor="t">
            <a:normAutofit/>
          </a:bodyPr>
          <a:lstStyle/>
          <a:p>
            <a:pPr marL="0" indent="0" algn="l">
              <a:lnSpc>
                <a:spcPts val="3080"/>
              </a:lnSpc>
              <a:buNone/>
            </a:pPr>
            <a:r>
              <a:rPr lang="en-US" sz="2200" b="1" dirty="0">
                <a:solidFill>
                  <a:srgbClr val="238441"/>
                </a:solidFill>
                <a:latin typeface="Montserrat" pitchFamily="34" charset="0"/>
                <a:ea typeface="Montserrat" pitchFamily="34" charset="-122"/>
                <a:cs typeface="Montserrat" pitchFamily="34" charset="-120"/>
              </a:rPr>
              <a:t>-17%</a:t>
            </a:r>
            <a:endParaRPr lang="en-US" sz="2200" dirty="0"/>
          </a:p>
        </p:txBody>
      </p:sp>
      <p:sp>
        <p:nvSpPr>
          <p:cNvPr id="9" name="Text 7"/>
          <p:cNvSpPr/>
          <p:nvPr/>
        </p:nvSpPr>
        <p:spPr>
          <a:xfrm>
            <a:off x="3205480" y="2738121"/>
            <a:ext cx="8178241" cy="505460"/>
          </a:xfrm>
          <a:prstGeom prst="rect">
            <a:avLst/>
          </a:prstGeom>
          <a:noFill/>
          <a:ln/>
        </p:spPr>
        <p:txBody>
          <a:bodyPr wrap="square" lIns="0" tIns="0" rIns="0" bIns="0" rtlCol="0" anchor="t">
            <a:normAutofit/>
          </a:bodyPr>
          <a:lstStyle/>
          <a:p>
            <a:pPr marL="0" indent="0" algn="l">
              <a:lnSpc>
                <a:spcPts val="1890"/>
              </a:lnSpc>
              <a:buNone/>
            </a:pPr>
            <a:r>
              <a:rPr lang="en-US" sz="1400" dirty="0">
                <a:solidFill>
                  <a:srgbClr val="3F4F43"/>
                </a:solidFill>
                <a:latin typeface="IBM Plex Sans" pitchFamily="34" charset="0"/>
                <a:ea typeface="IBM Plex Sans" pitchFamily="34" charset="-122"/>
                <a:cs typeface="IBM Plex Sans" pitchFamily="34" charset="-120"/>
              </a:rPr>
              <a:t>урожая, если весна вдвое суше нормы (p = 0,004); жаркий май-июнь дает еще -4,3% на каждый градус</a:t>
            </a:r>
            <a:endParaRPr lang="en-US" sz="1400" dirty="0"/>
          </a:p>
        </p:txBody>
      </p:sp>
      <p:sp>
        <p:nvSpPr>
          <p:cNvPr id="10" name="Shape 8"/>
          <p:cNvSpPr/>
          <p:nvPr/>
        </p:nvSpPr>
        <p:spPr>
          <a:xfrm>
            <a:off x="815975" y="3455039"/>
            <a:ext cx="10560050" cy="737870"/>
          </a:xfrm>
          <a:prstGeom prst="roundRect">
            <a:avLst>
              <a:gd name="adj" fmla="val 11618"/>
            </a:avLst>
          </a:prstGeom>
          <a:solidFill>
            <a:srgbClr val="FCFCF8"/>
          </a:solidFill>
          <a:ln w="6350">
            <a:solidFill>
              <a:schemeClr val="accent1"/>
            </a:solidFill>
            <a:prstDash val="solid"/>
          </a:ln>
        </p:spPr>
        <p:txBody>
          <a:bodyPr/>
          <a:lstStyle/>
          <a:p>
            <a:endParaRPr lang="ru-RU"/>
          </a:p>
        </p:txBody>
      </p:sp>
      <p:sp>
        <p:nvSpPr>
          <p:cNvPr id="11" name="Text 9"/>
          <p:cNvSpPr/>
          <p:nvPr/>
        </p:nvSpPr>
        <p:spPr>
          <a:xfrm>
            <a:off x="1046480" y="3628392"/>
            <a:ext cx="1962150" cy="416560"/>
          </a:xfrm>
          <a:prstGeom prst="rect">
            <a:avLst/>
          </a:prstGeom>
          <a:noFill/>
          <a:ln/>
        </p:spPr>
        <p:txBody>
          <a:bodyPr wrap="none" lIns="0" tIns="0" rIns="0" bIns="0" rtlCol="0" anchor="t">
            <a:normAutofit/>
          </a:bodyPr>
          <a:lstStyle/>
          <a:p>
            <a:pPr marL="0" indent="0" algn="l">
              <a:lnSpc>
                <a:spcPts val="3080"/>
              </a:lnSpc>
              <a:buNone/>
            </a:pPr>
            <a:r>
              <a:rPr lang="en-US" sz="2200" b="1" dirty="0">
                <a:solidFill>
                  <a:srgbClr val="238441"/>
                </a:solidFill>
                <a:latin typeface="Montserrat" pitchFamily="34" charset="0"/>
                <a:ea typeface="Montserrat" pitchFamily="34" charset="-122"/>
                <a:cs typeface="Montserrat" pitchFamily="34" charset="-120"/>
              </a:rPr>
              <a:t>8-43%</a:t>
            </a:r>
            <a:endParaRPr lang="en-US" sz="2200" dirty="0"/>
          </a:p>
        </p:txBody>
      </p:sp>
      <p:sp>
        <p:nvSpPr>
          <p:cNvPr id="12" name="Text 10"/>
          <p:cNvSpPr/>
          <p:nvPr/>
        </p:nvSpPr>
        <p:spPr>
          <a:xfrm>
            <a:off x="3205480" y="3583942"/>
            <a:ext cx="8178241" cy="505460"/>
          </a:xfrm>
          <a:prstGeom prst="rect">
            <a:avLst/>
          </a:prstGeom>
          <a:noFill/>
          <a:ln/>
        </p:spPr>
        <p:txBody>
          <a:bodyPr wrap="square" lIns="0" tIns="0" rIns="0" bIns="0" rtlCol="0" anchor="t">
            <a:normAutofit/>
          </a:bodyPr>
          <a:lstStyle/>
          <a:p>
            <a:pPr marL="0" indent="0" algn="l">
              <a:lnSpc>
                <a:spcPts val="1890"/>
              </a:lnSpc>
              <a:buNone/>
            </a:pPr>
            <a:r>
              <a:rPr lang="en-US" sz="1400" dirty="0">
                <a:solidFill>
                  <a:srgbClr val="3F4F43"/>
                </a:solidFill>
                <a:latin typeface="IBM Plex Sans" pitchFamily="34" charset="0"/>
                <a:ea typeface="IBM Plex Sans" pitchFamily="34" charset="-122"/>
                <a:cs typeface="IBM Plex Sans" pitchFamily="34" charset="-120"/>
              </a:rPr>
              <a:t>вероятность убыточного сезона: от Новоалександровского округа на западе до Арзгирского на востоке</a:t>
            </a:r>
            <a:endParaRPr lang="en-US" sz="1400" dirty="0"/>
          </a:p>
        </p:txBody>
      </p:sp>
      <p:sp>
        <p:nvSpPr>
          <p:cNvPr id="13" name="Shape 11"/>
          <p:cNvSpPr/>
          <p:nvPr/>
        </p:nvSpPr>
        <p:spPr>
          <a:xfrm>
            <a:off x="815975" y="4300854"/>
            <a:ext cx="10560050" cy="737870"/>
          </a:xfrm>
          <a:prstGeom prst="roundRect">
            <a:avLst>
              <a:gd name="adj" fmla="val 11618"/>
            </a:avLst>
          </a:prstGeom>
          <a:solidFill>
            <a:srgbClr val="FCFCF8"/>
          </a:solidFill>
          <a:ln w="6350">
            <a:solidFill>
              <a:schemeClr val="accent1"/>
            </a:solidFill>
            <a:prstDash val="solid"/>
          </a:ln>
        </p:spPr>
        <p:txBody>
          <a:bodyPr/>
          <a:lstStyle/>
          <a:p>
            <a:endParaRPr lang="ru-RU"/>
          </a:p>
        </p:txBody>
      </p:sp>
      <p:sp>
        <p:nvSpPr>
          <p:cNvPr id="14" name="Text 12"/>
          <p:cNvSpPr/>
          <p:nvPr/>
        </p:nvSpPr>
        <p:spPr>
          <a:xfrm>
            <a:off x="1046480" y="4474214"/>
            <a:ext cx="1962150" cy="416560"/>
          </a:xfrm>
          <a:prstGeom prst="rect">
            <a:avLst/>
          </a:prstGeom>
          <a:noFill/>
          <a:ln/>
        </p:spPr>
        <p:txBody>
          <a:bodyPr wrap="none" lIns="0" tIns="0" rIns="0" bIns="0" rtlCol="0" anchor="t">
            <a:normAutofit/>
          </a:bodyPr>
          <a:lstStyle/>
          <a:p>
            <a:pPr marL="0" indent="0" algn="l">
              <a:lnSpc>
                <a:spcPts val="3080"/>
              </a:lnSpc>
              <a:buNone/>
            </a:pPr>
            <a:r>
              <a:rPr lang="en-US" sz="2200" b="1" dirty="0">
                <a:solidFill>
                  <a:srgbClr val="238441"/>
                </a:solidFill>
                <a:latin typeface="Montserrat" pitchFamily="34" charset="0"/>
                <a:ea typeface="Montserrat" pitchFamily="34" charset="-122"/>
                <a:cs typeface="Montserrat" pitchFamily="34" charset="-120"/>
              </a:rPr>
              <a:t>14 п.п.</a:t>
            </a:r>
            <a:endParaRPr lang="en-US" sz="2200" dirty="0"/>
          </a:p>
        </p:txBody>
      </p:sp>
      <p:sp>
        <p:nvSpPr>
          <p:cNvPr id="15" name="Text 13"/>
          <p:cNvSpPr/>
          <p:nvPr/>
        </p:nvSpPr>
        <p:spPr>
          <a:xfrm>
            <a:off x="3205480" y="4429764"/>
            <a:ext cx="8178241" cy="505460"/>
          </a:xfrm>
          <a:prstGeom prst="rect">
            <a:avLst/>
          </a:prstGeom>
          <a:noFill/>
          <a:ln/>
        </p:spPr>
        <p:txBody>
          <a:bodyPr wrap="square" lIns="0" tIns="0" rIns="0" bIns="0" rtlCol="0" anchor="t">
            <a:normAutofit/>
          </a:bodyPr>
          <a:lstStyle/>
          <a:p>
            <a:pPr marL="0" indent="0" algn="l">
              <a:lnSpc>
                <a:spcPts val="1890"/>
              </a:lnSpc>
              <a:buNone/>
            </a:pPr>
            <a:r>
              <a:rPr lang="en-US" sz="1400" dirty="0">
                <a:solidFill>
                  <a:srgbClr val="3F4F43"/>
                </a:solidFill>
                <a:latin typeface="IBM Plex Sans" pitchFamily="34" charset="0"/>
                <a:ea typeface="IBM Plex Sans" pitchFamily="34" charset="-122"/>
                <a:cs typeface="IBM Plex Sans" pitchFamily="34" charset="-120"/>
              </a:rPr>
              <a:t>разница сезонной цены между апрелем (+5,8%) и августом (-8,5%), различия значимы (p &lt; 0,001)</a:t>
            </a:r>
            <a:endParaRPr lang="en-US" sz="1400" dirty="0"/>
          </a:p>
        </p:txBody>
      </p:sp>
      <p:sp>
        <p:nvSpPr>
          <p:cNvPr id="16" name="Shape 14"/>
          <p:cNvSpPr/>
          <p:nvPr/>
        </p:nvSpPr>
        <p:spPr>
          <a:xfrm>
            <a:off x="815975" y="5146675"/>
            <a:ext cx="10560050" cy="648970"/>
          </a:xfrm>
          <a:prstGeom prst="roundRect">
            <a:avLst>
              <a:gd name="adj" fmla="val 13209"/>
            </a:avLst>
          </a:prstGeom>
          <a:solidFill>
            <a:srgbClr val="FCFCF8"/>
          </a:solidFill>
          <a:ln w="6350">
            <a:solidFill>
              <a:schemeClr val="accent1"/>
            </a:solidFill>
            <a:prstDash val="solid"/>
          </a:ln>
        </p:spPr>
        <p:txBody>
          <a:bodyPr/>
          <a:lstStyle/>
          <a:p>
            <a:endParaRPr lang="ru-RU"/>
          </a:p>
        </p:txBody>
      </p:sp>
      <p:sp>
        <p:nvSpPr>
          <p:cNvPr id="17" name="Text 15"/>
          <p:cNvSpPr/>
          <p:nvPr/>
        </p:nvSpPr>
        <p:spPr>
          <a:xfrm>
            <a:off x="1046480" y="5275579"/>
            <a:ext cx="1962150" cy="416560"/>
          </a:xfrm>
          <a:prstGeom prst="rect">
            <a:avLst/>
          </a:prstGeom>
          <a:noFill/>
          <a:ln/>
        </p:spPr>
        <p:txBody>
          <a:bodyPr wrap="none" lIns="0" tIns="0" rIns="0" bIns="0" rtlCol="0" anchor="t">
            <a:normAutofit/>
          </a:bodyPr>
          <a:lstStyle/>
          <a:p>
            <a:pPr marL="0" indent="0" algn="l">
              <a:lnSpc>
                <a:spcPts val="3080"/>
              </a:lnSpc>
              <a:buNone/>
            </a:pPr>
            <a:r>
              <a:rPr lang="en-US" sz="2200" b="1" dirty="0">
                <a:solidFill>
                  <a:srgbClr val="B23A2E"/>
                </a:solidFill>
                <a:latin typeface="Montserrat" pitchFamily="34" charset="0"/>
                <a:ea typeface="Montserrat" pitchFamily="34" charset="-122"/>
                <a:cs typeface="Montserrat" pitchFamily="34" charset="-120"/>
              </a:rPr>
              <a:t>8,8 т</a:t>
            </a:r>
            <a:endParaRPr lang="en-US" sz="2200" dirty="0"/>
          </a:p>
        </p:txBody>
      </p:sp>
      <p:sp>
        <p:nvSpPr>
          <p:cNvPr id="18" name="Text 16"/>
          <p:cNvSpPr/>
          <p:nvPr/>
        </p:nvSpPr>
        <p:spPr>
          <a:xfrm>
            <a:off x="3205480" y="5351146"/>
            <a:ext cx="8178241" cy="265430"/>
          </a:xfrm>
          <a:prstGeom prst="rect">
            <a:avLst/>
          </a:prstGeom>
          <a:noFill/>
          <a:ln/>
        </p:spPr>
        <p:txBody>
          <a:bodyPr wrap="square" lIns="0" tIns="0" rIns="0" bIns="0" rtlCol="0" anchor="t">
            <a:normAutofit/>
          </a:bodyPr>
          <a:lstStyle/>
          <a:p>
            <a:pPr marL="0" indent="0" algn="l">
              <a:lnSpc>
                <a:spcPts val="1890"/>
              </a:lnSpc>
              <a:buNone/>
            </a:pPr>
            <a:r>
              <a:rPr lang="en-US" sz="1400" dirty="0">
                <a:solidFill>
                  <a:srgbClr val="3F4F43"/>
                </a:solidFill>
                <a:latin typeface="IBM Plex Sans" pitchFamily="34" charset="0"/>
                <a:ea typeface="IBM Plex Sans" pitchFamily="34" charset="-122"/>
                <a:cs typeface="IBM Plex Sans" pitchFamily="34" charset="-120"/>
              </a:rPr>
              <a:t>пшеницы за тонну дизеля в сентябре 2026 при норме 5,3 ± 1,0: максимум с 2017 года</a:t>
            </a:r>
            <a:endParaRPr lang="en-US" sz="1400" dirty="0"/>
          </a:p>
        </p:txBody>
      </p:sp>
      <p:sp>
        <p:nvSpPr>
          <p:cNvPr id="20" name="Text 18"/>
          <p:cNvSpPr/>
          <p:nvPr/>
        </p:nvSpPr>
        <p:spPr>
          <a:xfrm>
            <a:off x="10058400" y="6238242"/>
            <a:ext cx="1320800" cy="23876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6B7A6E"/>
                </a:solidFill>
                <a:latin typeface="IBM Plex Sans" pitchFamily="34" charset="0"/>
                <a:ea typeface="IBM Plex Sans" pitchFamily="34" charset="-122"/>
                <a:cs typeface="IBM Plex Sans" pitchFamily="34" charset="-120"/>
              </a:rPr>
              <a:t>10</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5F6EF"/>
        </a:solidFill>
        <a:effectLst/>
      </p:bgPr>
    </p:bg>
    <p:spTree>
      <p:nvGrpSpPr>
        <p:cNvPr id="1" name=""/>
        <p:cNvGrpSpPr/>
        <p:nvPr/>
      </p:nvGrpSpPr>
      <p:grpSpPr>
        <a:xfrm>
          <a:off x="0" y="0"/>
          <a:ext cx="0" cy="0"/>
          <a:chOff x="0" y="0"/>
          <a:chExt cx="0" cy="0"/>
        </a:xfrm>
      </p:grpSpPr>
      <p:sp>
        <p:nvSpPr>
          <p:cNvPr id="3" name="Text 1"/>
          <p:cNvSpPr>
            <a:spLocks noGrp="1"/>
          </p:cNvSpPr>
          <p:nvPr>
            <p:ph type="title"/>
          </p:nvPr>
        </p:nvSpPr>
        <p:spPr>
          <a:xfrm>
            <a:off x="812800" y="812800"/>
            <a:ext cx="10883392" cy="807720"/>
          </a:xfrm>
          <a:prstGeom prst="rect">
            <a:avLst/>
          </a:prstGeom>
          <a:noFill/>
          <a:ln/>
        </p:spPr>
        <p:txBody>
          <a:bodyPr wrap="square" lIns="0" tIns="0" rIns="0" bIns="0" rtlCol="0" anchor="t">
            <a:normAutofit/>
          </a:bodyPr>
          <a:lstStyle/>
          <a:p>
            <a:pPr marL="0" indent="0" algn="l">
              <a:lnSpc>
                <a:spcPts val="3080"/>
              </a:lnSpc>
              <a:buNone/>
            </a:pPr>
            <a:r>
              <a:rPr lang="en-US" sz="2800" b="1" i="0" dirty="0">
                <a:solidFill>
                  <a:srgbClr val="1F4424"/>
                </a:solidFill>
                <a:latin typeface="Montserrat" pitchFamily="34" charset="0"/>
                <a:ea typeface="Montserrat" pitchFamily="34" charset="-122"/>
                <a:cs typeface="Montserrat" pitchFamily="34" charset="-120"/>
              </a:rPr>
              <a:t>Для банка это ранний сигнал риска и основа для лимитов по округам</a:t>
            </a:r>
            <a:endParaRPr lang="en-US" sz="2800" dirty="0"/>
          </a:p>
        </p:txBody>
      </p:sp>
      <p:sp>
        <p:nvSpPr>
          <p:cNvPr id="4" name="Shape 2"/>
          <p:cNvSpPr/>
          <p:nvPr/>
        </p:nvSpPr>
        <p:spPr>
          <a:xfrm>
            <a:off x="815975" y="1903096"/>
            <a:ext cx="5200650" cy="1192530"/>
          </a:xfrm>
          <a:prstGeom prst="roundRect">
            <a:avLst>
              <a:gd name="adj" fmla="val 8253"/>
            </a:avLst>
          </a:prstGeom>
          <a:solidFill>
            <a:srgbClr val="FCFCF8"/>
          </a:solidFill>
          <a:ln w="6350">
            <a:solidFill>
              <a:schemeClr val="accent1"/>
            </a:solidFill>
            <a:prstDash val="solid"/>
          </a:ln>
          <a:effectLst>
            <a:outerShdw blurRad="50800" dist="38100" dir="5400000" algn="t" rotWithShape="0">
              <a:prstClr val="black">
                <a:alpha val="40000"/>
              </a:prstClr>
            </a:outerShdw>
          </a:effectLst>
        </p:spPr>
        <p:txBody>
          <a:bodyPr/>
          <a:lstStyle/>
          <a:p>
            <a:endParaRPr lang="ru-RU"/>
          </a:p>
        </p:txBody>
      </p:sp>
      <p:sp>
        <p:nvSpPr>
          <p:cNvPr id="5" name="Text 3"/>
          <p:cNvSpPr/>
          <p:nvPr/>
        </p:nvSpPr>
        <p:spPr>
          <a:xfrm>
            <a:off x="1021080" y="2108200"/>
            <a:ext cx="4934153" cy="26924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238441"/>
                </a:solidFill>
                <a:latin typeface="Montserrat" pitchFamily="34" charset="0"/>
                <a:ea typeface="Montserrat" pitchFamily="34" charset="-122"/>
                <a:cs typeface="Montserrat" pitchFamily="34" charset="-120"/>
              </a:rPr>
              <a:t>Прогноз до уборки</a:t>
            </a:r>
            <a:endParaRPr lang="en-US" sz="1600" dirty="0"/>
          </a:p>
        </p:txBody>
      </p:sp>
      <p:sp>
        <p:nvSpPr>
          <p:cNvPr id="6" name="Text 4"/>
          <p:cNvSpPr/>
          <p:nvPr/>
        </p:nvSpPr>
        <p:spPr>
          <a:xfrm>
            <a:off x="1021080" y="2428242"/>
            <a:ext cx="4934153" cy="48768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3F4F43"/>
                </a:solidFill>
                <a:latin typeface="IBM Plex Sans" pitchFamily="34" charset="0"/>
                <a:ea typeface="IBM Plex Sans" pitchFamily="34" charset="-122"/>
                <a:cs typeface="IBM Plex Sans" pitchFamily="34" charset="-120"/>
              </a:rPr>
              <a:t>Модель по погоде готова в июле. Ошибка на прошлых годах 11,5% против 12,6% у простого тренда.</a:t>
            </a:r>
            <a:endParaRPr lang="en-US" sz="1300" dirty="0"/>
          </a:p>
        </p:txBody>
      </p:sp>
      <p:sp>
        <p:nvSpPr>
          <p:cNvPr id="7" name="Shape 5"/>
          <p:cNvSpPr/>
          <p:nvPr/>
        </p:nvSpPr>
        <p:spPr>
          <a:xfrm>
            <a:off x="6175375" y="1903096"/>
            <a:ext cx="5200650" cy="1192530"/>
          </a:xfrm>
          <a:prstGeom prst="roundRect">
            <a:avLst>
              <a:gd name="adj" fmla="val 8253"/>
            </a:avLst>
          </a:prstGeom>
          <a:solidFill>
            <a:srgbClr val="FCFCF8"/>
          </a:solidFill>
          <a:ln w="6350">
            <a:solidFill>
              <a:schemeClr val="accent1"/>
            </a:solidFill>
            <a:prstDash val="solid"/>
          </a:ln>
          <a:effectLst>
            <a:outerShdw blurRad="50800" dist="38100" dir="5400000" algn="t" rotWithShape="0">
              <a:prstClr val="black">
                <a:alpha val="40000"/>
              </a:prstClr>
            </a:outerShdw>
          </a:effectLst>
        </p:spPr>
        <p:txBody>
          <a:bodyPr/>
          <a:lstStyle/>
          <a:p>
            <a:endParaRPr lang="ru-RU"/>
          </a:p>
        </p:txBody>
      </p:sp>
      <p:sp>
        <p:nvSpPr>
          <p:cNvPr id="8" name="Text 6"/>
          <p:cNvSpPr/>
          <p:nvPr/>
        </p:nvSpPr>
        <p:spPr>
          <a:xfrm>
            <a:off x="6380480" y="2108200"/>
            <a:ext cx="4934153" cy="26924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238441"/>
                </a:solidFill>
                <a:latin typeface="Montserrat" pitchFamily="34" charset="0"/>
                <a:ea typeface="Montserrat" pitchFamily="34" charset="-122"/>
                <a:cs typeface="Montserrat" pitchFamily="34" charset="-120"/>
              </a:rPr>
              <a:t>Риски соседей связаны</a:t>
            </a:r>
            <a:endParaRPr lang="en-US" sz="1600" dirty="0"/>
          </a:p>
        </p:txBody>
      </p:sp>
      <p:sp>
        <p:nvSpPr>
          <p:cNvPr id="9" name="Text 7"/>
          <p:cNvSpPr/>
          <p:nvPr/>
        </p:nvSpPr>
        <p:spPr>
          <a:xfrm>
            <a:off x="6380480" y="2428242"/>
            <a:ext cx="4934153" cy="48768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3F4F43"/>
                </a:solidFill>
                <a:latin typeface="IBM Plex Sans" pitchFamily="34" charset="0"/>
                <a:ea typeface="IBM Plex Sans" pitchFamily="34" charset="-122"/>
                <a:cs typeface="IBM Plex Sans" pitchFamily="34" charset="-120"/>
              </a:rPr>
              <a:t>Индекс Морана 0,23 (p = 0,001): портфель стоит распределять по агрозонам, а не по краю целиком.</a:t>
            </a:r>
            <a:endParaRPr lang="en-US" sz="1300" dirty="0"/>
          </a:p>
        </p:txBody>
      </p:sp>
      <p:sp>
        <p:nvSpPr>
          <p:cNvPr id="10" name="Shape 8"/>
          <p:cNvSpPr/>
          <p:nvPr/>
        </p:nvSpPr>
        <p:spPr>
          <a:xfrm>
            <a:off x="815975" y="3254375"/>
            <a:ext cx="5200650" cy="1423670"/>
          </a:xfrm>
          <a:prstGeom prst="roundRect">
            <a:avLst>
              <a:gd name="adj" fmla="val 6913"/>
            </a:avLst>
          </a:prstGeom>
          <a:solidFill>
            <a:srgbClr val="FCFCF8"/>
          </a:solidFill>
          <a:ln w="6350">
            <a:solidFill>
              <a:schemeClr val="accent1"/>
            </a:solidFill>
            <a:prstDash val="solid"/>
          </a:ln>
          <a:effectLst>
            <a:outerShdw blurRad="50800" dist="38100" dir="5400000" algn="t" rotWithShape="0">
              <a:prstClr val="black">
                <a:alpha val="40000"/>
              </a:prstClr>
            </a:outerShdw>
          </a:effectLst>
        </p:spPr>
        <p:txBody>
          <a:bodyPr/>
          <a:lstStyle/>
          <a:p>
            <a:endParaRPr lang="ru-RU"/>
          </a:p>
        </p:txBody>
      </p:sp>
      <p:sp>
        <p:nvSpPr>
          <p:cNvPr id="11" name="Text 9"/>
          <p:cNvSpPr/>
          <p:nvPr/>
        </p:nvSpPr>
        <p:spPr>
          <a:xfrm>
            <a:off x="1021080" y="3459479"/>
            <a:ext cx="4934153" cy="26924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238441"/>
                </a:solidFill>
                <a:latin typeface="Montserrat" pitchFamily="34" charset="0"/>
                <a:ea typeface="Montserrat" pitchFamily="34" charset="-122"/>
                <a:cs typeface="Montserrat" pitchFamily="34" charset="-120"/>
              </a:rPr>
              <a:t>Цена не страхует от неурожая</a:t>
            </a:r>
            <a:endParaRPr lang="en-US" sz="1600" dirty="0"/>
          </a:p>
        </p:txBody>
      </p:sp>
      <p:sp>
        <p:nvSpPr>
          <p:cNvPr id="12" name="Text 10"/>
          <p:cNvSpPr/>
          <p:nvPr/>
        </p:nvSpPr>
        <p:spPr>
          <a:xfrm>
            <a:off x="1021080" y="3779521"/>
            <a:ext cx="4934153" cy="71882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3F4F43"/>
                </a:solidFill>
                <a:latin typeface="IBM Plex Sans" pitchFamily="34" charset="0"/>
                <a:ea typeface="IBM Plex Sans" pitchFamily="34" charset="-122"/>
                <a:cs typeface="IBM Plex Sans" pitchFamily="34" charset="-120"/>
              </a:rPr>
              <a:t>Связь урожая и цены незначима (r = -0,44 при 9 годах, p = 0,24). В 2020 году маржу спасла высокая цена, но это совпадение, а не правило.</a:t>
            </a:r>
            <a:endParaRPr lang="en-US" sz="1300" dirty="0"/>
          </a:p>
        </p:txBody>
      </p:sp>
      <p:sp>
        <p:nvSpPr>
          <p:cNvPr id="13" name="Shape 11"/>
          <p:cNvSpPr/>
          <p:nvPr/>
        </p:nvSpPr>
        <p:spPr>
          <a:xfrm>
            <a:off x="6175375" y="3254375"/>
            <a:ext cx="5200650" cy="1423670"/>
          </a:xfrm>
          <a:prstGeom prst="roundRect">
            <a:avLst>
              <a:gd name="adj" fmla="val 6913"/>
            </a:avLst>
          </a:prstGeom>
          <a:solidFill>
            <a:srgbClr val="FCFCF8"/>
          </a:solidFill>
          <a:ln w="6350">
            <a:solidFill>
              <a:schemeClr val="accent1"/>
            </a:solidFill>
            <a:prstDash val="solid"/>
          </a:ln>
          <a:effectLst>
            <a:outerShdw blurRad="50800" dist="38100" dir="5400000" algn="t" rotWithShape="0">
              <a:prstClr val="black">
                <a:alpha val="40000"/>
              </a:prstClr>
            </a:outerShdw>
          </a:effectLst>
        </p:spPr>
        <p:txBody>
          <a:bodyPr/>
          <a:lstStyle/>
          <a:p>
            <a:endParaRPr lang="ru-RU"/>
          </a:p>
        </p:txBody>
      </p:sp>
      <p:sp>
        <p:nvSpPr>
          <p:cNvPr id="14" name="Text 12"/>
          <p:cNvSpPr/>
          <p:nvPr/>
        </p:nvSpPr>
        <p:spPr>
          <a:xfrm>
            <a:off x="6380480" y="3459479"/>
            <a:ext cx="4934153" cy="26924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B23A2E"/>
                </a:solidFill>
                <a:latin typeface="Montserrat" pitchFamily="34" charset="0"/>
                <a:ea typeface="Montserrat" pitchFamily="34" charset="-122"/>
                <a:cs typeface="Montserrat" pitchFamily="34" charset="-120"/>
              </a:rPr>
              <a:t>Стресс-тест: повтор 2020 года</a:t>
            </a:r>
            <a:endParaRPr lang="en-US" sz="1600" dirty="0"/>
          </a:p>
        </p:txBody>
      </p:sp>
      <p:sp>
        <p:nvSpPr>
          <p:cNvPr id="15" name="Text 13"/>
          <p:cNvSpPr/>
          <p:nvPr/>
        </p:nvSpPr>
        <p:spPr>
          <a:xfrm>
            <a:off x="6380480" y="3779521"/>
            <a:ext cx="4934153" cy="48768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3F4F43"/>
                </a:solidFill>
                <a:latin typeface="IBM Plex Sans" pitchFamily="34" charset="0"/>
                <a:ea typeface="IBM Plex Sans" pitchFamily="34" charset="-122"/>
                <a:cs typeface="IBM Plex Sans" pitchFamily="34" charset="-120"/>
              </a:rPr>
              <a:t>При текущих ценах и затратах убыток в 25 из 26 округов, маржа края -17,2 млрд руб.</a:t>
            </a:r>
            <a:endParaRPr lang="en-US" sz="1300" dirty="0"/>
          </a:p>
        </p:txBody>
      </p:sp>
      <p:sp>
        <p:nvSpPr>
          <p:cNvPr id="16" name="Text 14"/>
          <p:cNvSpPr/>
          <p:nvPr/>
        </p:nvSpPr>
        <p:spPr>
          <a:xfrm>
            <a:off x="812800" y="4986021"/>
            <a:ext cx="10566400" cy="622300"/>
          </a:xfrm>
          <a:prstGeom prst="roundRect">
            <a:avLst>
              <a:gd name="adj" fmla="val 12245"/>
            </a:avLst>
          </a:prstGeom>
          <a:solidFill>
            <a:srgbClr val="1F4424"/>
          </a:solidFill>
          <a:ln/>
        </p:spPr>
        <p:txBody>
          <a:bodyPr wrap="square" lIns="231682" tIns="155482" rIns="0" bIns="130082" rtlCol="0" anchor="t">
            <a:normAutofit/>
          </a:bodyPr>
          <a:lstStyle/>
          <a:p>
            <a:pPr marL="0" indent="0" algn="l">
              <a:lnSpc>
                <a:spcPts val="2100"/>
              </a:lnSpc>
              <a:buNone/>
            </a:pPr>
            <a:r>
              <a:rPr lang="en-US" sz="1500" dirty="0">
                <a:solidFill>
                  <a:srgbClr val="F3F5EC"/>
                </a:solidFill>
                <a:latin typeface="IBM Plex Sans" pitchFamily="34" charset="0"/>
                <a:ea typeface="IBM Plex Sans" pitchFamily="34" charset="-122"/>
                <a:cs typeface="IBM Plex Sans" pitchFamily="34" charset="-120"/>
              </a:rPr>
              <a:t>Вероятность убыточного сезона 2027 года для края: </a:t>
            </a:r>
            <a:r>
              <a:rPr lang="en-US" sz="1500" b="1" dirty="0">
                <a:solidFill>
                  <a:srgbClr val="FFCB05"/>
                </a:solidFill>
                <a:latin typeface="IBM Plex Sans" pitchFamily="34" charset="0"/>
                <a:ea typeface="IBM Plex Sans" pitchFamily="34" charset="-122"/>
                <a:cs typeface="IBM Plex Sans" pitchFamily="34" charset="-120"/>
              </a:rPr>
              <a:t>18%</a:t>
            </a:r>
            <a:r>
              <a:rPr lang="en-US" sz="1500" dirty="0">
                <a:solidFill>
                  <a:srgbClr val="F3F5EC"/>
                </a:solidFill>
                <a:latin typeface="IBM Plex Sans" pitchFamily="34" charset="0"/>
                <a:ea typeface="IBM Plex Sans" pitchFamily="34" charset="-122"/>
                <a:cs typeface="IBM Plex Sans" pitchFamily="34" charset="-120"/>
              </a:rPr>
              <a:t> (Монте-Карло, 4000 сценариев)</a:t>
            </a:r>
            <a:endParaRPr lang="en-US" sz="1500" dirty="0"/>
          </a:p>
        </p:txBody>
      </p:sp>
      <p:sp>
        <p:nvSpPr>
          <p:cNvPr id="18" name="Text 16"/>
          <p:cNvSpPr/>
          <p:nvPr/>
        </p:nvSpPr>
        <p:spPr>
          <a:xfrm>
            <a:off x="10058400" y="6238242"/>
            <a:ext cx="1320800" cy="23876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6B7A6E"/>
                </a:solidFill>
                <a:latin typeface="IBM Plex Sans" pitchFamily="34" charset="0"/>
                <a:ea typeface="IBM Plex Sans" pitchFamily="34" charset="-122"/>
                <a:cs typeface="IBM Plex Sans" pitchFamily="34" charset="-120"/>
              </a:rPr>
              <a:t>11</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ECEFE3"/>
        </a:solidFill>
        <a:effectLst/>
      </p:bgPr>
    </p:bg>
    <p:spTree>
      <p:nvGrpSpPr>
        <p:cNvPr id="1" name=""/>
        <p:cNvGrpSpPr/>
        <p:nvPr/>
      </p:nvGrpSpPr>
      <p:grpSpPr>
        <a:xfrm>
          <a:off x="0" y="0"/>
          <a:ext cx="0" cy="0"/>
          <a:chOff x="0" y="0"/>
          <a:chExt cx="0" cy="0"/>
        </a:xfrm>
      </p:grpSpPr>
      <p:sp>
        <p:nvSpPr>
          <p:cNvPr id="3" name="Text 1"/>
          <p:cNvSpPr>
            <a:spLocks noGrp="1"/>
          </p:cNvSpPr>
          <p:nvPr>
            <p:ph type="title"/>
          </p:nvPr>
        </p:nvSpPr>
        <p:spPr>
          <a:xfrm>
            <a:off x="812800" y="812800"/>
            <a:ext cx="10883392" cy="416560"/>
          </a:xfrm>
          <a:prstGeom prst="rect">
            <a:avLst/>
          </a:prstGeom>
          <a:noFill/>
          <a:ln/>
        </p:spPr>
        <p:txBody>
          <a:bodyPr wrap="square" lIns="0" tIns="0" rIns="0" bIns="0" rtlCol="0" anchor="t">
            <a:normAutofit/>
          </a:bodyPr>
          <a:lstStyle/>
          <a:p>
            <a:pPr marL="0" indent="0" algn="l">
              <a:lnSpc>
                <a:spcPts val="3080"/>
              </a:lnSpc>
              <a:buNone/>
            </a:pPr>
            <a:r>
              <a:rPr lang="en-US" sz="2800" b="1" i="0" dirty="0">
                <a:solidFill>
                  <a:srgbClr val="1F4424"/>
                </a:solidFill>
                <a:latin typeface="Montserrat" pitchFamily="34" charset="0"/>
                <a:ea typeface="Montserrat" pitchFamily="34" charset="-122"/>
                <a:cs typeface="Montserrat" pitchFamily="34" charset="-120"/>
              </a:rPr>
              <a:t>Три сценария использования сервиса</a:t>
            </a:r>
            <a:endParaRPr lang="en-US" sz="2800" dirty="0"/>
          </a:p>
        </p:txBody>
      </p:sp>
      <p:sp>
        <p:nvSpPr>
          <p:cNvPr id="4" name="Shape 2"/>
          <p:cNvSpPr/>
          <p:nvPr/>
        </p:nvSpPr>
        <p:spPr>
          <a:xfrm>
            <a:off x="812800" y="1508764"/>
            <a:ext cx="3403600" cy="3030220"/>
          </a:xfrm>
          <a:prstGeom prst="roundRect">
            <a:avLst>
              <a:gd name="adj" fmla="val 3353"/>
            </a:avLst>
          </a:prstGeom>
          <a:solidFill>
            <a:srgbClr val="FCFCF8"/>
          </a:solidFill>
          <a:ln>
            <a:solidFill>
              <a:schemeClr val="accent1"/>
            </a:solidFill>
          </a:ln>
          <a:effectLst>
            <a:outerShdw blurRad="50800" dist="38100" dir="5400000" algn="t" rotWithShape="0">
              <a:prstClr val="black">
                <a:alpha val="40000"/>
              </a:prstClr>
            </a:outerShdw>
          </a:effectLst>
        </p:spPr>
        <p:txBody>
          <a:bodyPr/>
          <a:lstStyle/>
          <a:p>
            <a:endParaRPr lang="ru-RU"/>
          </a:p>
        </p:txBody>
      </p:sp>
      <p:sp>
        <p:nvSpPr>
          <p:cNvPr id="5" name="Text 3"/>
          <p:cNvSpPr/>
          <p:nvPr/>
        </p:nvSpPr>
        <p:spPr>
          <a:xfrm>
            <a:off x="1066800" y="1762764"/>
            <a:ext cx="2982468" cy="238760"/>
          </a:xfrm>
          <a:prstGeom prst="rect">
            <a:avLst/>
          </a:prstGeom>
          <a:noFill/>
          <a:ln/>
        </p:spPr>
        <p:txBody>
          <a:bodyPr wrap="square" lIns="0" tIns="0" rIns="0" bIns="0" rtlCol="0" anchor="t">
            <a:normAutofit/>
          </a:bodyPr>
          <a:lstStyle/>
          <a:p>
            <a:pPr marL="0" indent="0" algn="l">
              <a:lnSpc>
                <a:spcPts val="1680"/>
              </a:lnSpc>
              <a:buNone/>
            </a:pPr>
            <a:r>
              <a:rPr lang="en-US" sz="1200" b="1" kern="0" spc="50" dirty="0">
                <a:solidFill>
                  <a:srgbClr val="238441"/>
                </a:solidFill>
                <a:latin typeface="IBM Plex Sans" pitchFamily="34" charset="0"/>
                <a:ea typeface="IBM Plex Sans" pitchFamily="34" charset="-122"/>
                <a:cs typeface="IBM Plex Sans" pitchFamily="34" charset="-120"/>
              </a:rPr>
              <a:t>СЕЛЬХОЗПРОИЗВОДИТЕЛЬ</a:t>
            </a:r>
            <a:endParaRPr lang="en-US" sz="1200" dirty="0"/>
          </a:p>
        </p:txBody>
      </p:sp>
      <p:sp>
        <p:nvSpPr>
          <p:cNvPr id="6" name="Text 4"/>
          <p:cNvSpPr/>
          <p:nvPr/>
        </p:nvSpPr>
        <p:spPr>
          <a:xfrm>
            <a:off x="1066800" y="2103121"/>
            <a:ext cx="2982468" cy="543560"/>
          </a:xfrm>
          <a:prstGeom prst="rect">
            <a:avLst/>
          </a:prstGeom>
          <a:noFill/>
          <a:ln/>
        </p:spPr>
        <p:txBody>
          <a:bodyPr wrap="square" lIns="0" tIns="0" rIns="0" bIns="0" rtlCol="0" anchor="t">
            <a:normAutofit/>
          </a:bodyPr>
          <a:lstStyle/>
          <a:p>
            <a:pPr marL="0" indent="0" algn="l">
              <a:lnSpc>
                <a:spcPts val="2040"/>
              </a:lnSpc>
              <a:buNone/>
            </a:pPr>
            <a:r>
              <a:rPr lang="en-US" sz="1700" b="1" dirty="0">
                <a:solidFill>
                  <a:srgbClr val="1F4424"/>
                </a:solidFill>
                <a:latin typeface="Montserrat" pitchFamily="34" charset="0"/>
                <a:ea typeface="Montserrat" pitchFamily="34" charset="-122"/>
                <a:cs typeface="Montserrat" pitchFamily="34" charset="-120"/>
              </a:rPr>
              <a:t>Планирует продажи урожая</a:t>
            </a:r>
            <a:endParaRPr lang="en-US" sz="1700" dirty="0"/>
          </a:p>
        </p:txBody>
      </p:sp>
      <p:sp>
        <p:nvSpPr>
          <p:cNvPr id="7" name="Text 5"/>
          <p:cNvSpPr/>
          <p:nvPr/>
        </p:nvSpPr>
        <p:spPr>
          <a:xfrm>
            <a:off x="1066800" y="2748279"/>
            <a:ext cx="2982468" cy="71882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3F4F43"/>
                </a:solidFill>
                <a:latin typeface="IBM Plex Sans" pitchFamily="34" charset="0"/>
                <a:ea typeface="IBM Plex Sans" pitchFamily="34" charset="-122"/>
                <a:cs typeface="IBM Plex Sans" pitchFamily="34" charset="-120"/>
              </a:rPr>
              <a:t>Смотрит сезонный индекс цены и паритет, считает маржу в калькуляторе.</a:t>
            </a:r>
            <a:endParaRPr lang="en-US" sz="1300" dirty="0"/>
          </a:p>
        </p:txBody>
      </p:sp>
      <p:sp>
        <p:nvSpPr>
          <p:cNvPr id="8" name="Text 6"/>
          <p:cNvSpPr/>
          <p:nvPr/>
        </p:nvSpPr>
        <p:spPr>
          <a:xfrm>
            <a:off x="1066800" y="3568700"/>
            <a:ext cx="2895600" cy="716280"/>
          </a:xfrm>
          <a:prstGeom prst="roundRect">
            <a:avLst>
              <a:gd name="adj" fmla="val 8865"/>
            </a:avLst>
          </a:prstGeom>
          <a:solidFill>
            <a:srgbClr val="ECEFE3"/>
          </a:solidFill>
          <a:ln/>
        </p:spPr>
        <p:txBody>
          <a:bodyPr wrap="square" lIns="133801" tIns="108401" rIns="56077" bIns="83001" rtlCol="0" anchor="t">
            <a:normAutofit/>
          </a:bodyPr>
          <a:lstStyle/>
          <a:p>
            <a:pPr marL="0" indent="0" algn="l">
              <a:lnSpc>
                <a:spcPts val="1820"/>
              </a:lnSpc>
              <a:buNone/>
            </a:pPr>
            <a:r>
              <a:rPr lang="en-US" sz="1300" dirty="0">
                <a:solidFill>
                  <a:srgbClr val="1B2A1E"/>
                </a:solidFill>
                <a:latin typeface="IBM Plex Sans" pitchFamily="34" charset="0"/>
                <a:ea typeface="IBM Plex Sans" pitchFamily="34" charset="-122"/>
                <a:cs typeface="IBM Plex Sans" pitchFamily="34" charset="-120"/>
              </a:rPr>
              <a:t>Продает в апреле-июне, а не в августе: до 14 п.п. к цене</a:t>
            </a:r>
            <a:endParaRPr lang="en-US" sz="1300" dirty="0"/>
          </a:p>
        </p:txBody>
      </p:sp>
      <p:sp>
        <p:nvSpPr>
          <p:cNvPr id="9" name="Shape 7"/>
          <p:cNvSpPr/>
          <p:nvPr/>
        </p:nvSpPr>
        <p:spPr>
          <a:xfrm>
            <a:off x="4394200" y="1508764"/>
            <a:ext cx="3403600" cy="3030220"/>
          </a:xfrm>
          <a:prstGeom prst="roundRect">
            <a:avLst>
              <a:gd name="adj" fmla="val 3353"/>
            </a:avLst>
          </a:prstGeom>
          <a:solidFill>
            <a:srgbClr val="FCFCF8"/>
          </a:solidFill>
          <a:ln>
            <a:solidFill>
              <a:schemeClr val="accent1"/>
            </a:solidFill>
          </a:ln>
          <a:effectLst>
            <a:outerShdw blurRad="50800" dist="38100" dir="5400000" algn="t" rotWithShape="0">
              <a:prstClr val="black">
                <a:alpha val="40000"/>
              </a:prstClr>
            </a:outerShdw>
          </a:effectLst>
        </p:spPr>
        <p:txBody>
          <a:bodyPr/>
          <a:lstStyle/>
          <a:p>
            <a:endParaRPr lang="ru-RU"/>
          </a:p>
        </p:txBody>
      </p:sp>
      <p:sp>
        <p:nvSpPr>
          <p:cNvPr id="10" name="Text 8"/>
          <p:cNvSpPr/>
          <p:nvPr/>
        </p:nvSpPr>
        <p:spPr>
          <a:xfrm>
            <a:off x="4648200" y="1762764"/>
            <a:ext cx="2982468" cy="238760"/>
          </a:xfrm>
          <a:prstGeom prst="rect">
            <a:avLst/>
          </a:prstGeom>
          <a:noFill/>
          <a:ln/>
        </p:spPr>
        <p:txBody>
          <a:bodyPr wrap="square" lIns="0" tIns="0" rIns="0" bIns="0" rtlCol="0" anchor="t">
            <a:normAutofit/>
          </a:bodyPr>
          <a:lstStyle/>
          <a:p>
            <a:pPr marL="0" indent="0" algn="l">
              <a:lnSpc>
                <a:spcPts val="1680"/>
              </a:lnSpc>
              <a:buNone/>
            </a:pPr>
            <a:r>
              <a:rPr lang="en-US" sz="1200" b="1" kern="0" spc="50" dirty="0">
                <a:solidFill>
                  <a:srgbClr val="238441"/>
                </a:solidFill>
                <a:latin typeface="IBM Plex Sans" pitchFamily="34" charset="0"/>
                <a:ea typeface="IBM Plex Sans" pitchFamily="34" charset="-122"/>
                <a:cs typeface="IBM Plex Sans" pitchFamily="34" charset="-120"/>
              </a:rPr>
              <a:t>КРЕДИТНЫЙ АНАЛИТИК</a:t>
            </a:r>
            <a:endParaRPr lang="en-US" sz="1200" dirty="0"/>
          </a:p>
        </p:txBody>
      </p:sp>
      <p:sp>
        <p:nvSpPr>
          <p:cNvPr id="11" name="Text 9"/>
          <p:cNvSpPr/>
          <p:nvPr/>
        </p:nvSpPr>
        <p:spPr>
          <a:xfrm>
            <a:off x="4648200" y="2103121"/>
            <a:ext cx="2982468" cy="284480"/>
          </a:xfrm>
          <a:prstGeom prst="rect">
            <a:avLst/>
          </a:prstGeom>
          <a:noFill/>
          <a:ln/>
        </p:spPr>
        <p:txBody>
          <a:bodyPr wrap="square" lIns="0" tIns="0" rIns="0" bIns="0" rtlCol="0" anchor="t">
            <a:normAutofit/>
          </a:bodyPr>
          <a:lstStyle/>
          <a:p>
            <a:pPr marL="0" indent="0" algn="l">
              <a:lnSpc>
                <a:spcPts val="2040"/>
              </a:lnSpc>
              <a:buNone/>
            </a:pPr>
            <a:r>
              <a:rPr lang="en-US" sz="1700" b="1" dirty="0">
                <a:solidFill>
                  <a:srgbClr val="1F4424"/>
                </a:solidFill>
                <a:latin typeface="Montserrat" pitchFamily="34" charset="0"/>
                <a:ea typeface="Montserrat" pitchFamily="34" charset="-122"/>
                <a:cs typeface="Montserrat" pitchFamily="34" charset="-120"/>
              </a:rPr>
              <a:t>Оценивает заемщика</a:t>
            </a:r>
            <a:endParaRPr lang="en-US" sz="1700" dirty="0"/>
          </a:p>
        </p:txBody>
      </p:sp>
      <p:sp>
        <p:nvSpPr>
          <p:cNvPr id="12" name="Text 10"/>
          <p:cNvSpPr/>
          <p:nvPr/>
        </p:nvSpPr>
        <p:spPr>
          <a:xfrm>
            <a:off x="4648200" y="2489200"/>
            <a:ext cx="2982468" cy="71882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3F4F43"/>
                </a:solidFill>
                <a:latin typeface="IBM Plex Sans" pitchFamily="34" charset="0"/>
                <a:ea typeface="IBM Plex Sans" pitchFamily="34" charset="-122"/>
                <a:cs typeface="IBM Plex Sans" pitchFamily="34" charset="-120"/>
              </a:rPr>
              <a:t>Выбирает округ, смотрит волатильность, вероятность убытка и маржу в худших 5% сценариев.</a:t>
            </a:r>
            <a:endParaRPr lang="en-US" sz="1300" dirty="0"/>
          </a:p>
        </p:txBody>
      </p:sp>
      <p:sp>
        <p:nvSpPr>
          <p:cNvPr id="13" name="Text 11"/>
          <p:cNvSpPr/>
          <p:nvPr/>
        </p:nvSpPr>
        <p:spPr>
          <a:xfrm>
            <a:off x="4648200" y="3309621"/>
            <a:ext cx="2895600" cy="716280"/>
          </a:xfrm>
          <a:prstGeom prst="roundRect">
            <a:avLst>
              <a:gd name="adj" fmla="val 8865"/>
            </a:avLst>
          </a:prstGeom>
          <a:solidFill>
            <a:srgbClr val="ECEFE3"/>
          </a:solidFill>
          <a:ln/>
        </p:spPr>
        <p:txBody>
          <a:bodyPr wrap="square" lIns="133801" tIns="108401" rIns="56077" bIns="83001" rtlCol="0" anchor="t">
            <a:normAutofit/>
          </a:bodyPr>
          <a:lstStyle/>
          <a:p>
            <a:pPr marL="0" indent="0" algn="l">
              <a:lnSpc>
                <a:spcPts val="1820"/>
              </a:lnSpc>
              <a:buNone/>
            </a:pPr>
            <a:r>
              <a:rPr lang="en-US" sz="1300" dirty="0">
                <a:solidFill>
                  <a:srgbClr val="1B2A1E"/>
                </a:solidFill>
                <a:latin typeface="IBM Plex Sans" pitchFamily="34" charset="0"/>
                <a:ea typeface="IBM Plex Sans" pitchFamily="34" charset="-122"/>
                <a:cs typeface="IBM Plex Sans" pitchFamily="34" charset="-120"/>
              </a:rPr>
              <a:t>Условия кредита учитывают риск округа: от 8% до 43%</a:t>
            </a:r>
            <a:endParaRPr lang="en-US" sz="1300" dirty="0"/>
          </a:p>
        </p:txBody>
      </p:sp>
      <p:sp>
        <p:nvSpPr>
          <p:cNvPr id="14" name="Shape 12"/>
          <p:cNvSpPr/>
          <p:nvPr/>
        </p:nvSpPr>
        <p:spPr>
          <a:xfrm>
            <a:off x="7975600" y="1508764"/>
            <a:ext cx="3403600" cy="3030220"/>
          </a:xfrm>
          <a:prstGeom prst="roundRect">
            <a:avLst>
              <a:gd name="adj" fmla="val 3353"/>
            </a:avLst>
          </a:prstGeom>
          <a:solidFill>
            <a:srgbClr val="FCFCF8"/>
          </a:solidFill>
          <a:ln>
            <a:solidFill>
              <a:schemeClr val="accent1"/>
            </a:solidFill>
          </a:ln>
          <a:effectLst>
            <a:outerShdw blurRad="50800" dist="38100" dir="5400000" algn="t" rotWithShape="0">
              <a:prstClr val="black">
                <a:alpha val="40000"/>
              </a:prstClr>
            </a:outerShdw>
          </a:effectLst>
        </p:spPr>
        <p:txBody>
          <a:bodyPr/>
          <a:lstStyle/>
          <a:p>
            <a:endParaRPr lang="ru-RU"/>
          </a:p>
        </p:txBody>
      </p:sp>
      <p:sp>
        <p:nvSpPr>
          <p:cNvPr id="15" name="Text 13"/>
          <p:cNvSpPr/>
          <p:nvPr/>
        </p:nvSpPr>
        <p:spPr>
          <a:xfrm>
            <a:off x="8229600" y="1762764"/>
            <a:ext cx="2982468" cy="238760"/>
          </a:xfrm>
          <a:prstGeom prst="rect">
            <a:avLst/>
          </a:prstGeom>
          <a:noFill/>
          <a:ln/>
        </p:spPr>
        <p:txBody>
          <a:bodyPr wrap="square" lIns="0" tIns="0" rIns="0" bIns="0" rtlCol="0" anchor="t">
            <a:normAutofit/>
          </a:bodyPr>
          <a:lstStyle/>
          <a:p>
            <a:pPr marL="0" indent="0" algn="l">
              <a:lnSpc>
                <a:spcPts val="1680"/>
              </a:lnSpc>
              <a:buNone/>
            </a:pPr>
            <a:r>
              <a:rPr lang="en-US" sz="1200" b="1" kern="0" spc="50" dirty="0">
                <a:solidFill>
                  <a:srgbClr val="238441"/>
                </a:solidFill>
                <a:latin typeface="IBM Plex Sans" pitchFamily="34" charset="0"/>
                <a:ea typeface="IBM Plex Sans" pitchFamily="34" charset="-122"/>
                <a:cs typeface="IBM Plex Sans" pitchFamily="34" charset="-120"/>
              </a:rPr>
              <a:t>РИСК-МЕНЕДЖЕР</a:t>
            </a:r>
            <a:endParaRPr lang="en-US" sz="1200" dirty="0"/>
          </a:p>
        </p:txBody>
      </p:sp>
      <p:sp>
        <p:nvSpPr>
          <p:cNvPr id="16" name="Text 14"/>
          <p:cNvSpPr/>
          <p:nvPr/>
        </p:nvSpPr>
        <p:spPr>
          <a:xfrm>
            <a:off x="8229600" y="2103121"/>
            <a:ext cx="2982468" cy="543560"/>
          </a:xfrm>
          <a:prstGeom prst="rect">
            <a:avLst/>
          </a:prstGeom>
          <a:noFill/>
          <a:ln/>
        </p:spPr>
        <p:txBody>
          <a:bodyPr wrap="square" lIns="0" tIns="0" rIns="0" bIns="0" rtlCol="0" anchor="t">
            <a:normAutofit/>
          </a:bodyPr>
          <a:lstStyle/>
          <a:p>
            <a:pPr marL="0" indent="0" algn="l">
              <a:lnSpc>
                <a:spcPts val="2040"/>
              </a:lnSpc>
              <a:buNone/>
            </a:pPr>
            <a:r>
              <a:rPr lang="en-US" sz="1700" b="1" dirty="0">
                <a:solidFill>
                  <a:srgbClr val="1F4424"/>
                </a:solidFill>
                <a:latin typeface="Montserrat" pitchFamily="34" charset="0"/>
                <a:ea typeface="Montserrat" pitchFamily="34" charset="-122"/>
                <a:cs typeface="Montserrat" pitchFamily="34" charset="-120"/>
              </a:rPr>
              <a:t>Проводит стресс-тест портфеля</a:t>
            </a:r>
            <a:endParaRPr lang="en-US" sz="1700" dirty="0"/>
          </a:p>
        </p:txBody>
      </p:sp>
      <p:sp>
        <p:nvSpPr>
          <p:cNvPr id="17" name="Text 15"/>
          <p:cNvSpPr/>
          <p:nvPr/>
        </p:nvSpPr>
        <p:spPr>
          <a:xfrm>
            <a:off x="8229600" y="2748279"/>
            <a:ext cx="2982468" cy="48768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3F4F43"/>
                </a:solidFill>
                <a:latin typeface="IBM Plex Sans" pitchFamily="34" charset="0"/>
                <a:ea typeface="IBM Plex Sans" pitchFamily="34" charset="-122"/>
                <a:cs typeface="IBM Plex Sans" pitchFamily="34" charset="-120"/>
              </a:rPr>
              <a:t>Выбирает сценарий 2020 года и смотрит матрицу маржи по округам.</a:t>
            </a:r>
            <a:endParaRPr lang="en-US" sz="1300" dirty="0"/>
          </a:p>
        </p:txBody>
      </p:sp>
      <p:sp>
        <p:nvSpPr>
          <p:cNvPr id="18" name="Text 16"/>
          <p:cNvSpPr/>
          <p:nvPr/>
        </p:nvSpPr>
        <p:spPr>
          <a:xfrm>
            <a:off x="8229600" y="3337564"/>
            <a:ext cx="2895600" cy="716280"/>
          </a:xfrm>
          <a:prstGeom prst="roundRect">
            <a:avLst>
              <a:gd name="adj" fmla="val 8865"/>
            </a:avLst>
          </a:prstGeom>
          <a:solidFill>
            <a:srgbClr val="ECEFE3"/>
          </a:solidFill>
          <a:ln/>
        </p:spPr>
        <p:txBody>
          <a:bodyPr wrap="square" lIns="133801" tIns="108401" rIns="56077" bIns="83001" rtlCol="0" anchor="t">
            <a:normAutofit/>
          </a:bodyPr>
          <a:lstStyle/>
          <a:p>
            <a:pPr marL="0" indent="0" algn="l">
              <a:lnSpc>
                <a:spcPts val="1820"/>
              </a:lnSpc>
              <a:buNone/>
            </a:pPr>
            <a:r>
              <a:rPr lang="en-US" sz="1300" dirty="0">
                <a:solidFill>
                  <a:srgbClr val="1B2A1E"/>
                </a:solidFill>
                <a:latin typeface="IBM Plex Sans" pitchFamily="34" charset="0"/>
                <a:ea typeface="IBM Plex Sans" pitchFamily="34" charset="-122"/>
                <a:cs typeface="IBM Plex Sans" pitchFamily="34" charset="-120"/>
              </a:rPr>
              <a:t>Видит убыток в 25 из 26 округов и заранее готовит резервы</a:t>
            </a:r>
            <a:endParaRPr lang="en-US" sz="1300" dirty="0"/>
          </a:p>
        </p:txBody>
      </p:sp>
      <p:sp>
        <p:nvSpPr>
          <p:cNvPr id="20" name="Text 18"/>
          <p:cNvSpPr/>
          <p:nvPr/>
        </p:nvSpPr>
        <p:spPr>
          <a:xfrm>
            <a:off x="10058400" y="6238242"/>
            <a:ext cx="1320800" cy="23876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6B7A6E"/>
                </a:solidFill>
                <a:latin typeface="IBM Plex Sans" pitchFamily="34" charset="0"/>
                <a:ea typeface="IBM Plex Sans" pitchFamily="34" charset="-122"/>
                <a:cs typeface="IBM Plex Sans" pitchFamily="34" charset="-120"/>
              </a:rPr>
              <a:t>12</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5F6EF"/>
        </a:solidFill>
        <a:effectLst/>
      </p:bgPr>
    </p:bg>
    <p:spTree>
      <p:nvGrpSpPr>
        <p:cNvPr id="1" name=""/>
        <p:cNvGrpSpPr/>
        <p:nvPr/>
      </p:nvGrpSpPr>
      <p:grpSpPr>
        <a:xfrm>
          <a:off x="0" y="0"/>
          <a:ext cx="0" cy="0"/>
          <a:chOff x="0" y="0"/>
          <a:chExt cx="0" cy="0"/>
        </a:xfrm>
      </p:grpSpPr>
      <p:sp>
        <p:nvSpPr>
          <p:cNvPr id="3" name="Text 1"/>
          <p:cNvSpPr>
            <a:spLocks noGrp="1"/>
          </p:cNvSpPr>
          <p:nvPr>
            <p:ph type="title"/>
          </p:nvPr>
        </p:nvSpPr>
        <p:spPr>
          <a:xfrm>
            <a:off x="812800" y="812800"/>
            <a:ext cx="10883392" cy="416560"/>
          </a:xfrm>
          <a:prstGeom prst="rect">
            <a:avLst/>
          </a:prstGeom>
          <a:noFill/>
          <a:ln/>
        </p:spPr>
        <p:txBody>
          <a:bodyPr wrap="square" lIns="0" tIns="0" rIns="0" bIns="0" rtlCol="0" anchor="t">
            <a:normAutofit/>
          </a:bodyPr>
          <a:lstStyle/>
          <a:p>
            <a:pPr marL="0" indent="0" algn="l">
              <a:lnSpc>
                <a:spcPts val="3080"/>
              </a:lnSpc>
              <a:buNone/>
            </a:pPr>
            <a:r>
              <a:rPr lang="en-US" sz="2800" b="1" i="0" dirty="0">
                <a:solidFill>
                  <a:srgbClr val="1F4424"/>
                </a:solidFill>
                <a:latin typeface="Montserrat" pitchFamily="34" charset="0"/>
                <a:ea typeface="Montserrat" pitchFamily="34" charset="-122"/>
                <a:cs typeface="Montserrat" pitchFamily="34" charset="-120"/>
              </a:rPr>
              <a:t>Развитие: от прототипа к рабочему сервису банка</a:t>
            </a:r>
            <a:endParaRPr lang="en-US" sz="2800" dirty="0"/>
          </a:p>
        </p:txBody>
      </p:sp>
      <p:sp>
        <p:nvSpPr>
          <p:cNvPr id="4" name="Shape 2"/>
          <p:cNvSpPr/>
          <p:nvPr/>
        </p:nvSpPr>
        <p:spPr>
          <a:xfrm>
            <a:off x="812800" y="2295529"/>
            <a:ext cx="10566400" cy="0"/>
          </a:xfrm>
          <a:prstGeom prst="line">
            <a:avLst/>
          </a:prstGeom>
          <a:noFill/>
          <a:ln w="6350">
            <a:solidFill>
              <a:srgbClr val="DDE2D3"/>
            </a:solidFill>
            <a:prstDash val="solid"/>
          </a:ln>
        </p:spPr>
        <p:txBody>
          <a:bodyPr/>
          <a:lstStyle/>
          <a:p>
            <a:endParaRPr lang="ru-RU"/>
          </a:p>
        </p:txBody>
      </p:sp>
      <p:sp>
        <p:nvSpPr>
          <p:cNvPr id="5" name="Text 3"/>
          <p:cNvSpPr/>
          <p:nvPr/>
        </p:nvSpPr>
        <p:spPr>
          <a:xfrm>
            <a:off x="812800" y="1767842"/>
            <a:ext cx="2747010" cy="292100"/>
          </a:xfrm>
          <a:prstGeom prst="rect">
            <a:avLst/>
          </a:prstGeom>
          <a:noFill/>
          <a:ln/>
        </p:spPr>
        <p:txBody>
          <a:bodyPr wrap="square" lIns="0" tIns="0" rIns="0" bIns="0" rtlCol="0" anchor="t">
            <a:normAutofit/>
          </a:bodyPr>
          <a:lstStyle/>
          <a:p>
            <a:pPr marL="0" indent="0" algn="l">
              <a:lnSpc>
                <a:spcPts val="2100"/>
              </a:lnSpc>
              <a:buNone/>
            </a:pPr>
            <a:r>
              <a:rPr lang="en-US" sz="1500" b="1" dirty="0">
                <a:solidFill>
                  <a:srgbClr val="238441"/>
                </a:solidFill>
                <a:latin typeface="Montserrat" pitchFamily="34" charset="0"/>
                <a:ea typeface="Montserrat" pitchFamily="34" charset="-122"/>
                <a:cs typeface="Montserrat" pitchFamily="34" charset="-120"/>
              </a:rPr>
              <a:t>Автообновление</a:t>
            </a:r>
            <a:endParaRPr lang="en-US" sz="1500" dirty="0"/>
          </a:p>
        </p:txBody>
      </p:sp>
      <p:sp>
        <p:nvSpPr>
          <p:cNvPr id="6" name="Text 4"/>
          <p:cNvSpPr/>
          <p:nvPr/>
        </p:nvSpPr>
        <p:spPr>
          <a:xfrm>
            <a:off x="3733800" y="1661164"/>
            <a:ext cx="7874762" cy="505460"/>
          </a:xfrm>
          <a:prstGeom prst="rect">
            <a:avLst/>
          </a:prstGeom>
          <a:noFill/>
          <a:ln/>
        </p:spPr>
        <p:txBody>
          <a:bodyPr wrap="square" lIns="0" tIns="0" rIns="0" bIns="0" rtlCol="0" anchor="t">
            <a:normAutofit/>
          </a:bodyPr>
          <a:lstStyle/>
          <a:p>
            <a:pPr marL="0" indent="0" algn="l">
              <a:lnSpc>
                <a:spcPts val="1890"/>
              </a:lnSpc>
              <a:buNone/>
            </a:pPr>
            <a:r>
              <a:rPr lang="en-US" sz="1400" dirty="0">
                <a:solidFill>
                  <a:srgbClr val="3F4F43"/>
                </a:solidFill>
                <a:latin typeface="IBM Plex Sans" pitchFamily="34" charset="0"/>
                <a:ea typeface="IBM Plex Sans" pitchFamily="34" charset="-122"/>
                <a:cs typeface="IBM Plex Sans" pitchFamily="34" charset="-120"/>
              </a:rPr>
              <a:t>GitHub Actions раз в неделю загружает погоду и пересчитывает модели без участия человека</a:t>
            </a:r>
            <a:endParaRPr lang="en-US" sz="1400" dirty="0"/>
          </a:p>
        </p:txBody>
      </p:sp>
      <p:sp>
        <p:nvSpPr>
          <p:cNvPr id="7" name="Shape 5"/>
          <p:cNvSpPr/>
          <p:nvPr/>
        </p:nvSpPr>
        <p:spPr>
          <a:xfrm>
            <a:off x="812800" y="2872105"/>
            <a:ext cx="10566400" cy="0"/>
          </a:xfrm>
          <a:prstGeom prst="line">
            <a:avLst/>
          </a:prstGeom>
          <a:noFill/>
          <a:ln w="6350">
            <a:solidFill>
              <a:srgbClr val="DDE2D3"/>
            </a:solidFill>
            <a:prstDash val="solid"/>
          </a:ln>
        </p:spPr>
        <p:txBody>
          <a:bodyPr/>
          <a:lstStyle/>
          <a:p>
            <a:endParaRPr lang="ru-RU"/>
          </a:p>
        </p:txBody>
      </p:sp>
      <p:sp>
        <p:nvSpPr>
          <p:cNvPr id="8" name="Text 6"/>
          <p:cNvSpPr/>
          <p:nvPr/>
        </p:nvSpPr>
        <p:spPr>
          <a:xfrm>
            <a:off x="812800" y="2451100"/>
            <a:ext cx="2747010" cy="292100"/>
          </a:xfrm>
          <a:prstGeom prst="rect">
            <a:avLst/>
          </a:prstGeom>
          <a:noFill/>
          <a:ln/>
        </p:spPr>
        <p:txBody>
          <a:bodyPr wrap="square" lIns="0" tIns="0" rIns="0" bIns="0" rtlCol="0" anchor="t">
            <a:normAutofit/>
          </a:bodyPr>
          <a:lstStyle/>
          <a:p>
            <a:pPr marL="0" indent="0" algn="l">
              <a:lnSpc>
                <a:spcPts val="2100"/>
              </a:lnSpc>
              <a:buNone/>
            </a:pPr>
            <a:r>
              <a:rPr lang="en-US" sz="1500" b="1" dirty="0">
                <a:solidFill>
                  <a:srgbClr val="238441"/>
                </a:solidFill>
                <a:latin typeface="Montserrat" pitchFamily="34" charset="0"/>
                <a:ea typeface="Montserrat" pitchFamily="34" charset="-122"/>
                <a:cs typeface="Montserrat" pitchFamily="34" charset="-120"/>
              </a:rPr>
              <a:t>Все регионы</a:t>
            </a:r>
            <a:endParaRPr lang="en-US" sz="1500" dirty="0"/>
          </a:p>
        </p:txBody>
      </p:sp>
      <p:sp>
        <p:nvSpPr>
          <p:cNvPr id="9" name="Text 7"/>
          <p:cNvSpPr/>
          <p:nvPr/>
        </p:nvSpPr>
        <p:spPr>
          <a:xfrm>
            <a:off x="3733800" y="2464439"/>
            <a:ext cx="7874762" cy="265430"/>
          </a:xfrm>
          <a:prstGeom prst="rect">
            <a:avLst/>
          </a:prstGeom>
          <a:noFill/>
          <a:ln/>
        </p:spPr>
        <p:txBody>
          <a:bodyPr wrap="square" lIns="0" tIns="0" rIns="0" bIns="0" rtlCol="0" anchor="t">
            <a:normAutofit/>
          </a:bodyPr>
          <a:lstStyle/>
          <a:p>
            <a:pPr marL="0" indent="0" algn="l">
              <a:lnSpc>
                <a:spcPts val="1890"/>
              </a:lnSpc>
              <a:buNone/>
            </a:pPr>
            <a:r>
              <a:rPr lang="en-US" sz="1400" dirty="0">
                <a:solidFill>
                  <a:srgbClr val="3F4F43"/>
                </a:solidFill>
                <a:latin typeface="IBM Plex Sans" pitchFamily="34" charset="0"/>
                <a:ea typeface="IBM Plex Sans" pitchFamily="34" charset="-122"/>
                <a:cs typeface="IBM Plex Sans" pitchFamily="34" charset="-120"/>
              </a:rPr>
              <a:t>та же методика для других субъектов: БД ПМО уже содержит все муниципалитеты России</a:t>
            </a:r>
            <a:endParaRPr lang="en-US" sz="1400" dirty="0"/>
          </a:p>
        </p:txBody>
      </p:sp>
      <p:sp>
        <p:nvSpPr>
          <p:cNvPr id="10" name="Shape 8"/>
          <p:cNvSpPr/>
          <p:nvPr/>
        </p:nvSpPr>
        <p:spPr>
          <a:xfrm>
            <a:off x="812800" y="3448684"/>
            <a:ext cx="10566400" cy="0"/>
          </a:xfrm>
          <a:prstGeom prst="line">
            <a:avLst/>
          </a:prstGeom>
          <a:noFill/>
          <a:ln w="6350">
            <a:solidFill>
              <a:srgbClr val="DDE2D3"/>
            </a:solidFill>
            <a:prstDash val="solid"/>
          </a:ln>
        </p:spPr>
        <p:txBody>
          <a:bodyPr/>
          <a:lstStyle/>
          <a:p>
            <a:endParaRPr lang="ru-RU"/>
          </a:p>
        </p:txBody>
      </p:sp>
      <p:sp>
        <p:nvSpPr>
          <p:cNvPr id="11" name="Text 9"/>
          <p:cNvSpPr/>
          <p:nvPr/>
        </p:nvSpPr>
        <p:spPr>
          <a:xfrm>
            <a:off x="812800" y="3027679"/>
            <a:ext cx="2747010" cy="292100"/>
          </a:xfrm>
          <a:prstGeom prst="rect">
            <a:avLst/>
          </a:prstGeom>
          <a:noFill/>
          <a:ln/>
        </p:spPr>
        <p:txBody>
          <a:bodyPr wrap="square" lIns="0" tIns="0" rIns="0" bIns="0" rtlCol="0" anchor="t">
            <a:normAutofit/>
          </a:bodyPr>
          <a:lstStyle/>
          <a:p>
            <a:pPr marL="0" indent="0" algn="l">
              <a:lnSpc>
                <a:spcPts val="2100"/>
              </a:lnSpc>
              <a:buNone/>
            </a:pPr>
            <a:r>
              <a:rPr lang="en-US" sz="1500" b="1" dirty="0">
                <a:solidFill>
                  <a:srgbClr val="238441"/>
                </a:solidFill>
                <a:latin typeface="Montserrat" pitchFamily="34" charset="0"/>
                <a:ea typeface="Montserrat" pitchFamily="34" charset="-122"/>
                <a:cs typeface="Montserrat" pitchFamily="34" charset="-120"/>
              </a:rPr>
              <a:t>Спутниковые данные</a:t>
            </a:r>
            <a:endParaRPr lang="en-US" sz="1500" dirty="0"/>
          </a:p>
        </p:txBody>
      </p:sp>
      <p:sp>
        <p:nvSpPr>
          <p:cNvPr id="12" name="Text 10"/>
          <p:cNvSpPr/>
          <p:nvPr/>
        </p:nvSpPr>
        <p:spPr>
          <a:xfrm>
            <a:off x="3733800" y="3041017"/>
            <a:ext cx="7874762" cy="265430"/>
          </a:xfrm>
          <a:prstGeom prst="rect">
            <a:avLst/>
          </a:prstGeom>
          <a:noFill/>
          <a:ln/>
        </p:spPr>
        <p:txBody>
          <a:bodyPr wrap="square" lIns="0" tIns="0" rIns="0" bIns="0" rtlCol="0" anchor="t">
            <a:normAutofit/>
          </a:bodyPr>
          <a:lstStyle/>
          <a:p>
            <a:pPr marL="0" indent="0" algn="l">
              <a:lnSpc>
                <a:spcPts val="1890"/>
              </a:lnSpc>
              <a:buNone/>
            </a:pPr>
            <a:r>
              <a:rPr lang="en-US" sz="1400" dirty="0">
                <a:solidFill>
                  <a:srgbClr val="3F4F43"/>
                </a:solidFill>
                <a:latin typeface="IBM Plex Sans" pitchFamily="34" charset="0"/>
                <a:ea typeface="IBM Plex Sans" pitchFamily="34" charset="-122"/>
                <a:cs typeface="IBM Plex Sans" pitchFamily="34" charset="-120"/>
              </a:rPr>
              <a:t>индекс вегетации NDVI по полям вместо погоды по центру округа</a:t>
            </a:r>
            <a:endParaRPr lang="en-US" sz="1400" dirty="0"/>
          </a:p>
        </p:txBody>
      </p:sp>
      <p:sp>
        <p:nvSpPr>
          <p:cNvPr id="13" name="Shape 11"/>
          <p:cNvSpPr/>
          <p:nvPr/>
        </p:nvSpPr>
        <p:spPr>
          <a:xfrm>
            <a:off x="812800" y="4238629"/>
            <a:ext cx="10566400" cy="0"/>
          </a:xfrm>
          <a:prstGeom prst="line">
            <a:avLst/>
          </a:prstGeom>
          <a:noFill/>
          <a:ln w="6350">
            <a:solidFill>
              <a:srgbClr val="DDE2D3"/>
            </a:solidFill>
            <a:prstDash val="solid"/>
          </a:ln>
        </p:spPr>
        <p:txBody>
          <a:bodyPr/>
          <a:lstStyle/>
          <a:p>
            <a:endParaRPr lang="ru-RU"/>
          </a:p>
        </p:txBody>
      </p:sp>
      <p:sp>
        <p:nvSpPr>
          <p:cNvPr id="14" name="Text 12"/>
          <p:cNvSpPr/>
          <p:nvPr/>
        </p:nvSpPr>
        <p:spPr>
          <a:xfrm>
            <a:off x="812800" y="3710942"/>
            <a:ext cx="2747010" cy="292100"/>
          </a:xfrm>
          <a:prstGeom prst="rect">
            <a:avLst/>
          </a:prstGeom>
          <a:noFill/>
          <a:ln/>
        </p:spPr>
        <p:txBody>
          <a:bodyPr wrap="square" lIns="0" tIns="0" rIns="0" bIns="0" rtlCol="0" anchor="t">
            <a:normAutofit/>
          </a:bodyPr>
          <a:lstStyle/>
          <a:p>
            <a:pPr marL="0" indent="0" algn="l">
              <a:lnSpc>
                <a:spcPts val="2100"/>
              </a:lnSpc>
              <a:buNone/>
            </a:pPr>
            <a:r>
              <a:rPr lang="en-US" sz="1500" b="1" dirty="0">
                <a:solidFill>
                  <a:srgbClr val="238441"/>
                </a:solidFill>
                <a:latin typeface="Montserrat" pitchFamily="34" charset="0"/>
                <a:ea typeface="Montserrat" pitchFamily="34" charset="-122"/>
                <a:cs typeface="Montserrat" pitchFamily="34" charset="-120"/>
              </a:rPr>
              <a:t>Хранилище данных</a:t>
            </a:r>
            <a:endParaRPr lang="en-US" sz="1500" dirty="0"/>
          </a:p>
        </p:txBody>
      </p:sp>
      <p:sp>
        <p:nvSpPr>
          <p:cNvPr id="15" name="Text 13"/>
          <p:cNvSpPr/>
          <p:nvPr/>
        </p:nvSpPr>
        <p:spPr>
          <a:xfrm>
            <a:off x="3733800" y="3604264"/>
            <a:ext cx="7874762" cy="505460"/>
          </a:xfrm>
          <a:prstGeom prst="rect">
            <a:avLst/>
          </a:prstGeom>
          <a:noFill/>
          <a:ln/>
        </p:spPr>
        <p:txBody>
          <a:bodyPr wrap="square" lIns="0" tIns="0" rIns="0" bIns="0" rtlCol="0" anchor="t">
            <a:normAutofit/>
          </a:bodyPr>
          <a:lstStyle/>
          <a:p>
            <a:pPr marL="0" indent="0" algn="l">
              <a:lnSpc>
                <a:spcPts val="1890"/>
              </a:lnSpc>
              <a:buNone/>
            </a:pPr>
            <a:r>
              <a:rPr lang="en-US" sz="1400" dirty="0">
                <a:solidFill>
                  <a:srgbClr val="3F4F43"/>
                </a:solidFill>
                <a:latin typeface="IBM Plex Sans" pitchFamily="34" charset="0"/>
                <a:ea typeface="IBM Plex Sans" pitchFamily="34" charset="-122"/>
                <a:cs typeface="IBM Plex Sans" pitchFamily="34" charset="-120"/>
              </a:rPr>
              <a:t>DWH на ClickHouse и dbt: история показателей, версии моделей, контроль качества данных</a:t>
            </a:r>
            <a:endParaRPr lang="en-US" sz="1400" dirty="0"/>
          </a:p>
        </p:txBody>
      </p:sp>
      <p:sp>
        <p:nvSpPr>
          <p:cNvPr id="16" name="Text 14"/>
          <p:cNvSpPr/>
          <p:nvPr/>
        </p:nvSpPr>
        <p:spPr>
          <a:xfrm>
            <a:off x="812800" y="4500879"/>
            <a:ext cx="2747010" cy="292100"/>
          </a:xfrm>
          <a:prstGeom prst="rect">
            <a:avLst/>
          </a:prstGeom>
          <a:noFill/>
          <a:ln/>
        </p:spPr>
        <p:txBody>
          <a:bodyPr wrap="square" lIns="0" tIns="0" rIns="0" bIns="0" rtlCol="0" anchor="t">
            <a:normAutofit/>
          </a:bodyPr>
          <a:lstStyle/>
          <a:p>
            <a:pPr marL="0" indent="0" algn="l">
              <a:lnSpc>
                <a:spcPts val="2100"/>
              </a:lnSpc>
              <a:buNone/>
            </a:pPr>
            <a:r>
              <a:rPr lang="en-US" sz="1500" b="1" dirty="0">
                <a:solidFill>
                  <a:srgbClr val="238441"/>
                </a:solidFill>
                <a:latin typeface="Montserrat" pitchFamily="34" charset="0"/>
                <a:ea typeface="Montserrat" pitchFamily="34" charset="-122"/>
                <a:cs typeface="Montserrat" pitchFamily="34" charset="-120"/>
              </a:rPr>
              <a:t>Данные банка</a:t>
            </a:r>
            <a:endParaRPr lang="en-US" sz="1500" dirty="0"/>
          </a:p>
        </p:txBody>
      </p:sp>
      <p:sp>
        <p:nvSpPr>
          <p:cNvPr id="17" name="Text 15"/>
          <p:cNvSpPr/>
          <p:nvPr/>
        </p:nvSpPr>
        <p:spPr>
          <a:xfrm>
            <a:off x="3733800" y="4394200"/>
            <a:ext cx="7874762" cy="505460"/>
          </a:xfrm>
          <a:prstGeom prst="rect">
            <a:avLst/>
          </a:prstGeom>
          <a:noFill/>
          <a:ln/>
        </p:spPr>
        <p:txBody>
          <a:bodyPr wrap="square" lIns="0" tIns="0" rIns="0" bIns="0" rtlCol="0" anchor="t">
            <a:normAutofit/>
          </a:bodyPr>
          <a:lstStyle/>
          <a:p>
            <a:pPr marL="0" indent="0" algn="l">
              <a:lnSpc>
                <a:spcPts val="1890"/>
              </a:lnSpc>
              <a:buNone/>
            </a:pPr>
            <a:r>
              <a:rPr lang="en-US" sz="1400" dirty="0">
                <a:solidFill>
                  <a:srgbClr val="3F4F43"/>
                </a:solidFill>
                <a:latin typeface="IBM Plex Sans" pitchFamily="34" charset="0"/>
                <a:ea typeface="IBM Plex Sans" pitchFamily="34" charset="-122"/>
                <a:cs typeface="IBM Plex Sans" pitchFamily="34" charset="-120"/>
              </a:rPr>
              <a:t>фактические затраты и отчетность заемщиков (ГИР БО), выгрузка в BI банка: CSV для DataLens уже готовы</a:t>
            </a:r>
            <a:endParaRPr lang="en-US" sz="1400" dirty="0"/>
          </a:p>
        </p:txBody>
      </p:sp>
      <p:sp>
        <p:nvSpPr>
          <p:cNvPr id="19" name="Text 17"/>
          <p:cNvSpPr/>
          <p:nvPr/>
        </p:nvSpPr>
        <p:spPr>
          <a:xfrm>
            <a:off x="10058400" y="6238242"/>
            <a:ext cx="1320800" cy="23876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6B7A6E"/>
                </a:solidFill>
                <a:latin typeface="IBM Plex Sans" pitchFamily="34" charset="0"/>
                <a:ea typeface="IBM Plex Sans" pitchFamily="34" charset="-122"/>
                <a:cs typeface="IBM Plex Sans" pitchFamily="34" charset="-120"/>
              </a:rPr>
              <a:t>13</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1F4424"/>
        </a:solidFill>
        <a:effectLst/>
      </p:bgPr>
    </p:bg>
    <p:spTree>
      <p:nvGrpSpPr>
        <p:cNvPr id="1" name=""/>
        <p:cNvGrpSpPr/>
        <p:nvPr/>
      </p:nvGrpSpPr>
      <p:grpSpPr>
        <a:xfrm>
          <a:off x="0" y="0"/>
          <a:ext cx="0" cy="0"/>
          <a:chOff x="0" y="0"/>
          <a:chExt cx="0" cy="0"/>
        </a:xfrm>
      </p:grpSpPr>
      <p:sp>
        <p:nvSpPr>
          <p:cNvPr id="2" name="Shape 0"/>
          <p:cNvSpPr/>
          <p:nvPr/>
        </p:nvSpPr>
        <p:spPr>
          <a:xfrm>
            <a:off x="0" y="0"/>
            <a:ext cx="152400" cy="6858000"/>
          </a:xfrm>
          <a:prstGeom prst="rect">
            <a:avLst/>
          </a:prstGeom>
          <a:solidFill>
            <a:srgbClr val="FFCB05"/>
          </a:solidFill>
          <a:ln/>
        </p:spPr>
        <p:txBody>
          <a:bodyPr/>
          <a:lstStyle/>
          <a:p>
            <a:endParaRPr lang="ru-RU"/>
          </a:p>
        </p:txBody>
      </p:sp>
      <p:sp>
        <p:nvSpPr>
          <p:cNvPr id="3" name="Text 1"/>
          <p:cNvSpPr>
            <a:spLocks noGrp="1"/>
          </p:cNvSpPr>
          <p:nvPr>
            <p:ph type="title"/>
          </p:nvPr>
        </p:nvSpPr>
        <p:spPr>
          <a:xfrm>
            <a:off x="812800" y="1799592"/>
            <a:ext cx="10883392" cy="1143000"/>
          </a:xfrm>
          <a:prstGeom prst="rect">
            <a:avLst/>
          </a:prstGeom>
          <a:noFill/>
          <a:ln/>
        </p:spPr>
        <p:txBody>
          <a:bodyPr wrap="square" lIns="0" tIns="0" rIns="0" bIns="0" rtlCol="0" anchor="t">
            <a:normAutofit/>
          </a:bodyPr>
          <a:lstStyle/>
          <a:p>
            <a:pPr marL="0" indent="0" algn="l">
              <a:lnSpc>
                <a:spcPts val="4400"/>
              </a:lnSpc>
              <a:buNone/>
            </a:pPr>
            <a:r>
              <a:rPr lang="en-US" sz="4000" b="1" i="0" dirty="0">
                <a:solidFill>
                  <a:srgbClr val="F3F5EC"/>
                </a:solidFill>
                <a:latin typeface="Montserrat" pitchFamily="34" charset="0"/>
                <a:ea typeface="Montserrat" pitchFamily="34" charset="-122"/>
                <a:cs typeface="Montserrat" pitchFamily="34" charset="-120"/>
              </a:rPr>
              <a:t>Дашборд открыт и работает</a:t>
            </a:r>
            <a:endParaRPr lang="en-US" sz="4000" dirty="0"/>
          </a:p>
          <a:p>
            <a:pPr marL="0" indent="0" algn="l">
              <a:lnSpc>
                <a:spcPts val="4400"/>
              </a:lnSpc>
              <a:buNone/>
            </a:pPr>
            <a:r>
              <a:rPr lang="en-US" sz="4000" b="1" i="0" dirty="0">
                <a:solidFill>
                  <a:srgbClr val="F3F5EC"/>
                </a:solidFill>
                <a:latin typeface="Montserrat" pitchFamily="34" charset="0"/>
                <a:ea typeface="Montserrat" pitchFamily="34" charset="-122"/>
                <a:cs typeface="Montserrat" pitchFamily="34" charset="-120"/>
              </a:rPr>
              <a:t>на реальных данных</a:t>
            </a:r>
            <a:endParaRPr lang="en-US" sz="4000" dirty="0"/>
          </a:p>
        </p:txBody>
      </p:sp>
      <p:sp>
        <p:nvSpPr>
          <p:cNvPr id="4" name="Text 2"/>
          <p:cNvSpPr/>
          <p:nvPr/>
        </p:nvSpPr>
        <p:spPr>
          <a:xfrm>
            <a:off x="812800" y="3257550"/>
            <a:ext cx="1962150" cy="27432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A6CE39"/>
                </a:solidFill>
                <a:latin typeface="IBM Plex Sans" pitchFamily="34" charset="0"/>
                <a:ea typeface="IBM Plex Sans" pitchFamily="34" charset="-122"/>
                <a:cs typeface="IBM Plex Sans" pitchFamily="34" charset="-120"/>
              </a:rPr>
              <a:t>Дашборд</a:t>
            </a:r>
            <a:endParaRPr lang="en-US" sz="1400" dirty="0"/>
          </a:p>
        </p:txBody>
      </p:sp>
      <p:sp>
        <p:nvSpPr>
          <p:cNvPr id="5" name="Text 3"/>
          <p:cNvSpPr/>
          <p:nvPr/>
        </p:nvSpPr>
        <p:spPr>
          <a:xfrm>
            <a:off x="2921000" y="3221992"/>
            <a:ext cx="4741640" cy="345440"/>
          </a:xfrm>
          <a:prstGeom prst="rect">
            <a:avLst/>
          </a:prstGeom>
          <a:noFill/>
          <a:ln/>
        </p:spPr>
        <p:txBody>
          <a:bodyPr wrap="square" lIns="0" tIns="0" rIns="0" bIns="0" rtlCol="0" anchor="t">
            <a:normAutofit/>
          </a:bodyPr>
          <a:lstStyle/>
          <a:p>
            <a:pPr marL="0" indent="0" algn="l">
              <a:lnSpc>
                <a:spcPts val="2520"/>
              </a:lnSpc>
              <a:buNone/>
            </a:pPr>
            <a:r>
              <a:rPr lang="en-US" sz="1800" b="1" dirty="0">
                <a:solidFill>
                  <a:srgbClr val="FFCB05"/>
                </a:solidFill>
                <a:latin typeface="IBM Plex Sans" pitchFamily="34" charset="0"/>
                <a:ea typeface="IBM Plex Sans" pitchFamily="34" charset="-122"/>
                <a:cs typeface="IBM Plex Sans" pitchFamily="34" charset="-120"/>
              </a:rPr>
              <a:t>sobakablohastaya9-ops.github.io/-_-</a:t>
            </a:r>
            <a:endParaRPr lang="en-US" sz="1800" dirty="0"/>
          </a:p>
        </p:txBody>
      </p:sp>
      <p:sp>
        <p:nvSpPr>
          <p:cNvPr id="6" name="Text 4"/>
          <p:cNvSpPr/>
          <p:nvPr/>
        </p:nvSpPr>
        <p:spPr>
          <a:xfrm>
            <a:off x="812800" y="3729992"/>
            <a:ext cx="1962150" cy="27432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A6CE39"/>
                </a:solidFill>
                <a:latin typeface="IBM Plex Sans" pitchFamily="34" charset="0"/>
                <a:ea typeface="IBM Plex Sans" pitchFamily="34" charset="-122"/>
                <a:cs typeface="IBM Plex Sans" pitchFamily="34" charset="-120"/>
              </a:rPr>
              <a:t>Код и данные</a:t>
            </a:r>
            <a:endParaRPr lang="en-US" sz="1400" dirty="0"/>
          </a:p>
        </p:txBody>
      </p:sp>
      <p:sp>
        <p:nvSpPr>
          <p:cNvPr id="7" name="Text 5"/>
          <p:cNvSpPr/>
          <p:nvPr/>
        </p:nvSpPr>
        <p:spPr>
          <a:xfrm>
            <a:off x="2921000" y="3694429"/>
            <a:ext cx="5085588" cy="345440"/>
          </a:xfrm>
          <a:prstGeom prst="rect">
            <a:avLst/>
          </a:prstGeom>
          <a:noFill/>
          <a:ln/>
        </p:spPr>
        <p:txBody>
          <a:bodyPr wrap="square" lIns="0" tIns="0" rIns="0" bIns="0" rtlCol="0" anchor="t">
            <a:normAutofit/>
          </a:bodyPr>
          <a:lstStyle/>
          <a:p>
            <a:pPr marL="0" indent="0" algn="l">
              <a:lnSpc>
                <a:spcPts val="2520"/>
              </a:lnSpc>
              <a:buNone/>
            </a:pPr>
            <a:r>
              <a:rPr lang="en-US" sz="1800" b="1" dirty="0">
                <a:solidFill>
                  <a:srgbClr val="F3F5EC"/>
                </a:solidFill>
                <a:latin typeface="IBM Plex Sans" pitchFamily="34" charset="0"/>
                <a:ea typeface="IBM Plex Sans" pitchFamily="34" charset="-122"/>
                <a:cs typeface="IBM Plex Sans" pitchFamily="34" charset="-120"/>
              </a:rPr>
              <a:t>github.com/sobakablohastaya9-ops/-_-</a:t>
            </a:r>
            <a:endParaRPr lang="en-US" sz="1800" dirty="0"/>
          </a:p>
        </p:txBody>
      </p:sp>
      <p:sp>
        <p:nvSpPr>
          <p:cNvPr id="8" name="Text 6"/>
          <p:cNvSpPr/>
          <p:nvPr/>
        </p:nvSpPr>
        <p:spPr>
          <a:xfrm>
            <a:off x="812800" y="4202429"/>
            <a:ext cx="1962150" cy="27432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A6CE39"/>
                </a:solidFill>
                <a:latin typeface="IBM Plex Sans" pitchFamily="34" charset="0"/>
                <a:ea typeface="IBM Plex Sans" pitchFamily="34" charset="-122"/>
                <a:cs typeface="IBM Plex Sans" pitchFamily="34" charset="-120"/>
              </a:rPr>
              <a:t>Автор</a:t>
            </a:r>
            <a:endParaRPr lang="en-US" sz="1400" dirty="0"/>
          </a:p>
        </p:txBody>
      </p:sp>
      <p:sp>
        <p:nvSpPr>
          <p:cNvPr id="9" name="Text 7"/>
          <p:cNvSpPr/>
          <p:nvPr/>
        </p:nvSpPr>
        <p:spPr>
          <a:xfrm>
            <a:off x="2921000" y="4166871"/>
            <a:ext cx="3420427" cy="345440"/>
          </a:xfrm>
          <a:prstGeom prst="rect">
            <a:avLst/>
          </a:prstGeom>
          <a:noFill/>
          <a:ln/>
        </p:spPr>
        <p:txBody>
          <a:bodyPr wrap="square" lIns="0" tIns="0" rIns="0" bIns="0" rtlCol="0" anchor="t">
            <a:normAutofit/>
          </a:bodyPr>
          <a:lstStyle/>
          <a:p>
            <a:pPr marL="0" indent="0" algn="l">
              <a:lnSpc>
                <a:spcPts val="2520"/>
              </a:lnSpc>
              <a:buNone/>
            </a:pPr>
            <a:r>
              <a:rPr lang="ru-RU" b="1" dirty="0">
                <a:solidFill>
                  <a:srgbClr val="F3F5EC"/>
                </a:solidFill>
                <a:latin typeface="IBM Plex Sans" pitchFamily="34" charset="0"/>
                <a:ea typeface="IBM Plex Sans" pitchFamily="34" charset="-122"/>
                <a:cs typeface="IBM Plex Sans" pitchFamily="34" charset="-120"/>
              </a:rPr>
              <a:t>Рогова Валентина</a:t>
            </a:r>
            <a:endParaRPr lang="en-US" sz="1800" dirty="0"/>
          </a:p>
        </p:txBody>
      </p:sp>
      <p:sp>
        <p:nvSpPr>
          <p:cNvPr id="10" name="Text 8"/>
          <p:cNvSpPr/>
          <p:nvPr/>
        </p:nvSpPr>
        <p:spPr>
          <a:xfrm>
            <a:off x="812800" y="4791714"/>
            <a:ext cx="10883392" cy="2921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CFDCC8"/>
                </a:solidFill>
                <a:latin typeface="IBM Plex Sans" pitchFamily="34" charset="0"/>
                <a:ea typeface="IBM Plex Sans" pitchFamily="34" charset="-122"/>
                <a:cs typeface="IBM Plex Sans" pitchFamily="34" charset="-120"/>
              </a:rPr>
              <a:t>Спасибо за внимание!</a:t>
            </a:r>
            <a:endParaRPr lang="en-US" sz="15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ECEFE3"/>
        </a:solidFill>
        <a:effectLst/>
      </p:bgPr>
    </p:bg>
    <p:spTree>
      <p:nvGrpSpPr>
        <p:cNvPr id="1" name=""/>
        <p:cNvGrpSpPr/>
        <p:nvPr/>
      </p:nvGrpSpPr>
      <p:grpSpPr>
        <a:xfrm>
          <a:off x="0" y="0"/>
          <a:ext cx="0" cy="0"/>
          <a:chOff x="0" y="0"/>
          <a:chExt cx="0" cy="0"/>
        </a:xfrm>
      </p:grpSpPr>
      <p:sp>
        <p:nvSpPr>
          <p:cNvPr id="2" name="Text 0"/>
          <p:cNvSpPr/>
          <p:nvPr/>
        </p:nvSpPr>
        <p:spPr>
          <a:xfrm>
            <a:off x="812800" y="381000"/>
            <a:ext cx="3924300" cy="238760"/>
          </a:xfrm>
          <a:prstGeom prst="rect">
            <a:avLst/>
          </a:prstGeom>
          <a:noFill/>
          <a:ln/>
        </p:spPr>
        <p:txBody>
          <a:bodyPr wrap="square" lIns="0" tIns="0" rIns="0" bIns="0" rtlCol="0" anchor="t">
            <a:normAutofit/>
          </a:bodyPr>
          <a:lstStyle/>
          <a:p>
            <a:pPr marL="0" indent="0" algn="l">
              <a:lnSpc>
                <a:spcPts val="1680"/>
              </a:lnSpc>
              <a:buNone/>
            </a:pPr>
            <a:r>
              <a:rPr lang="en-US" sz="1200" b="1" kern="0" spc="50" dirty="0">
                <a:solidFill>
                  <a:srgbClr val="238441"/>
                </a:solidFill>
                <a:latin typeface="IBM Plex Sans" pitchFamily="34" charset="0"/>
                <a:ea typeface="IBM Plex Sans" pitchFamily="34" charset="-122"/>
                <a:cs typeface="IBM Plex Sans" pitchFamily="34" charset="-120"/>
              </a:rPr>
              <a:t>ПРИЛОЖЕНИЕ 1</a:t>
            </a:r>
            <a:endParaRPr lang="en-US" sz="1200" dirty="0"/>
          </a:p>
        </p:txBody>
      </p:sp>
      <p:sp>
        <p:nvSpPr>
          <p:cNvPr id="3" name="Text 1"/>
          <p:cNvSpPr>
            <a:spLocks noGrp="1"/>
          </p:cNvSpPr>
          <p:nvPr>
            <p:ph type="title"/>
          </p:nvPr>
        </p:nvSpPr>
        <p:spPr>
          <a:xfrm>
            <a:off x="812800" y="812800"/>
            <a:ext cx="10883392" cy="803354"/>
          </a:xfrm>
          <a:prstGeom prst="rect">
            <a:avLst/>
          </a:prstGeom>
          <a:noFill/>
          <a:ln/>
        </p:spPr>
        <p:txBody>
          <a:bodyPr wrap="square" lIns="0" tIns="0" rIns="0" bIns="0" rtlCol="0" anchor="t">
            <a:normAutofit/>
          </a:bodyPr>
          <a:lstStyle/>
          <a:p>
            <a:pPr marL="0" indent="0" algn="l">
              <a:lnSpc>
                <a:spcPts val="3080"/>
              </a:lnSpc>
              <a:buNone/>
            </a:pPr>
            <a:r>
              <a:rPr lang="en-US" sz="2800" b="1" i="0" dirty="0">
                <a:solidFill>
                  <a:srgbClr val="1F4424"/>
                </a:solidFill>
                <a:latin typeface="Montserrat" pitchFamily="34" charset="0"/>
                <a:ea typeface="Montserrat" pitchFamily="34" charset="-122"/>
                <a:cs typeface="Montserrat" pitchFamily="34" charset="-120"/>
              </a:rPr>
              <a:t>Модель отобрана по точности прогноза на прошлых годах</a:t>
            </a:r>
            <a:endParaRPr lang="en-US" sz="2800" dirty="0"/>
          </a:p>
        </p:txBody>
      </p:sp>
      <p:pic>
        <p:nvPicPr>
          <p:cNvPr id="4" name="Image 0" descr="Ошибка ретропрогноза для шести вариантов модели"/>
          <p:cNvPicPr>
            <a:picLocks noChangeAspect="1"/>
          </p:cNvPicPr>
          <p:nvPr/>
        </p:nvPicPr>
        <p:blipFill>
          <a:blip r:embed="rId3"/>
          <a:srcRect t="-5" b="-5"/>
          <a:stretch/>
        </p:blipFill>
        <p:spPr>
          <a:xfrm>
            <a:off x="812800" y="1844756"/>
            <a:ext cx="4591050" cy="3302000"/>
          </a:xfrm>
          <a:prstGeom prst="roundRect">
            <a:avLst>
              <a:gd name="adj" fmla="val 2308"/>
            </a:avLst>
          </a:prstGeom>
          <a:ln>
            <a:solidFill>
              <a:schemeClr val="accent1"/>
            </a:solidFill>
          </a:ln>
        </p:spPr>
      </p:pic>
      <p:pic>
        <p:nvPicPr>
          <p:cNvPr id="5" name="Image 1" descr="Ретропрогноз урожайности края: факт, модель и тренд"/>
          <p:cNvPicPr>
            <a:picLocks noChangeAspect="1"/>
          </p:cNvPicPr>
          <p:nvPr/>
        </p:nvPicPr>
        <p:blipFill>
          <a:blip r:embed="rId4"/>
          <a:srcRect t="-146" b="-146"/>
          <a:stretch/>
        </p:blipFill>
        <p:spPr>
          <a:xfrm>
            <a:off x="5607050" y="1844756"/>
            <a:ext cx="4324350" cy="3302000"/>
          </a:xfrm>
          <a:prstGeom prst="roundRect">
            <a:avLst>
              <a:gd name="adj" fmla="val 2308"/>
            </a:avLst>
          </a:prstGeom>
          <a:ln>
            <a:solidFill>
              <a:schemeClr val="accent1"/>
            </a:solidFill>
          </a:ln>
        </p:spPr>
      </p:pic>
      <p:sp>
        <p:nvSpPr>
          <p:cNvPr id="6" name="Text 2"/>
          <p:cNvSpPr/>
          <p:nvPr/>
        </p:nvSpPr>
        <p:spPr>
          <a:xfrm>
            <a:off x="812800" y="5382338"/>
            <a:ext cx="10883392" cy="485061"/>
          </a:xfrm>
          <a:prstGeom prst="rect">
            <a:avLst/>
          </a:prstGeom>
          <a:noFill/>
          <a:ln/>
        </p:spPr>
        <p:txBody>
          <a:bodyPr wrap="square" lIns="0" tIns="0" rIns="0" bIns="0" rtlCol="0" anchor="t">
            <a:normAutofit/>
          </a:bodyPr>
          <a:lstStyle/>
          <a:p>
            <a:pPr marL="0" indent="0" algn="l">
              <a:lnSpc>
                <a:spcPts val="1809"/>
              </a:lnSpc>
              <a:buNone/>
            </a:pPr>
            <a:r>
              <a:rPr lang="en-US" sz="1292" dirty="0">
                <a:solidFill>
                  <a:srgbClr val="3F4F43"/>
                </a:solidFill>
                <a:latin typeface="IBM Plex Sans" pitchFamily="34" charset="0"/>
                <a:ea typeface="IBM Plex Sans" pitchFamily="34" charset="-122"/>
                <a:cs typeface="IBM Plex Sans" pitchFamily="34" charset="-120"/>
              </a:rPr>
              <a:t>Панельная регрессия с фиксированными эффектами округов, 408 наблюдений, ошибки кластеризованы по годам. Проверка leave-one-year-out: каждый год прогнозируется моделью, обученной без него.</a:t>
            </a:r>
            <a:endParaRPr lang="en-US" sz="1292" dirty="0"/>
          </a:p>
        </p:txBody>
      </p:sp>
      <p:sp>
        <p:nvSpPr>
          <p:cNvPr id="7" name="Text 3"/>
          <p:cNvSpPr/>
          <p:nvPr/>
        </p:nvSpPr>
        <p:spPr>
          <a:xfrm>
            <a:off x="10058400" y="6238242"/>
            <a:ext cx="1320800" cy="23876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6B7A6E"/>
                </a:solidFill>
                <a:latin typeface="IBM Plex Sans" pitchFamily="34" charset="0"/>
                <a:ea typeface="IBM Plex Sans" pitchFamily="34" charset="-122"/>
                <a:cs typeface="IBM Plex Sans" pitchFamily="34" charset="-120"/>
              </a:rPr>
              <a:t>П1</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ECEFE3"/>
        </a:solidFill>
        <a:effectLst/>
      </p:bgPr>
    </p:bg>
    <p:spTree>
      <p:nvGrpSpPr>
        <p:cNvPr id="1" name=""/>
        <p:cNvGrpSpPr/>
        <p:nvPr/>
      </p:nvGrpSpPr>
      <p:grpSpPr>
        <a:xfrm>
          <a:off x="0" y="0"/>
          <a:ext cx="0" cy="0"/>
          <a:chOff x="0" y="0"/>
          <a:chExt cx="0" cy="0"/>
        </a:xfrm>
      </p:grpSpPr>
      <p:sp>
        <p:nvSpPr>
          <p:cNvPr id="2" name="Text 0"/>
          <p:cNvSpPr/>
          <p:nvPr/>
        </p:nvSpPr>
        <p:spPr>
          <a:xfrm>
            <a:off x="812800" y="381000"/>
            <a:ext cx="3924300" cy="238760"/>
          </a:xfrm>
          <a:prstGeom prst="rect">
            <a:avLst/>
          </a:prstGeom>
          <a:noFill/>
          <a:ln/>
        </p:spPr>
        <p:txBody>
          <a:bodyPr wrap="square" lIns="0" tIns="0" rIns="0" bIns="0" rtlCol="0" anchor="t">
            <a:normAutofit/>
          </a:bodyPr>
          <a:lstStyle/>
          <a:p>
            <a:pPr marL="0" indent="0" algn="l">
              <a:lnSpc>
                <a:spcPts val="1680"/>
              </a:lnSpc>
              <a:buNone/>
            </a:pPr>
            <a:r>
              <a:rPr lang="en-US" sz="1200" b="1" kern="0" spc="50" dirty="0">
                <a:solidFill>
                  <a:srgbClr val="238441"/>
                </a:solidFill>
                <a:latin typeface="IBM Plex Sans" pitchFamily="34" charset="0"/>
                <a:ea typeface="IBM Plex Sans" pitchFamily="34" charset="-122"/>
                <a:cs typeface="IBM Plex Sans" pitchFamily="34" charset="-120"/>
              </a:rPr>
              <a:t>ПРИЛОЖЕНИЕ 2</a:t>
            </a:r>
            <a:endParaRPr lang="en-US" sz="1200" dirty="0"/>
          </a:p>
        </p:txBody>
      </p:sp>
      <p:sp>
        <p:nvSpPr>
          <p:cNvPr id="3" name="Text 1"/>
          <p:cNvSpPr>
            <a:spLocks noGrp="1"/>
          </p:cNvSpPr>
          <p:nvPr>
            <p:ph type="title"/>
          </p:nvPr>
        </p:nvSpPr>
        <p:spPr>
          <a:xfrm>
            <a:off x="812800" y="812800"/>
            <a:ext cx="10883392" cy="801846"/>
          </a:xfrm>
          <a:prstGeom prst="rect">
            <a:avLst/>
          </a:prstGeom>
          <a:noFill/>
          <a:ln/>
        </p:spPr>
        <p:txBody>
          <a:bodyPr wrap="square" lIns="0" tIns="0" rIns="0" bIns="0" rtlCol="0" anchor="t">
            <a:normAutofit/>
          </a:bodyPr>
          <a:lstStyle/>
          <a:p>
            <a:pPr marL="0" indent="0" algn="l">
              <a:lnSpc>
                <a:spcPts val="3061"/>
              </a:lnSpc>
              <a:buNone/>
            </a:pPr>
            <a:r>
              <a:rPr lang="en-US" sz="2783" b="1" i="0" dirty="0">
                <a:solidFill>
                  <a:srgbClr val="1F4424"/>
                </a:solidFill>
                <a:latin typeface="Montserrat" pitchFamily="34" charset="0"/>
                <a:ea typeface="Montserrat" pitchFamily="34" charset="-122"/>
                <a:cs typeface="Montserrat" pitchFamily="34" charset="-120"/>
              </a:rPr>
              <a:t>Диагностика модели: остатки близки к нормальным, мультиколлинеарности нет</a:t>
            </a:r>
            <a:endParaRPr lang="en-US" sz="2783" dirty="0"/>
          </a:p>
        </p:txBody>
      </p:sp>
      <p:pic>
        <p:nvPicPr>
          <p:cNvPr id="4" name="Image 0" descr="Таблица статистических тестов модели"/>
          <p:cNvPicPr>
            <a:picLocks noChangeAspect="1"/>
          </p:cNvPicPr>
          <p:nvPr/>
        </p:nvPicPr>
        <p:blipFill>
          <a:blip r:embed="rId3"/>
          <a:srcRect l="-57" r="-57"/>
          <a:stretch/>
        </p:blipFill>
        <p:spPr>
          <a:xfrm>
            <a:off x="812800" y="1843249"/>
            <a:ext cx="6350000" cy="2774950"/>
          </a:xfrm>
          <a:prstGeom prst="roundRect">
            <a:avLst>
              <a:gd name="adj" fmla="val 2746"/>
            </a:avLst>
          </a:prstGeom>
          <a:ln>
            <a:solidFill>
              <a:schemeClr val="accent1"/>
            </a:solidFill>
          </a:ln>
        </p:spPr>
      </p:pic>
      <p:pic>
        <p:nvPicPr>
          <p:cNvPr id="5" name="Image 1" descr="Q-Q plot стандартизированных остатков"/>
          <p:cNvPicPr>
            <a:picLocks noChangeAspect="1"/>
          </p:cNvPicPr>
          <p:nvPr/>
        </p:nvPicPr>
        <p:blipFill>
          <a:blip r:embed="rId4"/>
          <a:srcRect t="-2" b="-2"/>
          <a:stretch/>
        </p:blipFill>
        <p:spPr>
          <a:xfrm>
            <a:off x="7366000" y="1843249"/>
            <a:ext cx="4013200" cy="2254250"/>
          </a:xfrm>
          <a:prstGeom prst="roundRect">
            <a:avLst>
              <a:gd name="adj" fmla="val 3380"/>
            </a:avLst>
          </a:prstGeom>
          <a:ln>
            <a:solidFill>
              <a:schemeClr val="accent1"/>
            </a:solidFill>
          </a:ln>
        </p:spPr>
      </p:pic>
      <p:sp>
        <p:nvSpPr>
          <p:cNvPr id="6" name="Text 2"/>
          <p:cNvSpPr/>
          <p:nvPr/>
        </p:nvSpPr>
        <p:spPr>
          <a:xfrm>
            <a:off x="812800" y="4851326"/>
            <a:ext cx="3420507" cy="990679"/>
          </a:xfrm>
          <a:prstGeom prst="roundRect">
            <a:avLst>
              <a:gd name="adj" fmla="val 7692"/>
            </a:avLst>
          </a:prstGeom>
          <a:solidFill>
            <a:srgbClr val="FCFCF8"/>
          </a:solidFill>
          <a:ln/>
          <a:effectLst>
            <a:outerShdw blurRad="50800" dist="38100" dir="5400000" algn="t" rotWithShape="0">
              <a:prstClr val="black">
                <a:alpha val="40000"/>
              </a:prstClr>
            </a:outerShdw>
          </a:effectLst>
        </p:spPr>
        <p:txBody>
          <a:bodyPr wrap="square" lIns="155482" tIns="130082" rIns="63535" bIns="104682" rtlCol="0" anchor="t">
            <a:normAutofit/>
          </a:bodyPr>
          <a:lstStyle/>
          <a:p>
            <a:pPr marL="0" indent="0" algn="l">
              <a:lnSpc>
                <a:spcPts val="1820"/>
              </a:lnSpc>
              <a:buNone/>
            </a:pPr>
            <a:r>
              <a:rPr lang="en-US" sz="1300" dirty="0">
                <a:solidFill>
                  <a:srgbClr val="3F4F43"/>
                </a:solidFill>
                <a:latin typeface="IBM Plex Sans" pitchFamily="34" charset="0"/>
                <a:ea typeface="IBM Plex Sans" pitchFamily="34" charset="-122"/>
                <a:cs typeface="IBM Plex Sans" pitchFamily="34" charset="-120"/>
              </a:rPr>
              <a:t>Шапиро-Уилк p = 0,47: остатки не отличаются от нормальных</a:t>
            </a:r>
            <a:endParaRPr lang="en-US" sz="1300" dirty="0"/>
          </a:p>
        </p:txBody>
      </p:sp>
      <p:sp>
        <p:nvSpPr>
          <p:cNvPr id="7" name="Shape 3"/>
          <p:cNvSpPr/>
          <p:nvPr/>
        </p:nvSpPr>
        <p:spPr>
          <a:xfrm>
            <a:off x="4385707" y="4851326"/>
            <a:ext cx="3420586" cy="990679"/>
          </a:xfrm>
          <a:prstGeom prst="roundRect">
            <a:avLst>
              <a:gd name="adj" fmla="val 7692"/>
            </a:avLst>
          </a:prstGeom>
          <a:solidFill>
            <a:srgbClr val="FCFCF8"/>
          </a:solidFill>
          <a:ln/>
          <a:effectLst>
            <a:outerShdw blurRad="50800" dist="38100" dir="5400000" algn="t" rotWithShape="0">
              <a:prstClr val="black">
                <a:alpha val="40000"/>
              </a:prstClr>
            </a:outerShdw>
          </a:effectLst>
        </p:spPr>
        <p:txBody>
          <a:bodyPr/>
          <a:lstStyle/>
          <a:p>
            <a:endParaRPr lang="ru-RU"/>
          </a:p>
        </p:txBody>
      </p:sp>
      <p:sp>
        <p:nvSpPr>
          <p:cNvPr id="8" name="Text 4"/>
          <p:cNvSpPr/>
          <p:nvPr/>
        </p:nvSpPr>
        <p:spPr>
          <a:xfrm>
            <a:off x="4563507" y="5003726"/>
            <a:ext cx="3156936" cy="711279"/>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3F4F43"/>
                </a:solidFill>
                <a:latin typeface="IBM Plex Sans" pitchFamily="34" charset="0"/>
                <a:ea typeface="IBM Plex Sans" pitchFamily="34" charset="-122"/>
                <a:cs typeface="IBM Plex Sans" pitchFamily="34" charset="-120"/>
              </a:rPr>
              <a:t>Бройша-Пагана p &lt; 0,001: есть гетероскедастичность, поэтому ошибки кластеризованы</a:t>
            </a:r>
            <a:endParaRPr lang="en-US" sz="1300" dirty="0"/>
          </a:p>
        </p:txBody>
      </p:sp>
      <p:sp>
        <p:nvSpPr>
          <p:cNvPr id="9" name="Text 5"/>
          <p:cNvSpPr/>
          <p:nvPr/>
        </p:nvSpPr>
        <p:spPr>
          <a:xfrm>
            <a:off x="7958693" y="4851326"/>
            <a:ext cx="3420507" cy="990679"/>
          </a:xfrm>
          <a:prstGeom prst="roundRect">
            <a:avLst>
              <a:gd name="adj" fmla="val 7692"/>
            </a:avLst>
          </a:prstGeom>
          <a:solidFill>
            <a:srgbClr val="FCFCF8"/>
          </a:solidFill>
          <a:ln/>
          <a:effectLst>
            <a:outerShdw blurRad="50800" dist="38100" dir="5400000" algn="t" rotWithShape="0">
              <a:prstClr val="black">
                <a:alpha val="40000"/>
              </a:prstClr>
            </a:outerShdw>
          </a:effectLst>
        </p:spPr>
        <p:txBody>
          <a:bodyPr wrap="square" lIns="155482" tIns="130082" rIns="63535" bIns="104682" rtlCol="0" anchor="t">
            <a:normAutofit/>
          </a:bodyPr>
          <a:lstStyle/>
          <a:p>
            <a:pPr marL="0" indent="0" algn="l">
              <a:lnSpc>
                <a:spcPts val="1820"/>
              </a:lnSpc>
              <a:buNone/>
            </a:pPr>
            <a:r>
              <a:rPr lang="en-US" sz="1300" dirty="0">
                <a:solidFill>
                  <a:srgbClr val="3F4F43"/>
                </a:solidFill>
                <a:latin typeface="IBM Plex Sans" pitchFamily="34" charset="0"/>
                <a:ea typeface="IBM Plex Sans" pitchFamily="34" charset="-122"/>
                <a:cs typeface="IBM Plex Sans" pitchFamily="34" charset="-120"/>
              </a:rPr>
              <a:t>VIF не выше 1,44: факторы не дублируют друг друга</a:t>
            </a:r>
            <a:endParaRPr lang="en-US" sz="1300" dirty="0"/>
          </a:p>
        </p:txBody>
      </p:sp>
      <p:sp>
        <p:nvSpPr>
          <p:cNvPr id="10" name="Text 6"/>
          <p:cNvSpPr/>
          <p:nvPr/>
        </p:nvSpPr>
        <p:spPr>
          <a:xfrm>
            <a:off x="10058400" y="6238242"/>
            <a:ext cx="1320800" cy="23876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6B7A6E"/>
                </a:solidFill>
                <a:latin typeface="IBM Plex Sans" pitchFamily="34" charset="0"/>
                <a:ea typeface="IBM Plex Sans" pitchFamily="34" charset="-122"/>
                <a:cs typeface="IBM Plex Sans" pitchFamily="34" charset="-120"/>
              </a:rPr>
              <a:t>П2</a:t>
            </a:r>
            <a:endParaRPr lang="en-US" sz="1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ECEFE3"/>
        </a:solidFill>
        <a:effectLst/>
      </p:bgPr>
    </p:bg>
    <p:spTree>
      <p:nvGrpSpPr>
        <p:cNvPr id="1" name=""/>
        <p:cNvGrpSpPr/>
        <p:nvPr/>
      </p:nvGrpSpPr>
      <p:grpSpPr>
        <a:xfrm>
          <a:off x="0" y="0"/>
          <a:ext cx="0" cy="0"/>
          <a:chOff x="0" y="0"/>
          <a:chExt cx="0" cy="0"/>
        </a:xfrm>
      </p:grpSpPr>
      <p:sp>
        <p:nvSpPr>
          <p:cNvPr id="2" name="Text 0"/>
          <p:cNvSpPr/>
          <p:nvPr/>
        </p:nvSpPr>
        <p:spPr>
          <a:xfrm>
            <a:off x="812800" y="381000"/>
            <a:ext cx="3924300" cy="238760"/>
          </a:xfrm>
          <a:prstGeom prst="rect">
            <a:avLst/>
          </a:prstGeom>
          <a:noFill/>
          <a:ln/>
        </p:spPr>
        <p:txBody>
          <a:bodyPr wrap="square" lIns="0" tIns="0" rIns="0" bIns="0" rtlCol="0" anchor="t">
            <a:normAutofit/>
          </a:bodyPr>
          <a:lstStyle/>
          <a:p>
            <a:pPr marL="0" indent="0" algn="l">
              <a:lnSpc>
                <a:spcPts val="1680"/>
              </a:lnSpc>
              <a:buNone/>
            </a:pPr>
            <a:r>
              <a:rPr lang="en-US" sz="1200" b="1" kern="0" spc="50" dirty="0">
                <a:solidFill>
                  <a:srgbClr val="238441"/>
                </a:solidFill>
                <a:latin typeface="IBM Plex Sans" pitchFamily="34" charset="0"/>
                <a:ea typeface="IBM Plex Sans" pitchFamily="34" charset="-122"/>
                <a:cs typeface="IBM Plex Sans" pitchFamily="34" charset="-120"/>
              </a:rPr>
              <a:t>ПРИЛОЖЕНИЕ 3</a:t>
            </a:r>
            <a:endParaRPr lang="en-US" sz="1200" dirty="0"/>
          </a:p>
        </p:txBody>
      </p:sp>
      <p:sp>
        <p:nvSpPr>
          <p:cNvPr id="3" name="Text 1"/>
          <p:cNvSpPr>
            <a:spLocks noGrp="1"/>
          </p:cNvSpPr>
          <p:nvPr>
            <p:ph type="title"/>
          </p:nvPr>
        </p:nvSpPr>
        <p:spPr>
          <a:xfrm>
            <a:off x="812800" y="812800"/>
            <a:ext cx="10883392" cy="792401"/>
          </a:xfrm>
          <a:prstGeom prst="rect">
            <a:avLst/>
          </a:prstGeom>
          <a:noFill/>
          <a:ln/>
        </p:spPr>
        <p:txBody>
          <a:bodyPr wrap="square" lIns="0" tIns="0" rIns="0" bIns="0" rtlCol="0" anchor="t">
            <a:normAutofit/>
          </a:bodyPr>
          <a:lstStyle/>
          <a:p>
            <a:pPr marL="0" indent="0" algn="l">
              <a:lnSpc>
                <a:spcPts val="3032"/>
              </a:lnSpc>
              <a:buNone/>
            </a:pPr>
            <a:r>
              <a:rPr lang="en-US" sz="2756" b="1" i="0" dirty="0">
                <a:solidFill>
                  <a:srgbClr val="1F4424"/>
                </a:solidFill>
                <a:latin typeface="Montserrat" pitchFamily="34" charset="0"/>
                <a:ea typeface="Montserrat" pitchFamily="34" charset="-122"/>
                <a:cs typeface="Montserrat" pitchFamily="34" charset="-120"/>
              </a:rPr>
              <a:t>Экран "Риски": стресс-тест по 8 сценариям и Монте-Карло</a:t>
            </a:r>
            <a:endParaRPr lang="en-US" sz="2756" dirty="0"/>
          </a:p>
        </p:txBody>
      </p:sp>
      <p:pic>
        <p:nvPicPr>
          <p:cNvPr id="4" name="Image 0" descr="Матрица стресс-теста: маржа по округам и сценариям"/>
          <p:cNvPicPr>
            <a:picLocks noChangeAspect="1"/>
          </p:cNvPicPr>
          <p:nvPr/>
        </p:nvPicPr>
        <p:blipFill>
          <a:blip r:embed="rId3"/>
          <a:srcRect l="-100" r="-100"/>
          <a:stretch/>
        </p:blipFill>
        <p:spPr>
          <a:xfrm>
            <a:off x="812800" y="1833798"/>
            <a:ext cx="5207000" cy="4064000"/>
          </a:xfrm>
          <a:prstGeom prst="roundRect">
            <a:avLst>
              <a:gd name="adj" fmla="val 1875"/>
            </a:avLst>
          </a:prstGeom>
          <a:ln>
            <a:solidFill>
              <a:schemeClr val="accent1"/>
            </a:solidFill>
          </a:ln>
        </p:spPr>
      </p:pic>
      <p:pic>
        <p:nvPicPr>
          <p:cNvPr id="5" name="Image 1" descr="Распределение маржи 2027 по методу Монте-Карло"/>
          <p:cNvPicPr>
            <a:picLocks noChangeAspect="1"/>
          </p:cNvPicPr>
          <p:nvPr/>
        </p:nvPicPr>
        <p:blipFill>
          <a:blip r:embed="rId4"/>
          <a:srcRect t="-154" b="-154"/>
          <a:stretch/>
        </p:blipFill>
        <p:spPr>
          <a:xfrm>
            <a:off x="6223000" y="1833798"/>
            <a:ext cx="4826000" cy="3473450"/>
          </a:xfrm>
          <a:prstGeom prst="roundRect">
            <a:avLst>
              <a:gd name="adj" fmla="val 2194"/>
            </a:avLst>
          </a:prstGeom>
          <a:ln>
            <a:solidFill>
              <a:schemeClr val="accent1"/>
            </a:solidFill>
          </a:ln>
        </p:spPr>
      </p:pic>
      <p:sp>
        <p:nvSpPr>
          <p:cNvPr id="6" name="Text 2"/>
          <p:cNvSpPr/>
          <p:nvPr/>
        </p:nvSpPr>
        <p:spPr>
          <a:xfrm>
            <a:off x="6223000" y="5459648"/>
            <a:ext cx="5310886" cy="48768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3F4F43"/>
                </a:solidFill>
                <a:latin typeface="IBM Plex Sans" pitchFamily="34" charset="0"/>
                <a:ea typeface="IBM Plex Sans" pitchFamily="34" charset="-122"/>
                <a:cs typeface="IBM Plex Sans" pitchFamily="34" charset="-120"/>
              </a:rPr>
              <a:t>4000 сценариев: погода реального года для всех округов сразу плюс исторические изменения цены</a:t>
            </a:r>
            <a:endParaRPr lang="en-US" sz="1300" dirty="0"/>
          </a:p>
        </p:txBody>
      </p:sp>
      <p:sp>
        <p:nvSpPr>
          <p:cNvPr id="7" name="Text 3"/>
          <p:cNvSpPr/>
          <p:nvPr/>
        </p:nvSpPr>
        <p:spPr>
          <a:xfrm>
            <a:off x="10058400" y="6238242"/>
            <a:ext cx="1320800" cy="23876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6B7A6E"/>
                </a:solidFill>
                <a:latin typeface="IBM Plex Sans" pitchFamily="34" charset="0"/>
                <a:ea typeface="IBM Plex Sans" pitchFamily="34" charset="-122"/>
                <a:cs typeface="IBM Plex Sans" pitchFamily="34" charset="-120"/>
              </a:rPr>
              <a:t>П3</a:t>
            </a:r>
            <a:endParaRPr lang="en-US" sz="12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ECEFE3"/>
        </a:solidFill>
        <a:effectLst/>
      </p:bgPr>
    </p:bg>
    <p:spTree>
      <p:nvGrpSpPr>
        <p:cNvPr id="1" name=""/>
        <p:cNvGrpSpPr/>
        <p:nvPr/>
      </p:nvGrpSpPr>
      <p:grpSpPr>
        <a:xfrm>
          <a:off x="0" y="0"/>
          <a:ext cx="0" cy="0"/>
          <a:chOff x="0" y="0"/>
          <a:chExt cx="0" cy="0"/>
        </a:xfrm>
      </p:grpSpPr>
      <p:sp>
        <p:nvSpPr>
          <p:cNvPr id="2" name="Text 0"/>
          <p:cNvSpPr/>
          <p:nvPr/>
        </p:nvSpPr>
        <p:spPr>
          <a:xfrm>
            <a:off x="812800" y="381000"/>
            <a:ext cx="3924300" cy="238760"/>
          </a:xfrm>
          <a:prstGeom prst="rect">
            <a:avLst/>
          </a:prstGeom>
          <a:noFill/>
          <a:ln/>
        </p:spPr>
        <p:txBody>
          <a:bodyPr wrap="square" lIns="0" tIns="0" rIns="0" bIns="0" rtlCol="0" anchor="t">
            <a:normAutofit/>
          </a:bodyPr>
          <a:lstStyle/>
          <a:p>
            <a:pPr marL="0" indent="0" algn="l">
              <a:lnSpc>
                <a:spcPts val="1680"/>
              </a:lnSpc>
              <a:buNone/>
            </a:pPr>
            <a:r>
              <a:rPr lang="en-US" sz="1200" b="1" kern="0" spc="50" dirty="0">
                <a:solidFill>
                  <a:srgbClr val="238441"/>
                </a:solidFill>
                <a:latin typeface="IBM Plex Sans" pitchFamily="34" charset="0"/>
                <a:ea typeface="IBM Plex Sans" pitchFamily="34" charset="-122"/>
                <a:cs typeface="IBM Plex Sans" pitchFamily="34" charset="-120"/>
              </a:rPr>
              <a:t>ПРИЛОЖЕНИЕ 4</a:t>
            </a:r>
            <a:endParaRPr lang="en-US" sz="1200" dirty="0"/>
          </a:p>
        </p:txBody>
      </p:sp>
      <p:sp>
        <p:nvSpPr>
          <p:cNvPr id="3" name="Text 1"/>
          <p:cNvSpPr>
            <a:spLocks noGrp="1"/>
          </p:cNvSpPr>
          <p:nvPr>
            <p:ph type="title"/>
          </p:nvPr>
        </p:nvSpPr>
        <p:spPr>
          <a:xfrm>
            <a:off x="812800" y="812800"/>
            <a:ext cx="10883392" cy="796211"/>
          </a:xfrm>
          <a:prstGeom prst="rect">
            <a:avLst/>
          </a:prstGeom>
          <a:noFill/>
          <a:ln/>
        </p:spPr>
        <p:txBody>
          <a:bodyPr wrap="square" lIns="0" tIns="0" rIns="0" bIns="0" rtlCol="0" anchor="t">
            <a:normAutofit/>
          </a:bodyPr>
          <a:lstStyle/>
          <a:p>
            <a:pPr marL="0" indent="0" algn="l">
              <a:lnSpc>
                <a:spcPts val="3032"/>
              </a:lnSpc>
              <a:buNone/>
            </a:pPr>
            <a:r>
              <a:rPr lang="en-US" sz="2756" b="1" i="0" dirty="0">
                <a:solidFill>
                  <a:srgbClr val="1F4424"/>
                </a:solidFill>
                <a:latin typeface="Montserrat" pitchFamily="34" charset="0"/>
                <a:ea typeface="Montserrat" pitchFamily="34" charset="-122"/>
                <a:cs typeface="Montserrat" pitchFamily="34" charset="-120"/>
              </a:rPr>
              <a:t>Кластеризация: округа делятся на 4 группы по профилю отклонений</a:t>
            </a:r>
            <a:endParaRPr lang="en-US" sz="2756" dirty="0"/>
          </a:p>
        </p:txBody>
      </p:sp>
      <p:pic>
        <p:nvPicPr>
          <p:cNvPr id="4" name="Image 0" descr="Дендрограмма иерархической кластеризации округов"/>
          <p:cNvPicPr>
            <a:picLocks noChangeAspect="1"/>
          </p:cNvPicPr>
          <p:nvPr/>
        </p:nvPicPr>
        <p:blipFill>
          <a:blip r:embed="rId3"/>
          <a:srcRect t="-77" b="-77"/>
          <a:stretch/>
        </p:blipFill>
        <p:spPr>
          <a:xfrm>
            <a:off x="812800" y="1837618"/>
            <a:ext cx="4552950" cy="4064000"/>
          </a:xfrm>
          <a:prstGeom prst="roundRect">
            <a:avLst>
              <a:gd name="adj" fmla="val 1875"/>
            </a:avLst>
          </a:prstGeom>
          <a:ln>
            <a:solidFill>
              <a:schemeClr val="accent1"/>
            </a:solidFill>
          </a:ln>
        </p:spPr>
      </p:pic>
      <p:pic>
        <p:nvPicPr>
          <p:cNvPr id="5" name="Image 1" descr="Кластеры округов на схеме края"/>
          <p:cNvPicPr>
            <a:picLocks noChangeAspect="1"/>
          </p:cNvPicPr>
          <p:nvPr/>
        </p:nvPicPr>
        <p:blipFill>
          <a:blip r:embed="rId4"/>
          <a:srcRect t="-77" b="-77"/>
          <a:stretch/>
        </p:blipFill>
        <p:spPr>
          <a:xfrm>
            <a:off x="5568950" y="1837618"/>
            <a:ext cx="4552950" cy="4064000"/>
          </a:xfrm>
          <a:prstGeom prst="roundRect">
            <a:avLst>
              <a:gd name="adj" fmla="val 1875"/>
            </a:avLst>
          </a:prstGeom>
          <a:ln>
            <a:solidFill>
              <a:schemeClr val="accent1"/>
            </a:solidFill>
          </a:ln>
        </p:spPr>
      </p:pic>
      <p:sp>
        <p:nvSpPr>
          <p:cNvPr id="6" name="Text 2"/>
          <p:cNvSpPr/>
          <p:nvPr/>
        </p:nvSpPr>
        <p:spPr>
          <a:xfrm>
            <a:off x="10058400" y="6238242"/>
            <a:ext cx="1320800" cy="23876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6B7A6E"/>
                </a:solidFill>
                <a:latin typeface="IBM Plex Sans" pitchFamily="34" charset="0"/>
                <a:ea typeface="IBM Plex Sans" pitchFamily="34" charset="-122"/>
                <a:cs typeface="IBM Plex Sans" pitchFamily="34" charset="-120"/>
              </a:rPr>
              <a:t>П4</a:t>
            </a:r>
            <a:endParaRPr lang="en-US" sz="12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ECEFE3"/>
        </a:solidFill>
        <a:effectLst/>
      </p:bgPr>
    </p:bg>
    <p:spTree>
      <p:nvGrpSpPr>
        <p:cNvPr id="1" name=""/>
        <p:cNvGrpSpPr/>
        <p:nvPr/>
      </p:nvGrpSpPr>
      <p:grpSpPr>
        <a:xfrm>
          <a:off x="0" y="0"/>
          <a:ext cx="0" cy="0"/>
          <a:chOff x="0" y="0"/>
          <a:chExt cx="0" cy="0"/>
        </a:xfrm>
      </p:grpSpPr>
      <p:sp>
        <p:nvSpPr>
          <p:cNvPr id="2" name="Text 0"/>
          <p:cNvSpPr/>
          <p:nvPr/>
        </p:nvSpPr>
        <p:spPr>
          <a:xfrm>
            <a:off x="812800" y="381000"/>
            <a:ext cx="3924300" cy="238760"/>
          </a:xfrm>
          <a:prstGeom prst="rect">
            <a:avLst/>
          </a:prstGeom>
          <a:noFill/>
          <a:ln/>
        </p:spPr>
        <p:txBody>
          <a:bodyPr wrap="square" lIns="0" tIns="0" rIns="0" bIns="0" rtlCol="0" anchor="t">
            <a:normAutofit/>
          </a:bodyPr>
          <a:lstStyle/>
          <a:p>
            <a:pPr marL="0" indent="0" algn="l">
              <a:lnSpc>
                <a:spcPts val="1680"/>
              </a:lnSpc>
              <a:buNone/>
            </a:pPr>
            <a:r>
              <a:rPr lang="en-US" sz="1200" b="1" kern="0" spc="50" dirty="0">
                <a:solidFill>
                  <a:srgbClr val="238441"/>
                </a:solidFill>
                <a:latin typeface="IBM Plex Sans" pitchFamily="34" charset="0"/>
                <a:ea typeface="IBM Plex Sans" pitchFamily="34" charset="-122"/>
                <a:cs typeface="IBM Plex Sans" pitchFamily="34" charset="-120"/>
              </a:rPr>
              <a:t>ПРИЛОЖЕНИЕ 5</a:t>
            </a:r>
            <a:endParaRPr lang="en-US" sz="1200" dirty="0"/>
          </a:p>
        </p:txBody>
      </p:sp>
      <p:sp>
        <p:nvSpPr>
          <p:cNvPr id="3" name="Text 1"/>
          <p:cNvSpPr>
            <a:spLocks noGrp="1"/>
          </p:cNvSpPr>
          <p:nvPr>
            <p:ph type="title"/>
          </p:nvPr>
        </p:nvSpPr>
        <p:spPr>
          <a:xfrm>
            <a:off x="812800" y="812800"/>
            <a:ext cx="10883392" cy="416560"/>
          </a:xfrm>
          <a:prstGeom prst="rect">
            <a:avLst/>
          </a:prstGeom>
          <a:noFill/>
          <a:ln/>
        </p:spPr>
        <p:txBody>
          <a:bodyPr wrap="square" lIns="0" tIns="0" rIns="0" bIns="0" rtlCol="0" anchor="t">
            <a:normAutofit/>
          </a:bodyPr>
          <a:lstStyle/>
          <a:p>
            <a:pPr marL="0" indent="0" algn="l">
              <a:lnSpc>
                <a:spcPts val="3080"/>
              </a:lnSpc>
              <a:buNone/>
            </a:pPr>
            <a:r>
              <a:rPr lang="en-US" sz="2800" b="1" i="0" dirty="0">
                <a:solidFill>
                  <a:srgbClr val="1F4424"/>
                </a:solidFill>
                <a:latin typeface="Montserrat" pitchFamily="34" charset="0"/>
                <a:ea typeface="Montserrat" pitchFamily="34" charset="-122"/>
                <a:cs typeface="Montserrat" pitchFamily="34" charset="-120"/>
              </a:rPr>
              <a:t>Ограничения и допущения</a:t>
            </a:r>
            <a:endParaRPr lang="en-US" sz="2800" dirty="0"/>
          </a:p>
        </p:txBody>
      </p:sp>
      <p:sp>
        <p:nvSpPr>
          <p:cNvPr id="4" name="Text 2"/>
          <p:cNvSpPr/>
          <p:nvPr/>
        </p:nvSpPr>
        <p:spPr>
          <a:xfrm>
            <a:off x="812800" y="1508758"/>
            <a:ext cx="5207000" cy="853440"/>
          </a:xfrm>
          <a:prstGeom prst="roundRect">
            <a:avLst>
              <a:gd name="adj" fmla="val 8929"/>
            </a:avLst>
          </a:prstGeom>
          <a:solidFill>
            <a:srgbClr val="FCFCF8"/>
          </a:solidFill>
          <a:ln/>
        </p:spPr>
        <p:txBody>
          <a:bodyPr wrap="square" lIns="180882" tIns="155482" rIns="36864" bIns="130082" rtlCol="0" anchor="t">
            <a:normAutofit/>
          </a:bodyPr>
          <a:lstStyle/>
          <a:p>
            <a:pPr marL="0" indent="0" algn="l">
              <a:lnSpc>
                <a:spcPts val="1960"/>
              </a:lnSpc>
              <a:buNone/>
            </a:pPr>
            <a:r>
              <a:rPr lang="en-US" sz="1400" dirty="0">
                <a:solidFill>
                  <a:srgbClr val="3F4F43"/>
                </a:solidFill>
                <a:latin typeface="IBM Plex Sans" pitchFamily="34" charset="0"/>
                <a:ea typeface="IBM Plex Sans" pitchFamily="34" charset="-122"/>
                <a:cs typeface="IBM Plex Sans" pitchFamily="34" charset="-120"/>
              </a:rPr>
              <a:t>Погода объясняет около трети колебаний урожайности (R2 = 0,36), остальное: технологии, вредители, град</a:t>
            </a:r>
            <a:endParaRPr lang="en-US" sz="1400" dirty="0"/>
          </a:p>
        </p:txBody>
      </p:sp>
      <p:sp>
        <p:nvSpPr>
          <p:cNvPr id="5" name="Text 3"/>
          <p:cNvSpPr/>
          <p:nvPr/>
        </p:nvSpPr>
        <p:spPr>
          <a:xfrm>
            <a:off x="6172200" y="1508758"/>
            <a:ext cx="5207000" cy="853440"/>
          </a:xfrm>
          <a:prstGeom prst="roundRect">
            <a:avLst>
              <a:gd name="adj" fmla="val 8929"/>
            </a:avLst>
          </a:prstGeom>
          <a:solidFill>
            <a:srgbClr val="FCFCF8"/>
          </a:solidFill>
          <a:ln/>
        </p:spPr>
        <p:txBody>
          <a:bodyPr wrap="square" lIns="180882" tIns="155482" rIns="36864" bIns="130082" rtlCol="0" anchor="t">
            <a:normAutofit/>
          </a:bodyPr>
          <a:lstStyle/>
          <a:p>
            <a:pPr marL="0" indent="0" algn="l">
              <a:lnSpc>
                <a:spcPts val="1960"/>
              </a:lnSpc>
              <a:buNone/>
            </a:pPr>
            <a:r>
              <a:rPr lang="en-US" sz="1400" dirty="0">
                <a:solidFill>
                  <a:srgbClr val="3F4F43"/>
                </a:solidFill>
                <a:latin typeface="IBM Plex Sans" pitchFamily="34" charset="0"/>
                <a:ea typeface="IBM Plex Sans" pitchFamily="34" charset="-122"/>
                <a:cs typeface="IBM Plex Sans" pitchFamily="34" charset="-120"/>
              </a:rPr>
              <a:t>Погода берется по центру округа, без учета отдельных полей</a:t>
            </a:r>
            <a:endParaRPr lang="en-US" sz="1400" dirty="0"/>
          </a:p>
        </p:txBody>
      </p:sp>
      <p:sp>
        <p:nvSpPr>
          <p:cNvPr id="6" name="Text 4"/>
          <p:cNvSpPr/>
          <p:nvPr/>
        </p:nvSpPr>
        <p:spPr>
          <a:xfrm>
            <a:off x="812800" y="2514600"/>
            <a:ext cx="5207000" cy="853440"/>
          </a:xfrm>
          <a:prstGeom prst="roundRect">
            <a:avLst>
              <a:gd name="adj" fmla="val 8929"/>
            </a:avLst>
          </a:prstGeom>
          <a:solidFill>
            <a:srgbClr val="FCFCF8"/>
          </a:solidFill>
          <a:ln/>
        </p:spPr>
        <p:txBody>
          <a:bodyPr wrap="square" lIns="180882" tIns="155482" rIns="36864" bIns="130082" rtlCol="0" anchor="t">
            <a:normAutofit/>
          </a:bodyPr>
          <a:lstStyle/>
          <a:p>
            <a:pPr marL="0" indent="0" algn="l">
              <a:lnSpc>
                <a:spcPts val="1960"/>
              </a:lnSpc>
              <a:buNone/>
            </a:pPr>
            <a:r>
              <a:rPr lang="en-US" sz="1400" dirty="0">
                <a:solidFill>
                  <a:srgbClr val="3F4F43"/>
                </a:solidFill>
                <a:latin typeface="IBM Plex Sans" pitchFamily="34" charset="0"/>
                <a:ea typeface="IBM Plex Sans" pitchFamily="34" charset="-122"/>
                <a:cs typeface="IBM Plex Sans" pitchFamily="34" charset="-120"/>
              </a:rPr>
              <a:t>Урожайность считается на посевную площадь и включает гибель посевов</a:t>
            </a:r>
            <a:endParaRPr lang="en-US" sz="1400" dirty="0"/>
          </a:p>
        </p:txBody>
      </p:sp>
      <p:sp>
        <p:nvSpPr>
          <p:cNvPr id="7" name="Text 5"/>
          <p:cNvSpPr/>
          <p:nvPr/>
        </p:nvSpPr>
        <p:spPr>
          <a:xfrm>
            <a:off x="6172200" y="2514600"/>
            <a:ext cx="5207000" cy="853440"/>
          </a:xfrm>
          <a:prstGeom prst="roundRect">
            <a:avLst>
              <a:gd name="adj" fmla="val 8929"/>
            </a:avLst>
          </a:prstGeom>
          <a:solidFill>
            <a:srgbClr val="FCFCF8"/>
          </a:solidFill>
          <a:ln/>
        </p:spPr>
        <p:txBody>
          <a:bodyPr wrap="square" lIns="180882" tIns="155482" rIns="36864" bIns="130082" rtlCol="0" anchor="t">
            <a:normAutofit/>
          </a:bodyPr>
          <a:lstStyle/>
          <a:p>
            <a:pPr marL="0" indent="0" algn="l">
              <a:lnSpc>
                <a:spcPts val="1960"/>
              </a:lnSpc>
              <a:buNone/>
            </a:pPr>
            <a:r>
              <a:rPr lang="en-US" sz="1400" dirty="0">
                <a:solidFill>
                  <a:srgbClr val="3F4F43"/>
                </a:solidFill>
                <a:latin typeface="IBM Plex Sans" pitchFamily="34" charset="0"/>
                <a:ea typeface="IBM Plex Sans" pitchFamily="34" charset="-122"/>
                <a:cs typeface="IBM Plex Sans" pitchFamily="34" charset="-120"/>
              </a:rPr>
              <a:t>Затраты нормативные: техкарта 2023 года с индексацией 7% в год</a:t>
            </a:r>
            <a:endParaRPr lang="en-US" sz="1400" dirty="0"/>
          </a:p>
        </p:txBody>
      </p:sp>
      <p:sp>
        <p:nvSpPr>
          <p:cNvPr id="8" name="Text 6"/>
          <p:cNvSpPr/>
          <p:nvPr/>
        </p:nvSpPr>
        <p:spPr>
          <a:xfrm>
            <a:off x="812800" y="3520442"/>
            <a:ext cx="5207000" cy="853440"/>
          </a:xfrm>
          <a:prstGeom prst="roundRect">
            <a:avLst>
              <a:gd name="adj" fmla="val 8929"/>
            </a:avLst>
          </a:prstGeom>
          <a:solidFill>
            <a:srgbClr val="FCFCF8"/>
          </a:solidFill>
          <a:ln/>
        </p:spPr>
        <p:txBody>
          <a:bodyPr wrap="square" lIns="180882" tIns="155482" rIns="36864" bIns="130082" rtlCol="0" anchor="t">
            <a:normAutofit/>
          </a:bodyPr>
          <a:lstStyle/>
          <a:p>
            <a:pPr marL="0" indent="0" algn="l">
              <a:lnSpc>
                <a:spcPts val="1960"/>
              </a:lnSpc>
              <a:buNone/>
            </a:pPr>
            <a:r>
              <a:rPr lang="en-US" sz="1400" dirty="0">
                <a:solidFill>
                  <a:srgbClr val="3F4F43"/>
                </a:solidFill>
                <a:latin typeface="IBM Plex Sans" pitchFamily="34" charset="0"/>
                <a:ea typeface="IBM Plex Sans" pitchFamily="34" charset="-122"/>
                <a:cs typeface="IBM Plex Sans" pitchFamily="34" charset="-120"/>
              </a:rPr>
              <a:t>В БД ПМО нет данных по округам за 2009 и 2012 годы, Георгиевский округ за 2014-2019 исключен</a:t>
            </a:r>
            <a:endParaRPr lang="en-US" sz="1400" dirty="0"/>
          </a:p>
        </p:txBody>
      </p:sp>
      <p:sp>
        <p:nvSpPr>
          <p:cNvPr id="9" name="Text 7"/>
          <p:cNvSpPr/>
          <p:nvPr/>
        </p:nvSpPr>
        <p:spPr>
          <a:xfrm>
            <a:off x="6172200" y="3520442"/>
            <a:ext cx="5207000" cy="853440"/>
          </a:xfrm>
          <a:prstGeom prst="roundRect">
            <a:avLst>
              <a:gd name="adj" fmla="val 8929"/>
            </a:avLst>
          </a:prstGeom>
          <a:solidFill>
            <a:srgbClr val="FCFCF8"/>
          </a:solidFill>
          <a:ln/>
        </p:spPr>
        <p:txBody>
          <a:bodyPr wrap="square" lIns="180882" tIns="155482" rIns="36864" bIns="130082" rtlCol="0" anchor="t">
            <a:normAutofit/>
          </a:bodyPr>
          <a:lstStyle/>
          <a:p>
            <a:pPr marL="0" indent="0" algn="l">
              <a:lnSpc>
                <a:spcPts val="1960"/>
              </a:lnSpc>
              <a:buNone/>
            </a:pPr>
            <a:r>
              <a:rPr lang="en-US" sz="1400" dirty="0">
                <a:solidFill>
                  <a:srgbClr val="3F4F43"/>
                </a:solidFill>
                <a:latin typeface="IBM Plex Sans" pitchFamily="34" charset="0"/>
                <a:ea typeface="IBM Plex Sans" pitchFamily="34" charset="-122"/>
                <a:cs typeface="IBM Plex Sans" pitchFamily="34" charset="-120"/>
              </a:rPr>
              <a:t>Прогноз 2026 года (47,1 ц/га) не учитывает ливни и град в период уборки</a:t>
            </a:r>
            <a:endParaRPr lang="en-US" sz="1400" dirty="0"/>
          </a:p>
        </p:txBody>
      </p:sp>
      <p:sp>
        <p:nvSpPr>
          <p:cNvPr id="10" name="Text 8"/>
          <p:cNvSpPr/>
          <p:nvPr/>
        </p:nvSpPr>
        <p:spPr>
          <a:xfrm>
            <a:off x="10058400" y="6238242"/>
            <a:ext cx="1320800" cy="23876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6B7A6E"/>
                </a:solidFill>
                <a:latin typeface="IBM Plex Sans" pitchFamily="34" charset="0"/>
                <a:ea typeface="IBM Plex Sans" pitchFamily="34" charset="-122"/>
                <a:cs typeface="IBM Plex Sans" pitchFamily="34" charset="-120"/>
              </a:rPr>
              <a:t>П5</a:t>
            </a:r>
            <a:endParaRPr lang="en-US" sz="1200" dirty="0"/>
          </a:p>
        </p:txBody>
      </p:sp>
    </p:spTree>
  </p:cSld>
  <p:clrMapOvr>
    <a:masterClrMapping/>
  </p:clrMapOvr>
</p:sld>
</file>

<file path=ppt/theme/theme1.xml><?xml version="1.0" encoding="utf-8"?>
<a:theme xmlns:a="http://schemas.openxmlformats.org/drawingml/2006/main" name="Агромониторинг Ставрополья">
  <a:themeElements>
    <a:clrScheme name="Агромониторинг Ставрополья">
      <a:dk1>
        <a:srgbClr val="1F4424"/>
      </a:dk1>
      <a:lt1>
        <a:srgbClr val="F5F6EF"/>
      </a:lt1>
      <a:dk2>
        <a:srgbClr val="557157"/>
      </a:dk2>
      <a:lt2>
        <a:srgbClr val="E0E4DB"/>
      </a:lt2>
      <a:accent1>
        <a:srgbClr val="238441"/>
      </a:accent1>
      <a:accent2>
        <a:srgbClr val="FFCB05"/>
      </a:accent2>
      <a:accent3>
        <a:srgbClr val="A6CE39"/>
      </a:accent3>
      <a:accent4>
        <a:srgbClr val="B23A2E"/>
      </a:accent4>
      <a:accent5>
        <a:srgbClr val="3F4F43"/>
      </a:accent5>
      <a:accent6>
        <a:srgbClr val="6B7A6E"/>
      </a:accent6>
      <a:hlink>
        <a:srgbClr val="0563C1"/>
      </a:hlink>
      <a:folHlink>
        <a:srgbClr val="954F72"/>
      </a:folHlink>
    </a:clrScheme>
    <a:fontScheme name="Агромониторинг Ставрополья">
      <a:majorFont>
        <a:latin typeface="Montserra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IBM Plex San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Тема Office">
  <a:themeElements>
    <a:clrScheme name="Стандартная">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Стандартная">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Стандартная">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440</TotalTime>
  <Words>1382</Words>
  <Application>Microsoft Office PowerPoint</Application>
  <PresentationFormat>Широкоэкранный</PresentationFormat>
  <Paragraphs>213</Paragraphs>
  <Slides>19</Slides>
  <Notes>19</Notes>
  <HiddenSlides>0</HiddenSlides>
  <MMClips>0</MMClips>
  <ScaleCrop>false</ScaleCrop>
  <HeadingPairs>
    <vt:vector size="6" baseType="variant">
      <vt:variant>
        <vt:lpstr>Использованные шрифты</vt:lpstr>
      </vt:variant>
      <vt:variant>
        <vt:i4>4</vt:i4>
      </vt:variant>
      <vt:variant>
        <vt:lpstr>Тема</vt:lpstr>
      </vt:variant>
      <vt:variant>
        <vt:i4>1</vt:i4>
      </vt:variant>
      <vt:variant>
        <vt:lpstr>Заголовки слайдов</vt:lpstr>
      </vt:variant>
      <vt:variant>
        <vt:i4>19</vt:i4>
      </vt:variant>
    </vt:vector>
  </HeadingPairs>
  <TitlesOfParts>
    <vt:vector size="24" baseType="lpstr">
      <vt:lpstr>Montserrat</vt:lpstr>
      <vt:lpstr>IBM Plex Sans</vt:lpstr>
      <vt:lpstr>Arial</vt:lpstr>
      <vt:lpstr>Wingdings</vt:lpstr>
      <vt:lpstr>Агромониторинг Ставрополья</vt:lpstr>
      <vt:lpstr>Агромониторинг Ставрополья</vt:lpstr>
      <vt:lpstr>Аграрию и банку нужен один экран, где урожай, погода, цены и риск сведены вместе</vt:lpstr>
      <vt:lpstr>Ставрополье: крупный зерновой регион с сильным перепадом климата внутри края</vt:lpstr>
      <vt:lpstr>Сервис построен только на открытых данных с обновлением от ежедневного до годового</vt:lpstr>
      <vt:lpstr>Показатели сгруппированы в четыре блока: урожай, погода, рынок и риск</vt:lpstr>
      <vt:lpstr>Логика анализа: показатель, динамика, регион, фактор. Пример 2020 года</vt:lpstr>
      <vt:lpstr>Экран "Обзор": состояние края и каждого округа на одной странице</vt:lpstr>
      <vt:lpstr>Экран "Урожайность и погода": модель показывает, какие факторы двигают урожай</vt:lpstr>
      <vt:lpstr>Экран "Рынок и маржа": когда продавать и сколько остается с гектара</vt:lpstr>
      <vt:lpstr>Что показали данные: урожай зависит от весны, а риск сильно различается по округам</vt:lpstr>
      <vt:lpstr>Для банка это ранний сигнал риска и основа для лимитов по округам</vt:lpstr>
      <vt:lpstr>Три сценария использования сервиса</vt:lpstr>
      <vt:lpstr>Развитие: от прототипа к рабочему сервису банка</vt:lpstr>
      <vt:lpstr>Дашборд открыт и работает на реальных данных</vt:lpstr>
      <vt:lpstr>Модель отобрана по точности прогноза на прошлых годах</vt:lpstr>
      <vt:lpstr>Диагностика модели: остатки близки к нормальным, мультиколлинеарности нет</vt:lpstr>
      <vt:lpstr>Экран "Риски": стресс-тест по 8 сценариям и Монте-Карло</vt:lpstr>
      <vt:lpstr>Кластеризация: округа делятся на 4 группы по профилю отклонений</vt:lpstr>
      <vt:lpstr>Ограничения и допущения</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Агромониторинг Ставрополья</dc:title>
  <dc:subject/>
  <dc:creator/>
  <dc:description>The font files embedded in this presentation (stored inside it under ppt/fonts/) are files Google Fonts served when the presentation was exported, unpacked from WOFF2 to TrueType and wrapped as Embedded OpenType, the form PowerPoint reads. A file that named another cut of its family, unless it reserves that name, was also changed where it could be, so that PowerPoint matches it to this presentation’s text: its family and style names and the weight and style it declares were rewritten, and any digital signature, which no longer matched, was removed. Google Fonts serves each family in parts, one file per range of characters, so these may not be a family’s complete files. Each family’s copyright lines and license follow, and each family stays under its own license; if you pass this file on, keep these notices with it.
Montserrat
Copyright 2024 The Montserrat.Git Project Authors (https://github.com/JulietaUla/Montserrat.git)
This Font Software is licensed under the SIL Open Font License, Version 1.1.
This license is copied below, and is also available with a FAQ at:
https://openfontlicense.org
-----------------------------------------------------------
SIL OPEN FONT LICENSE Version 1.1 - 26 February 2007
-----------------------------------------------------------
PREAMBLE
The goals of the Open Font License (OFL) are to stimulate worldwide
development of collaborative font projects, to support the font creation
efforts of academic and linguistic communities, and to provide a free and
open framework in which fonts may be shared and improved in partnership
with others.
The OFL allows the licensed fonts to be used, studied, modified and
redistributed freely as long as they are not sold by themselves. The
fonts, including any derivative works, can be bundled, embedded,
redistributed and/or sold with any software provided that any reserved
names are not used by derivative works. The fonts and derivatives,
however, cannot be released under any other type of license. The
requirement for fonts to remain under this license does not apply
to any document created using the fonts or their derivatives.
DEFINITIONS
"Font Software" refers to the set of files released by the Copyright
Holder(s) under this license and clearly marked as such. This may
include source files, build scripts and documentation.
"Reserved Font Name" refers to any names specified as such after the
copyright statement(s).
"Original Version" refers to the collection of Font Software components as
distributed by the Copyright Holder(s).
"Modified Version" refers to any derivative made by adding to, deleting,
or substituting -- in part or in whole -- any of the components of the
Original Version, by changing formats or by porting the Font Software to a
new environment.
"Author" refers to any designer, engineer, programmer, technical
writer or other person who contributed to the Font Software.
PERMISSION &amp; CONDITIONS
Permission is hereby granted, free of charge, to any person obtaining
a copy of the Font Software, to use, study, copy, merge, embed, modify,
redistribute, and sell modified and unmodified copies of the Font
Software, subject to the following conditions:
1) Neither the Font Software nor any of its individual components,
in Original or Modified Versions, may be sold by itself.
2) Original or Modified Versions of the Font Software may be bundled,
redistributed and/or sold with any software, provided that each copy
contains the above copyright notice and this license. These can be
included either as stand-alone text files, human-readable headers or
in the appropriate machine-readable metadata fields within text or
binary files as long as those fields can be easily viewed by the user.
3) No Modified Version of the Font Software may use the Reserved Font
Name(s) unless explicit written permission is granted by the corresponding
Copyright Holder. This restriction only applies to the primary font name as
presented to the users.
4) The name(s) of the Copyright Holder(s) or the Author(s) of the Font
Software shall not be used to promote, endorse or advertise any
Modified Version, except to acknowledge the contribution(s) of the
Copyright Holder(s) and the Author(s) or with their explicit written
permission.
5) The Font Software, modified or unmodified, in part or in whole,
must be distributed entirely under this license, and must not be
distributed under any other license. The requirement for fonts to
remain under this license does not apply to any document created
using the Font Software.
TERMINATION
This license becomes null and void if any of the above conditions are
not met.
DISCLAIMER
THE FONT SOFTWARE IS PROVIDED "AS IS", WITHOUT WARRANTY OF ANY KIND,
EXPRESS OR IMPLIED, INCLUDING BUT NOT LIMITED TO ANY WARRANTIES OF
MERCHANTABILITY, FITNESS FOR A PARTICULAR PURPOSE AND NONINFRINGEMENT
OF COPYRIGHT, PATENT, TRADEMARK, OR OTHER RIGHT. IN NO EVENT SHALL THE
COPYRIGHT HOLDER BE LIABLE FOR ANY CLAIM, DAMAGES OR OTHER LIABILITY,
INCLUDING ANY GENERAL, SPECIAL, INDIRECT, INCIDENTAL, OR CONSEQUENTIAL
DAMAGES, WHETHER IN AN ACTION OF CONTRACT, TORT OR OTHERWISE, ARISING
FROM, OUT OF THE USE OR INABILITY TO USE THE FONT SOFTWARE OR FROM
OTHER DEALINGS IN THE FONT SOFTWARE.
</dc:description>
  <cp:lastModifiedBy>Валентина Рогова</cp:lastModifiedBy>
  <cp:revision>3</cp:revision>
  <dcterms:created xsi:type="dcterms:W3CDTF">2026-10-29T13:21:51Z</dcterms:created>
  <dcterms:modified xsi:type="dcterms:W3CDTF">2026-10-29T20:42:37Z</dcterms:modified>
</cp:coreProperties>
</file>